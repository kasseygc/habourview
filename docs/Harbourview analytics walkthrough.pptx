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twenty minutes plus a live demo. The thread through everything: resident data stays secure and redacted. First the main goal and how it shapes the design, then Task A, the dashboard and how each number is counted, then staff notes turned into structured fields, which is where the language model earns its place, then Task B, questions in plain English, then evaluation, what is designed for later, and Task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Orange boxes hold PHI: records, staff notes, and the question someone types. Green is where it is removed. Notes and questions are redacted before rules or the model see them, in layers: identifiers, names next to a word like “brother”, the house's own list of client and contact names, and a name detector that runs locally for names with no context, like “Called Kevin”. On 43 labelled sentences that catches 33 of 34 names, with no false alarms; rules alone caught 18. A question that names a person is declined before the model is called. The model, in violet, is self-hosted inside the same account. It only ever sees redacted text and the catalogue of metrics. The analytics tables hold structured fields, one file per house, and no notes. Every question is logged with who asked, which house, the redacted question, the spec and the SQL, never the results. The app never saves what people 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profiled the file before charting anything. The extract date is inferred: the latest date is 15 January 2026, and every follow-up value is consistent with six or twelve months after discharge as of that date. Nothing is silently dropped: each problem has a rule that runs on every build. The dashboard is not a data-checking tool, so it doesn't list problem records; this table, the write-up and the design document do, with the full list of sixteen checks. One more from the notes: nine older referrals still have notes saying pending intake, which are probably out of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top of the dashboard answers “what is happening now and what needs doing”. Four facts, all from recorded fields. The referral tile is a good example of the rule: the recorded count is 7 referrals in the last 60 days with no intake. Whether they are still waiting is only in the staff notes, which say one is waiting and six are closed, so that split sits underneath, labelled. Below the strip are tabs for flow, occupancy, outcomes, notes and questions. This is the screen I demo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FY2025 referral cohort. Why not all 141 referrals? A referral made on 29 December has had two weeks, not two months, and would count as a failure. Using all of them gives 55%, close here, but the bias grows when referrals spike late in the year. I picked 60 days because 90% of admissions happen within 41 days and the slowest took 71. Six people admitted without an intake date count as reaching intake but are left out of intake timings. Medians and 90th percentiles use linear interpolation, the same as the database, so the dashboard and the question tool agree.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Occupancy is bed-nights over beds times nights, the standard midnight census. Three people left with no discharge date; I estimated their stay at admission plus 47 days, for occupancy only, and checked it never puts more than 24 people in the house. The chart's axis starts at 60% to show the month-to-month change, and says so. Length of stay: finished stays alone give 86 days, but the 14 people still in the house are the long stays. Kaplan-Meier counts them as “at least this long” and gives 95.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brief asks to separate completion from discharge. Exit type comes from the recorded discharge reason: completed, transferred, left by choice, discharged by the house. Where the reason is “other” or blank, the staff note fills it in, for example incarceration becomes custody, and it is marked as coming from a note. Where people went next is only in the notes: 8 to sober living, 6 home or to family, 3 to another program; 47 notes don't say. Sage and orange are never side by side, so the bar reads for colour-blind viewers too, and every colour has its count in the legend.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slide I'd most want a funder to remember. 19 people were confirmed engaged in recovery out of 41 who left the house in FY2025 and whose six-month date has passed, including people who left early. 16 couldn't be reached or have no result. So the honest answer is a range: 46% if none of them are engaged, 85% if all of them are. The common practice, engaged among those reached, would say 76%. That is survivorship bias, and the dashboard never shows it. Across all years the range is 41 to 84% of 51.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denominator is everyone admitted who left the house in the fiscal year and whose follow-up date, counted from discharge, has passed. Early leavers are included; the result would look better without them and would be wrong. The three no-outcome categories are graded greys so uncertainty reads as uncertainty, and the bracket marks exactly that stretch: the true engaged share lies somewhere across it. Under 20 people due, the dashboard shows the counts and says “too few to judge” rather than a range. In the funder export, counts from 1 to 4 are hidden, along with any count that could be worked out by subtraction.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the language model earns its place. The structured fields say a referral wasn't admitted; the note says why, and whether it is still open. The fields say “other”; the note says custody. Wellbeing and passes are recorded nowhere else. The first example is the brief's own. The last one is a correction from my own review of the labelled set: a pass that was approved hasn't been taken, so the rule was tightened and the label changed. Every value keeps the words it came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dashboard these sit inside the metrics, not in a review queue: the dashboard is not a data-validation tool. Each carries an AI-assisted note. Funder figures use recorded fields only. The biggest finding: of 64 FY2025 referrals that weren't admitted, the notes say 20 are still open, waitlisted or pending intake, and most of the rest closed because the person didn't show or couldn't be reached, which is something the house can act on. Zero passes is real: no note in this file mentions one, so the pass categories were tested on reworded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Redaction happens before anything reads the note. Rules handle the wording staff use most and are precise. The self-hosted model fills a fixed set of fields and must quote the words it relied on; the validator rejects any quote that isn't in the note and any field that can't apply to where the person is, for example a discharge reason for someone still in the house. On 70 labelled notes, rules alone find only a quarter of findings in notes worded differently; with the model, 94% at 91% precision. The model's main mistakes: it still reads “weekend pass approved” as a pass taken, and it guessed a self-discharge from “discharged, see paper file”. That is why its values carry an AI-assisted label and stay out of funder figures.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language model has one job here: turn words into a small JSON spec drawn from a catalogue of ten metrics. Code does everything else: validation, compiling to parameterised SQL, a guard that allows one SELECT on allow-listed tables, a read-only query against one house's file, and the answer text, written by templates from the result. Before the model is called, the question is redacted; a name, phone or resident ID means it's about a person and it's declined. Phrases that try to change the instructions are also declined before the model. Live demo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fuzzy term gets a question, not an assumption. A glossary lists words with no single meaning. If one appears and the house hasn't defined it, the agent asks before the model is even called. The choices are concrete catalogue options. The answer is saved as the house's definition, with who and when, and applied by code to the spec, so the model can't drift from it. This answer covers all years; the dashboard shows the same measure for FY2025. Every answer names the definition it used and carries the AI-assisted note, as Axon does on its own AI-assisted reports. The model also flags words it can't map, like “how are our graduates doing?”, and then the choices are catalogue metrics it suggested.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layer assumes the one before it failed. The last is the database itself: the connection is read-only, file access and extensions are off, and the settings are locked, so even SQL that skipped the guard can't write, can't read the other house's file, and can't turn the protections back off. Tenant isolation is tested by running the same spec for both houses and with a question that asks for the other house. I used DuckDB to keep the prototype easy to run; the spec is engine-neutral, and for Axon's MongoDB the compiler would target aggregation pipelines with the rules at the bottom of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minimisation comes first: the model never receives a record, and its input is redacted. Hosting comes second. Under PIPEDA Axon stays accountable for any processor; where a customer is a health information custodian under PHIPA, Axon acts as its agent or service provider, with limited use, an audit trail and breach reporting. Some funders require data to stay in Canada. A self-hosted open model in Axon's own AWS account in Canada avoids a third-party processor entirely. Residency options were checked in October 2026 and should be re-checked before signing anything. The trade-off: a 12B model is slower and less accurate than a large hosted one, and the evaluation measures that honestly.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kinds of checking. Automated tests pin every metric definition with hand-built edge cases, run every attack query, and check the dashboard and the question tool give the same numbers. The evaluation set checks the model step; I reviewed every question and every labelled note in a spreadsheet, and a script read my corrections back, validated them and applied them. The key metric is execution accuracy: two different specs can be equally right, so I compare the numbers they return. Safety is where the rules carry the load: zero unsafe answers, every decline for an acceptable reason. Where the 12B model falls short is picking the exact grouping or filter, for example splitting by completion group when nobody asked. The answer is still a true number, just not the one asked for. Recordings are keyed by model, prompt and question, so any change means re-recording and re-scoring.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Iteration: a follow-up like “now split by fee” sends the previous spec and the request; the model returns a changed spec, shown as a difference before it runs. Version control: a saved dashboard is a list of spec hashes plus layout, stored per house with its parent version, author and time, so changes can be reviewed and rolled back. House definitions already work this way. Caching: results are keyed by house, spec hash, data version and definition version. Rebuilding the data changes the data version, so a stale result can never be served. I built the pieces the rest depends on and designed the rest, to keep the prototype honest about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C1 is built, and the notes slides showed it. Notes are short and full of abbreviations, which suits a model, but risk items are too important to automate fully, so they always go to a person, and every value keeps its quote. C2: two trained staff label each note; their agreement is the ceiling; recall matters most for risk flags because a miss can cause harm. Reviewers' corrections become new labels. C3: I picked lost-to-follow-up risk over self-discharge risk because the action is low-harm, an extra phone call, and it improves the outcome numbers funders see. Harbourview alone is far too small; it needs pooled data from many houses under agreements. The main risks are bias against people with unstable housing, small samples, and misuse such as choosing whom to call to make the numbers look better.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biggest trade-off is scope. A narrow catalogue means the tool says no more often than a free-form SQL bot would, but every number it gives has passed every check. The local model keeps everything private and costs nothing, and the evaluation shows where it still picks the wrong grouping or filter; that is the first thing I'd work on, without tuning to the test set. Next for privacy: the name list should come straight from the case-management system, and the redaction test set should grow from real notes. For the data: dated follow-up attempts, so we can measure outreach effort, not just results. Happy to go into any metric definition in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5FB"/>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19100"/>
          </a:xfrm>
          <a:prstGeom prst="rect">
            <a:avLst/>
          </a:prstGeom>
          <a:noFill/>
          <a:ln/>
        </p:spPr>
        <p:txBody>
          <a:bodyPr wrap="square" lIns="0" tIns="0" rIns="0" bIns="0" rtlCol="0" anchor="t"/>
          <a:lstStyle>
            <a:lvl1pPr algn="l" indent="0" marL="0">
              <a:lnSpc>
                <a:spcPct val="115000"/>
              </a:lnSpc>
              <a:buNone/>
              <a:defRPr lang="en-US" sz="3000" dirty="0">
                <a:solidFill>
                  <a:srgbClr val="030302"/>
                </a:solidFill>
                <a:latin typeface="Inter" pitchFamily="34" charset="0"/>
                <a:ea typeface="Inter" pitchFamily="34" charset="-122"/>
                <a:cs typeface="Inter"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536700"/>
            <a:ext cx="10566400" cy="4508500"/>
          </a:xfrm>
          <a:prstGeom prst="rect">
            <a:avLst/>
          </a:prstGeom>
          <a:noFill/>
          <a:ln/>
        </p:spPr>
        <p:txBody>
          <a:bodyPr wrap="square" lIns="0" tIns="0" rIns="0" bIns="0" rtlCol="0" anchor="t"/>
          <a:lstStyle>
            <a:lvl1pPr algn="l" indent="0" marL="0">
              <a:lnSpc>
                <a:spcPct val="140000"/>
              </a:lnSpc>
              <a:buNone/>
              <a:defRPr lang="en-US" sz="1600" dirty="0">
                <a:solidFill>
                  <a:srgbClr val="030302"/>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5FB"/>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19100"/>
          </a:xfrm>
          <a:prstGeom prst="rect">
            <a:avLst/>
          </a:prstGeom>
          <a:noFill/>
          <a:ln/>
        </p:spPr>
        <p:txBody>
          <a:bodyPr wrap="square" lIns="0" tIns="0" rIns="0" bIns="0" rtlCol="0" anchor="t"/>
          <a:lstStyle>
            <a:lvl1pPr algn="l" indent="0" marL="0">
              <a:lnSpc>
                <a:spcPct val="115000"/>
              </a:lnSpc>
              <a:buNone/>
              <a:defRPr lang="en-US" sz="3000" dirty="0">
                <a:solidFill>
                  <a:srgbClr val="030302"/>
                </a:solidFill>
                <a:latin typeface="Inter" pitchFamily="34" charset="0"/>
                <a:ea typeface="Inter" pitchFamily="34" charset="-122"/>
                <a:cs typeface="Inter"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536700"/>
            <a:ext cx="10566400" cy="4508500"/>
          </a:xfrm>
          <a:prstGeom prst="rect">
            <a:avLst/>
          </a:prstGeom>
          <a:noFill/>
          <a:ln/>
        </p:spPr>
        <p:txBody>
          <a:bodyPr wrap="square" lIns="0" tIns="0" rIns="0" bIns="0" rtlCol="0" anchor="t"/>
          <a:lstStyle>
            <a:lvl1pPr algn="l" indent="0" marL="0">
              <a:lnSpc>
                <a:spcPct val="140000"/>
              </a:lnSpc>
              <a:buNone/>
              <a:defRPr lang="en-US" sz="1600" dirty="0">
                <a:solidFill>
                  <a:srgbClr val="030302"/>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578550"/>
          </a:solidFill>
          <a:ln/>
        </p:spPr>
      </p:sp>
      <p:sp>
        <p:nvSpPr>
          <p:cNvPr id="3" name="Text 1"/>
          <p:cNvSpPr/>
          <p:nvPr/>
        </p:nvSpPr>
        <p:spPr>
          <a:xfrm>
            <a:off x="1117600" y="812800"/>
            <a:ext cx="10569448"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446A3F"/>
                </a:solidFill>
                <a:latin typeface="Inter" pitchFamily="34" charset="0"/>
                <a:ea typeface="Inter" pitchFamily="34" charset="-122"/>
                <a:cs typeface="Inter" pitchFamily="34" charset="-120"/>
              </a:rPr>
              <a:t>AXON TAKE-HOME · KASSEY G</a:t>
            </a:r>
            <a:endParaRPr lang="en-US" sz="1200" dirty="0"/>
          </a:p>
        </p:txBody>
      </p:sp>
      <p:sp>
        <p:nvSpPr>
          <p:cNvPr id="4" name="Text 2"/>
          <p:cNvSpPr/>
          <p:nvPr>
            <p:ph type="title"/>
          </p:nvPr>
        </p:nvSpPr>
        <p:spPr>
          <a:xfrm>
            <a:off x="1117600" y="2636540"/>
            <a:ext cx="10569448" cy="695920"/>
          </a:xfrm>
          <a:prstGeom prst="rect">
            <a:avLst/>
          </a:prstGeom>
          <a:noFill/>
          <a:ln/>
        </p:spPr>
        <p:txBody>
          <a:bodyPr wrap="square" lIns="0" tIns="0" rIns="0" bIns="0" rtlCol="0" anchor="t">
            <a:normAutofit/>
          </a:bodyPr>
          <a:lstStyle/>
          <a:p>
            <a:pPr algn="l" indent="0" marL="0">
              <a:lnSpc>
                <a:spcPts val="5280"/>
              </a:lnSpc>
              <a:buNone/>
            </a:pPr>
            <a:r>
              <a:rPr lang="en-US" sz="4800" b="1" i="0" spc="-50" kern="0" dirty="0">
                <a:solidFill>
                  <a:srgbClr val="030302"/>
                </a:solidFill>
                <a:latin typeface="Inter" pitchFamily="34" charset="0"/>
                <a:ea typeface="Inter" pitchFamily="34" charset="-122"/>
                <a:cs typeface="Inter" pitchFamily="34" charset="-120"/>
              </a:rPr>
              <a:t>Harbourview House</a:t>
            </a:r>
            <a:endParaRPr lang="en-US" sz="4800" dirty="0"/>
          </a:p>
        </p:txBody>
      </p:sp>
      <p:sp>
        <p:nvSpPr>
          <p:cNvPr id="5" name="Text 3"/>
          <p:cNvSpPr/>
          <p:nvPr/>
        </p:nvSpPr>
        <p:spPr>
          <a:xfrm>
            <a:off x="1117600" y="3510260"/>
            <a:ext cx="8502650" cy="7366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54586B"/>
                </a:solidFill>
                <a:latin typeface="Inter" pitchFamily="34" charset="0"/>
                <a:ea typeface="Inter" pitchFamily="34" charset="-122"/>
                <a:cs typeface="Inter" pitchFamily="34" charset="-120"/>
              </a:rPr>
              <a:t>Numbers a director can act on, with resident data kept secure and redacted at every step</a:t>
            </a:r>
            <a:endParaRPr lang="en-US" sz="2000" dirty="0"/>
          </a:p>
        </p:txBody>
      </p:sp>
      <p:sp>
        <p:nvSpPr>
          <p:cNvPr id="6" name="Text 4"/>
          <p:cNvSpPr/>
          <p:nvPr/>
        </p:nvSpPr>
        <p:spPr>
          <a:xfrm>
            <a:off x="1117600" y="5831880"/>
            <a:ext cx="1056944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E7D91"/>
                </a:solidFill>
                <a:latin typeface="Inter" pitchFamily="34" charset="0"/>
                <a:ea typeface="Inter" pitchFamily="34" charset="-122"/>
                <a:cs typeface="Inter" pitchFamily="34" charset="-120"/>
              </a:rPr>
              <a:t>Synthetic data, fictional house, data as of 15 January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FB"/>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30302"/>
                </a:solidFill>
                <a:latin typeface="Inter" pitchFamily="34" charset="0"/>
                <a:ea typeface="Inter" pitchFamily="34" charset="-122"/>
                <a:cs typeface="Inter" pitchFamily="34" charset="-120"/>
              </a:rPr>
              <a:t>The main goal: resident data stays secure</a:t>
            </a:r>
            <a:endParaRPr lang="en-US" sz="3000" dirty="0"/>
          </a:p>
        </p:txBody>
      </p:sp>
      <p:sp>
        <p:nvSpPr>
          <p:cNvPr id="3" name="Shape 1"/>
          <p:cNvSpPr/>
          <p:nvPr/>
        </p:nvSpPr>
        <p:spPr>
          <a:xfrm>
            <a:off x="812800" y="1485900"/>
            <a:ext cx="6223000" cy="4457700"/>
          </a:xfrm>
          <a:prstGeom prst="roundRect">
            <a:avLst>
              <a:gd name="adj" fmla="val 2279"/>
            </a:avLst>
          </a:prstGeom>
          <a:solidFill>
            <a:srgbClr val="FFFFFF"/>
          </a:solidFill>
          <a:ln/>
        </p:spPr>
        <p:txBody>
          <a:bodyPr/>
          <a:p/>
        </p:txBody>
      </p:sp>
      <p:pic>
        <p:nvPicPr>
          <p:cNvPr id="4" name="Image 0" descr="Data flow inside Axon's own AWS account in Canada: records go to the analytics tables; staff notes and typed questions are redacted before rules or the self-hosted model see them; checks, a read-only query per house, and an audit log that never stores results; outputs are the dashboard, a funder export with counts 1 to 4 hidden, and answers with an AI note">    </p:cNvPr>
          <p:cNvPicPr>
            <a:picLocks noChangeAspect="1"/>
          </p:cNvPicPr>
          <p:nvPr/>
        </p:nvPicPr>
        <p:blipFill>
          <a:blip r:embed="rId1"/>
          <a:srcRect l="0" r="0" t="-2" b="-2"/>
          <a:stretch/>
        </p:blipFill>
        <p:spPr>
          <a:xfrm>
            <a:off x="812800" y="1485900"/>
            <a:ext cx="6223000" cy="4457700"/>
          </a:xfrm>
          <a:prstGeom prst="roundRect">
            <a:avLst>
              <a:gd name="adj" fmla="val 2279"/>
            </a:avLst>
          </a:prstGeom>
        </p:spPr>
      </p:pic>
      <p:sp>
        <p:nvSpPr>
          <p:cNvPr id="5" name="Text 2"/>
          <p:cNvSpPr/>
          <p:nvPr/>
        </p:nvSpPr>
        <p:spPr>
          <a:xfrm>
            <a:off x="7391400" y="1485900"/>
            <a:ext cx="4107434"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30302"/>
                </a:solidFill>
                <a:latin typeface="Inter" pitchFamily="34" charset="0"/>
                <a:ea typeface="Inter" pitchFamily="34" charset="-122"/>
                <a:cs typeface="Inter" pitchFamily="34" charset="-120"/>
              </a:rPr>
              <a:t>One place</a:t>
            </a:r>
            <a:endParaRPr lang="en-US" sz="1600" dirty="0"/>
          </a:p>
        </p:txBody>
      </p:sp>
      <p:sp>
        <p:nvSpPr>
          <p:cNvPr id="6" name="Text 3"/>
          <p:cNvSpPr/>
          <p:nvPr/>
        </p:nvSpPr>
        <p:spPr>
          <a:xfrm>
            <a:off x="7391400" y="1780530"/>
            <a:ext cx="4107434"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54586B"/>
                </a:solidFill>
                <a:latin typeface="Inter" pitchFamily="34" charset="0"/>
                <a:ea typeface="Inter" pitchFamily="34" charset="-122"/>
                <a:cs typeface="Inter" pitchFamily="34" charset="-120"/>
              </a:rPr>
              <a:t>Everything runs in Axon’s own cloud in Canada. No outside AI service.</a:t>
            </a:r>
            <a:endParaRPr lang="en-US" sz="1300" dirty="0"/>
          </a:p>
        </p:txBody>
      </p:sp>
      <p:sp>
        <p:nvSpPr>
          <p:cNvPr id="7" name="Text 4"/>
          <p:cNvSpPr/>
          <p:nvPr/>
        </p:nvSpPr>
        <p:spPr>
          <a:xfrm>
            <a:off x="7391400" y="2462461"/>
            <a:ext cx="4107434"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30302"/>
                </a:solidFill>
                <a:latin typeface="Inter" pitchFamily="34" charset="0"/>
                <a:ea typeface="Inter" pitchFamily="34" charset="-122"/>
                <a:cs typeface="Inter" pitchFamily="34" charset="-120"/>
              </a:rPr>
              <a:t>Redact first</a:t>
            </a:r>
            <a:endParaRPr lang="en-US" sz="1600" dirty="0"/>
          </a:p>
        </p:txBody>
      </p:sp>
      <p:sp>
        <p:nvSpPr>
          <p:cNvPr id="8" name="Text 5"/>
          <p:cNvSpPr/>
          <p:nvPr/>
        </p:nvSpPr>
        <p:spPr>
          <a:xfrm>
            <a:off x="7391400" y="2757091"/>
            <a:ext cx="4107434"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54586B"/>
                </a:solidFill>
                <a:latin typeface="Inter" pitchFamily="34" charset="0"/>
                <a:ea typeface="Inter" pitchFamily="34" charset="-122"/>
                <a:cs typeface="Inter" pitchFamily="34" charset="-120"/>
              </a:rPr>
              <a:t>Names, phones and IDs stripped before any rule or model reads text: 33 of 34 names on a test set.</a:t>
            </a:r>
            <a:endParaRPr lang="en-US" sz="1300" dirty="0"/>
          </a:p>
        </p:txBody>
      </p:sp>
      <p:sp>
        <p:nvSpPr>
          <p:cNvPr id="9" name="Text 6"/>
          <p:cNvSpPr/>
          <p:nvPr/>
        </p:nvSpPr>
        <p:spPr>
          <a:xfrm>
            <a:off x="7391400" y="3439021"/>
            <a:ext cx="4107434"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30302"/>
                </a:solidFill>
                <a:latin typeface="Inter" pitchFamily="34" charset="0"/>
                <a:ea typeface="Inter" pitchFamily="34" charset="-122"/>
                <a:cs typeface="Inter" pitchFamily="34" charset="-120"/>
              </a:rPr>
              <a:t>The model never sees records or results</a:t>
            </a:r>
            <a:endParaRPr lang="en-US" sz="1600" dirty="0"/>
          </a:p>
        </p:txBody>
      </p:sp>
      <p:sp>
        <p:nvSpPr>
          <p:cNvPr id="10" name="Text 7"/>
          <p:cNvSpPr/>
          <p:nvPr/>
        </p:nvSpPr>
        <p:spPr>
          <a:xfrm>
            <a:off x="7391400" y="3733651"/>
            <a:ext cx="4107434"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54586B"/>
                </a:solidFill>
                <a:latin typeface="Inter" pitchFamily="34" charset="0"/>
                <a:ea typeface="Inter" pitchFamily="34" charset="-122"/>
                <a:cs typeface="Inter" pitchFamily="34" charset="-120"/>
              </a:rPr>
              <a:t>Not rows, not query results. Every number on screen comes from a query.</a:t>
            </a:r>
            <a:endParaRPr lang="en-US" sz="1300" dirty="0"/>
          </a:p>
        </p:txBody>
      </p:sp>
      <p:sp>
        <p:nvSpPr>
          <p:cNvPr id="11" name="Text 8"/>
          <p:cNvSpPr/>
          <p:nvPr/>
        </p:nvSpPr>
        <p:spPr>
          <a:xfrm>
            <a:off x="7391400" y="4415582"/>
            <a:ext cx="4107434"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30302"/>
                </a:solidFill>
                <a:latin typeface="Inter" pitchFamily="34" charset="0"/>
                <a:ea typeface="Inter" pitchFamily="34" charset="-122"/>
                <a:cs typeface="Inter" pitchFamily="34" charset="-120"/>
              </a:rPr>
              <a:t>Totals only</a:t>
            </a:r>
            <a:endParaRPr lang="en-US" sz="1600" dirty="0"/>
          </a:p>
        </p:txBody>
      </p:sp>
      <p:sp>
        <p:nvSpPr>
          <p:cNvPr id="12" name="Text 9"/>
          <p:cNvSpPr/>
          <p:nvPr/>
        </p:nvSpPr>
        <p:spPr>
          <a:xfrm>
            <a:off x="7391400" y="4710212"/>
            <a:ext cx="4107434"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54586B"/>
                </a:solidFill>
                <a:latin typeface="Inter" pitchFamily="34" charset="0"/>
                <a:ea typeface="Inter" pitchFamily="34" charset="-122"/>
                <a:cs typeface="Inter" pitchFamily="34" charset="-120"/>
              </a:rPr>
              <a:t>Nothing about one person. The funder export hides counts from 1 to 4.</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FB"/>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30302"/>
                </a:solidFill>
                <a:latin typeface="Inter" pitchFamily="34" charset="0"/>
                <a:ea typeface="Inter" pitchFamily="34" charset="-122"/>
                <a:cs typeface="Inter" pitchFamily="34" charset="-120"/>
              </a:rPr>
              <a:t>What the data said before any chart</a:t>
            </a:r>
            <a:endParaRPr lang="en-US" sz="30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524000"/>
          <a:ext cx="10553700" cy="3336826"/>
        </p:xfrm>
        <a:graphic>
          <a:graphicData uri="http://schemas.openxmlformats.org/drawingml/2006/table">
            <a:tbl>
              <a:tblPr/>
              <a:tblGrid>
                <a:gridCol w="4643628"/>
                <a:gridCol w="5910072"/>
              </a:tblGrid>
              <a:tr h="359321">
                <a:tc>
                  <a:txBody>
                    <a:bodyPr/>
                    <a:lstStyle/>
                    <a:p>
                      <a:pPr indent="0" marL="0">
                        <a:lnSpc>
                          <a:spcPts val="1820"/>
                        </a:lnSpc>
                        <a:buNone/>
                      </a:pPr>
                      <a:r>
                        <a:rPr lang="en-US" sz="1300" b="1" dirty="0">
                          <a:solidFill>
                            <a:srgbClr val="54586B"/>
                          </a:solidFill>
                          <a:latin typeface="Inter" pitchFamily="34" charset="0"/>
                          <a:ea typeface="Inter" pitchFamily="34" charset="-122"/>
                          <a:cs typeface="Inter" pitchFamily="34" charset="-120"/>
                        </a:rPr>
                        <a:t>In the file</a:t>
                      </a:r>
                      <a:endParaRPr lang="en-US" sz="1300" dirty="0">
                        <a:latin typeface="Inter" charset="0"/>
                        <a:ea typeface="Inter" charset="0"/>
                        <a:cs typeface="Inter" charset="0"/>
                      </a:endParaRPr>
                    </a:p>
                  </a:txBody>
                  <a:tcPr marL="57785" marR="57785" marT="57785" marB="57785" anchor="t">
                    <a:lnL w="12700" cap="flat" cmpd="sng" algn="ctr">
                      <a:solidFill>
                        <a:srgbClr val="C5C4C8"/>
                      </a:solidFill>
                      <a:prstDash val="solid"/>
                      <a:round/>
                      <a:headEnd type="none" w="med" len="med"/>
                      <a:tailEnd type="none" w="med" len="med"/>
                    </a:lnL>
                    <a:lnR w="12700" cap="flat" cmpd="sng" algn="ctr">
                      <a:solidFill>
                        <a:srgbClr val="B7B5B9"/>
                      </a:solidFill>
                      <a:prstDash val="solid"/>
                      <a:round/>
                      <a:headEnd type="none" w="med" len="med"/>
                      <a:tailEnd type="none" w="med" len="med"/>
                    </a:lnR>
                    <a:lnT w="12700" cap="flat" cmpd="sng" algn="ctr">
                      <a:solidFill>
                        <a:srgbClr val="C5C4C8"/>
                      </a:solidFill>
                      <a:prstDash val="solid"/>
                      <a:round/>
                      <a:headEnd type="none" w="med" len="med"/>
                      <a:tailEnd type="none" w="med" len="med"/>
                    </a:lnT>
                    <a:lnB w="12700" cap="flat" cmpd="sng" algn="ctr">
                      <a:solidFill>
                        <a:srgbClr val="B7B5B9"/>
                      </a:solidFill>
                      <a:prstDash val="solid"/>
                      <a:round/>
                      <a:headEnd type="none" w="med" len="med"/>
                      <a:tailEnd type="none" w="med" len="med"/>
                    </a:lnB>
                    <a:solidFill>
                      <a:srgbClr val="E5E3E8"/>
                    </a:solidFill>
                  </a:tcPr>
                </a:tc>
                <a:tc>
                  <a:txBody>
                    <a:bodyPr/>
                    <a:lstStyle/>
                    <a:p>
                      <a:pPr indent="0" marL="0">
                        <a:lnSpc>
                          <a:spcPts val="1820"/>
                        </a:lnSpc>
                        <a:buNone/>
                      </a:pPr>
                      <a:r>
                        <a:rPr lang="en-US" sz="1300" b="1" dirty="0">
                          <a:solidFill>
                            <a:srgbClr val="54586B"/>
                          </a:solidFill>
                          <a:latin typeface="Inter" pitchFamily="34" charset="0"/>
                          <a:ea typeface="Inter" pitchFamily="34" charset="-122"/>
                          <a:cs typeface="Inter" pitchFamily="34" charset="-120"/>
                        </a:rPr>
                        <a:t>What I did</a:t>
                      </a:r>
                      <a:endParaRPr lang="en-US" sz="1300" dirty="0">
                        <a:latin typeface="Inter" charset="0"/>
                        <a:ea typeface="Inter" charset="0"/>
                        <a:cs typeface="Inter" charset="0"/>
                      </a:endParaRPr>
                    </a:p>
                  </a:txBody>
                  <a:tcPr marL="57785" marR="57785" marT="57785" marB="57785" anchor="t">
                    <a:lnL w="12700" cap="flat" cmpd="sng" algn="ctr">
                      <a:solidFill>
                        <a:srgbClr val="B7B5B9"/>
                      </a:solidFill>
                      <a:prstDash val="solid"/>
                      <a:round/>
                      <a:headEnd type="none" w="med" len="med"/>
                      <a:tailEnd type="none" w="med" len="med"/>
                    </a:lnL>
                    <a:lnR w="12700" cap="flat" cmpd="sng" algn="ctr">
                      <a:solidFill>
                        <a:srgbClr val="B7B5B9"/>
                      </a:solidFill>
                      <a:prstDash val="solid"/>
                      <a:round/>
                      <a:headEnd type="none" w="med" len="med"/>
                      <a:tailEnd type="none" w="med" len="med"/>
                    </a:lnR>
                    <a:lnT w="12700" cap="flat" cmpd="sng" algn="ctr">
                      <a:solidFill>
                        <a:srgbClr val="C5C4C8"/>
                      </a:solidFill>
                      <a:prstDash val="solid"/>
                      <a:round/>
                      <a:headEnd type="none" w="med" len="med"/>
                      <a:tailEnd type="none" w="med" len="med"/>
                    </a:lnT>
                    <a:lnB w="12700" cap="flat" cmpd="sng" algn="ctr">
                      <a:solidFill>
                        <a:srgbClr val="B7B5B9"/>
                      </a:solidFill>
                      <a:prstDash val="solid"/>
                      <a:round/>
                      <a:headEnd type="none" w="med" len="med"/>
                      <a:tailEnd type="none" w="med" len="med"/>
                    </a:lnB>
                    <a:solidFill>
                      <a:srgbClr val="E5E3E8"/>
                    </a:solidFill>
                  </a:tcPr>
                </a:tc>
              </a:tr>
              <a:tr h="590451">
                <a:tc>
                  <a:txBody>
                    <a:bodyPr/>
                    <a:lstStyle/>
                    <a:p>
                      <a:pPr indent="0" marL="0">
                        <a:lnSpc>
                          <a:spcPts val="1820"/>
                        </a:lnSpc>
                        <a:buNone/>
                      </a:pPr>
                      <a:r>
                        <a:rPr lang="en-US" sz="1300" dirty="0">
                          <a:solidFill>
                            <a:srgbClr val="21273F"/>
                          </a:solidFill>
                          <a:latin typeface="Inter" pitchFamily="34" charset="0"/>
                          <a:ea typeface="Inter" pitchFamily="34" charset="-122"/>
                          <a:cs typeface="Inter" pitchFamily="34" charset="-120"/>
                        </a:rPr>
                        <a:t>Latest date 15 Jan 2026; all 190 follow-up statuses agree with it</a:t>
                      </a:r>
                      <a:endParaRPr lang="en-US" sz="1300" dirty="0">
                        <a:latin typeface="Inter" charset="0"/>
                        <a:ea typeface="Inter" charset="0"/>
                        <a:cs typeface="Inter" charset="0"/>
                      </a:endParaRPr>
                    </a:p>
                  </a:txBody>
                  <a:tcPr marL="57785" marR="57785" marT="57785" marB="57785" anchor="t">
                    <a:lnL w="12700" cap="flat" cmpd="sng" algn="ctr">
                      <a:solidFill>
                        <a:srgbClr val="C5C4C8"/>
                      </a:solidFill>
                      <a:prstDash val="solid"/>
                      <a:round/>
                      <a:headEnd type="none" w="med" len="med"/>
                      <a:tailEnd type="none" w="med" len="med"/>
                    </a:lnL>
                    <a:lnR w="12700" cap="flat" cmpd="sng" algn="ctr">
                      <a:solidFill>
                        <a:srgbClr val="C5C4C8"/>
                      </a:solidFill>
                      <a:prstDash val="solid"/>
                      <a:round/>
                      <a:headEnd type="none" w="med" len="med"/>
                      <a:tailEnd type="none" w="med" len="med"/>
                    </a:lnR>
                    <a:lnT w="12700" cap="flat" cmpd="sng" algn="ctr">
                      <a:solidFill>
                        <a:srgbClr val="B7B5B9"/>
                      </a:solidFill>
                      <a:prstDash val="solid"/>
                      <a:round/>
                      <a:headEnd type="none" w="med" len="med"/>
                      <a:tailEnd type="none" w="med" len="med"/>
                    </a:lnT>
                    <a:lnB w="12700" cap="flat" cmpd="sng" algn="ctr">
                      <a:solidFill>
                        <a:srgbClr val="C5C4C8"/>
                      </a:solidFill>
                      <a:prstDash val="solid"/>
                      <a:round/>
                      <a:headEnd type="none" w="med" len="med"/>
                      <a:tailEnd type="none" w="med" len="med"/>
                    </a:lnB>
                  </a:tcPr>
                </a:tc>
                <a:tc>
                  <a:txBody>
                    <a:bodyPr/>
                    <a:lstStyle/>
                    <a:p>
                      <a:pPr indent="0" marL="0">
                        <a:lnSpc>
                          <a:spcPts val="1820"/>
                        </a:lnSpc>
                        <a:buNone/>
                      </a:pPr>
                      <a:r>
                        <a:rPr lang="en-US" sz="1300" dirty="0">
                          <a:solidFill>
                            <a:srgbClr val="21273F"/>
                          </a:solidFill>
                          <a:latin typeface="Inter" pitchFamily="34" charset="0"/>
                          <a:ea typeface="Inter" pitchFamily="34" charset="-122"/>
                          <a:cs typeface="Inter" pitchFamily="34" charset="-120"/>
                        </a:rPr>
                        <a:t>Used it as the extract date</a:t>
                      </a:r>
                      <a:endParaRPr lang="en-US" sz="1300" dirty="0">
                        <a:latin typeface="Inter" charset="0"/>
                        <a:ea typeface="Inter" charset="0"/>
                        <a:cs typeface="Inter" charset="0"/>
                      </a:endParaRPr>
                    </a:p>
                  </a:txBody>
                  <a:tcPr marL="57785" marR="57785" marT="57785" marB="57785" anchor="t">
                    <a:lnL w="12700" cap="flat" cmpd="sng" algn="ctr">
                      <a:solidFill>
                        <a:srgbClr val="C5C4C8"/>
                      </a:solidFill>
                      <a:prstDash val="solid"/>
                      <a:round/>
                      <a:headEnd type="none" w="med" len="med"/>
                      <a:tailEnd type="none" w="med" len="med"/>
                    </a:lnL>
                    <a:lnR w="12700" cap="flat" cmpd="sng" algn="ctr">
                      <a:solidFill>
                        <a:srgbClr val="C5C4C8"/>
                      </a:solidFill>
                      <a:prstDash val="solid"/>
                      <a:round/>
                      <a:headEnd type="none" w="med" len="med"/>
                      <a:tailEnd type="none" w="med" len="med"/>
                    </a:lnR>
                    <a:lnT w="12700" cap="flat" cmpd="sng" algn="ctr">
                      <a:solidFill>
                        <a:srgbClr val="B7B5B9"/>
                      </a:solidFill>
                      <a:prstDash val="solid"/>
                      <a:round/>
                      <a:headEnd type="none" w="med" len="med"/>
                      <a:tailEnd type="none" w="med" len="med"/>
                    </a:lnT>
                    <a:lnB w="12700" cap="flat" cmpd="sng" algn="ctr">
                      <a:solidFill>
                        <a:srgbClr val="C5C4C8"/>
                      </a:solidFill>
                      <a:prstDash val="solid"/>
                      <a:round/>
                      <a:headEnd type="none" w="med" len="med"/>
                      <a:tailEnd type="none" w="med" len="med"/>
                    </a:lnB>
                  </a:tcPr>
                </a:tc>
              </a:tr>
              <a:tr h="590451">
                <a:tc>
                  <a:txBody>
                    <a:bodyPr/>
                    <a:lstStyle/>
                    <a:p>
                      <a:pPr indent="0" marL="0">
                        <a:lnSpc>
                          <a:spcPts val="1820"/>
                        </a:lnSpc>
                        <a:buNone/>
                      </a:pPr>
                      <a:r>
                        <a:rPr lang="en-US" sz="1300" dirty="0">
                          <a:solidFill>
                            <a:srgbClr val="21273F"/>
                          </a:solidFill>
                          <a:latin typeface="Inter" pitchFamily="34" charset="0"/>
                          <a:ea typeface="Inter" pitchFamily="34" charset="-122"/>
                          <a:cs typeface="Inter" pitchFamily="34" charset="-120"/>
                        </a:rPr>
                        <a:t>6 admitted with no intake date; 2 intakes dated before referral</a:t>
                      </a:r>
                      <a:endParaRPr lang="en-US" sz="1300" dirty="0">
                        <a:latin typeface="Inter" charset="0"/>
                        <a:ea typeface="Inter" charset="0"/>
                        <a:cs typeface="Inter" charset="0"/>
                      </a:endParaRPr>
                    </a:p>
                  </a:txBody>
                  <a:tcPr marL="57785" marR="57785" marT="57785" marB="57785" anchor="t">
                    <a:lnL w="12700" cap="flat" cmpd="sng" algn="ctr">
                      <a:solidFill>
                        <a:srgbClr val="C5C4C8"/>
                      </a:solidFill>
                      <a:prstDash val="solid"/>
                      <a:round/>
                      <a:headEnd type="none" w="med" len="med"/>
                      <a:tailEnd type="none" w="med" len="med"/>
                    </a:lnL>
                    <a:lnR w="12700" cap="flat" cmpd="sng" algn="ctr">
                      <a:solidFill>
                        <a:srgbClr val="C5C4C8"/>
                      </a:solidFill>
                      <a:prstDash val="solid"/>
                      <a:round/>
                      <a:headEnd type="none" w="med" len="med"/>
                      <a:tailEnd type="none" w="med" len="med"/>
                    </a:lnR>
                    <a:lnT w="12700" cap="flat" cmpd="sng" algn="ctr">
                      <a:solidFill>
                        <a:srgbClr val="C5C4C8"/>
                      </a:solidFill>
                      <a:prstDash val="solid"/>
                      <a:round/>
                      <a:headEnd type="none" w="med" len="med"/>
                      <a:tailEnd type="none" w="med" len="med"/>
                    </a:lnT>
                    <a:lnB w="12700" cap="flat" cmpd="sng" algn="ctr">
                      <a:solidFill>
                        <a:srgbClr val="C5C4C8"/>
                      </a:solidFill>
                      <a:prstDash val="solid"/>
                      <a:round/>
                      <a:headEnd type="none" w="med" len="med"/>
                      <a:tailEnd type="none" w="med" len="med"/>
                    </a:lnB>
                  </a:tcPr>
                </a:tc>
                <a:tc>
                  <a:txBody>
                    <a:bodyPr/>
                    <a:lstStyle/>
                    <a:p>
                      <a:pPr indent="0" marL="0">
                        <a:lnSpc>
                          <a:spcPts val="1820"/>
                        </a:lnSpc>
                        <a:buNone/>
                      </a:pPr>
                      <a:r>
                        <a:rPr lang="en-US" sz="1300" dirty="0">
                          <a:solidFill>
                            <a:srgbClr val="21273F"/>
                          </a:solidFill>
                          <a:latin typeface="Inter" pitchFamily="34" charset="0"/>
                          <a:ea typeface="Inter" pitchFamily="34" charset="-122"/>
                          <a:cs typeface="Inter" pitchFamily="34" charset="-120"/>
                        </a:rPr>
                        <a:t>Counted in the funnel, left out of timings</a:t>
                      </a:r>
                      <a:endParaRPr lang="en-US" sz="1300" dirty="0">
                        <a:latin typeface="Inter" charset="0"/>
                        <a:ea typeface="Inter" charset="0"/>
                        <a:cs typeface="Inter" charset="0"/>
                      </a:endParaRPr>
                    </a:p>
                  </a:txBody>
                  <a:tcPr marL="57785" marR="57785" marT="57785" marB="57785" anchor="t">
                    <a:lnL w="12700" cap="flat" cmpd="sng" algn="ctr">
                      <a:solidFill>
                        <a:srgbClr val="C5C4C8"/>
                      </a:solidFill>
                      <a:prstDash val="solid"/>
                      <a:round/>
                      <a:headEnd type="none" w="med" len="med"/>
                      <a:tailEnd type="none" w="med" len="med"/>
                    </a:lnL>
                    <a:lnR w="12700" cap="flat" cmpd="sng" algn="ctr">
                      <a:solidFill>
                        <a:srgbClr val="C5C4C8"/>
                      </a:solidFill>
                      <a:prstDash val="solid"/>
                      <a:round/>
                      <a:headEnd type="none" w="med" len="med"/>
                      <a:tailEnd type="none" w="med" len="med"/>
                    </a:lnR>
                    <a:lnT w="12700" cap="flat" cmpd="sng" algn="ctr">
                      <a:solidFill>
                        <a:srgbClr val="C5C4C8"/>
                      </a:solidFill>
                      <a:prstDash val="solid"/>
                      <a:round/>
                      <a:headEnd type="none" w="med" len="med"/>
                      <a:tailEnd type="none" w="med" len="med"/>
                    </a:lnT>
                    <a:lnB w="12700" cap="flat" cmpd="sng" algn="ctr">
                      <a:solidFill>
                        <a:srgbClr val="C5C4C8"/>
                      </a:solidFill>
                      <a:prstDash val="solid"/>
                      <a:round/>
                      <a:headEnd type="none" w="med" len="med"/>
                      <a:tailEnd type="none" w="med" len="med"/>
                    </a:lnB>
                  </a:tcPr>
                </a:tc>
              </a:tr>
              <a:tr h="359321">
                <a:tc>
                  <a:txBody>
                    <a:bodyPr/>
                    <a:lstStyle/>
                    <a:p>
                      <a:pPr indent="0" marL="0">
                        <a:lnSpc>
                          <a:spcPts val="1820"/>
                        </a:lnSpc>
                        <a:buNone/>
                      </a:pPr>
                      <a:r>
                        <a:rPr lang="en-US" sz="1300" dirty="0">
                          <a:solidFill>
                            <a:srgbClr val="21273F"/>
                          </a:solidFill>
                          <a:latin typeface="Inter" pitchFamily="34" charset="0"/>
                          <a:ea typeface="Inter" pitchFamily="34" charset="-122"/>
                          <a:cs typeface="Inter" pitchFamily="34" charset="-120"/>
                        </a:rPr>
                        <a:t>3 left the house with no discharge date</a:t>
                      </a:r>
                      <a:endParaRPr lang="en-US" sz="1300" dirty="0">
                        <a:latin typeface="Inter" charset="0"/>
                        <a:ea typeface="Inter" charset="0"/>
                        <a:cs typeface="Inter" charset="0"/>
                      </a:endParaRPr>
                    </a:p>
                  </a:txBody>
                  <a:tcPr marL="57785" marR="57785" marT="57785" marB="57785" anchor="t">
                    <a:lnL w="12700" cap="flat" cmpd="sng" algn="ctr">
                      <a:solidFill>
                        <a:srgbClr val="C5C4C8"/>
                      </a:solidFill>
                      <a:prstDash val="solid"/>
                      <a:round/>
                      <a:headEnd type="none" w="med" len="med"/>
                      <a:tailEnd type="none" w="med" len="med"/>
                    </a:lnL>
                    <a:lnR w="12700" cap="flat" cmpd="sng" algn="ctr">
                      <a:solidFill>
                        <a:srgbClr val="C5C4C8"/>
                      </a:solidFill>
                      <a:prstDash val="solid"/>
                      <a:round/>
                      <a:headEnd type="none" w="med" len="med"/>
                      <a:tailEnd type="none" w="med" len="med"/>
                    </a:lnR>
                    <a:lnT w="12700" cap="flat" cmpd="sng" algn="ctr">
                      <a:solidFill>
                        <a:srgbClr val="C5C4C8"/>
                      </a:solidFill>
                      <a:prstDash val="solid"/>
                      <a:round/>
                      <a:headEnd type="none" w="med" len="med"/>
                      <a:tailEnd type="none" w="med" len="med"/>
                    </a:lnT>
                    <a:lnB w="12700" cap="flat" cmpd="sng" algn="ctr">
                      <a:solidFill>
                        <a:srgbClr val="C5C4C8"/>
                      </a:solidFill>
                      <a:prstDash val="solid"/>
                      <a:round/>
                      <a:headEnd type="none" w="med" len="med"/>
                      <a:tailEnd type="none" w="med" len="med"/>
                    </a:lnB>
                  </a:tcPr>
                </a:tc>
                <a:tc>
                  <a:txBody>
                    <a:bodyPr/>
                    <a:lstStyle/>
                    <a:p>
                      <a:pPr indent="0" marL="0">
                        <a:lnSpc>
                          <a:spcPts val="1820"/>
                        </a:lnSpc>
                        <a:buNone/>
                      </a:pPr>
                      <a:r>
                        <a:rPr lang="en-US" sz="1300" dirty="0">
                          <a:solidFill>
                            <a:srgbClr val="21273F"/>
                          </a:solidFill>
                          <a:latin typeface="Inter" pitchFamily="34" charset="0"/>
                          <a:ea typeface="Inter" pitchFamily="34" charset="-122"/>
                          <a:cs typeface="Inter" pitchFamily="34" charset="-120"/>
                        </a:rPr>
                        <a:t>Estimated for occupancy only; left out of length of stay</a:t>
                      </a:r>
                      <a:endParaRPr lang="en-US" sz="1300" dirty="0">
                        <a:latin typeface="Inter" charset="0"/>
                        <a:ea typeface="Inter" charset="0"/>
                        <a:cs typeface="Inter" charset="0"/>
                      </a:endParaRPr>
                    </a:p>
                  </a:txBody>
                  <a:tcPr marL="57785" marR="57785" marT="57785" marB="57785" anchor="t">
                    <a:lnL w="12700" cap="flat" cmpd="sng" algn="ctr">
                      <a:solidFill>
                        <a:srgbClr val="C5C4C8"/>
                      </a:solidFill>
                      <a:prstDash val="solid"/>
                      <a:round/>
                      <a:headEnd type="none" w="med" len="med"/>
                      <a:tailEnd type="none" w="med" len="med"/>
                    </a:lnL>
                    <a:lnR w="12700" cap="flat" cmpd="sng" algn="ctr">
                      <a:solidFill>
                        <a:srgbClr val="C5C4C8"/>
                      </a:solidFill>
                      <a:prstDash val="solid"/>
                      <a:round/>
                      <a:headEnd type="none" w="med" len="med"/>
                      <a:tailEnd type="none" w="med" len="med"/>
                    </a:lnR>
                    <a:lnT w="12700" cap="flat" cmpd="sng" algn="ctr">
                      <a:solidFill>
                        <a:srgbClr val="C5C4C8"/>
                      </a:solidFill>
                      <a:prstDash val="solid"/>
                      <a:round/>
                      <a:headEnd type="none" w="med" len="med"/>
                      <a:tailEnd type="none" w="med" len="med"/>
                    </a:lnT>
                    <a:lnB w="12700" cap="flat" cmpd="sng" algn="ctr">
                      <a:solidFill>
                        <a:srgbClr val="C5C4C8"/>
                      </a:solidFill>
                      <a:prstDash val="solid"/>
                      <a:round/>
                      <a:headEnd type="none" w="med" len="med"/>
                      <a:tailEnd type="none" w="med" len="med"/>
                    </a:lnB>
                  </a:tcPr>
                </a:tc>
              </a:tr>
              <a:tr h="359321">
                <a:tc>
                  <a:txBody>
                    <a:bodyPr/>
                    <a:lstStyle/>
                    <a:p>
                      <a:pPr indent="0" marL="0">
                        <a:lnSpc>
                          <a:spcPts val="1820"/>
                        </a:lnSpc>
                        <a:buNone/>
                      </a:pPr>
                      <a:r>
                        <a:rPr lang="en-US" sz="1300" dirty="0">
                          <a:solidFill>
                            <a:srgbClr val="21273F"/>
                          </a:solidFill>
                          <a:latin typeface="Inter" pitchFamily="34" charset="0"/>
                          <a:ea typeface="Inter" pitchFamily="34" charset="-122"/>
                          <a:cs typeface="Inter" pitchFamily="34" charset="-120"/>
                        </a:rPr>
                        <a:t>2 with no discharge reason; 5 coded “other”</a:t>
                      </a:r>
                      <a:endParaRPr lang="en-US" sz="1300" dirty="0">
                        <a:latin typeface="Inter" charset="0"/>
                        <a:ea typeface="Inter" charset="0"/>
                        <a:cs typeface="Inter" charset="0"/>
                      </a:endParaRPr>
                    </a:p>
                  </a:txBody>
                  <a:tcPr marL="57785" marR="57785" marT="57785" marB="57785" anchor="t">
                    <a:lnL w="12700" cap="flat" cmpd="sng" algn="ctr">
                      <a:solidFill>
                        <a:srgbClr val="C5C4C8"/>
                      </a:solidFill>
                      <a:prstDash val="solid"/>
                      <a:round/>
                      <a:headEnd type="none" w="med" len="med"/>
                      <a:tailEnd type="none" w="med" len="med"/>
                    </a:lnL>
                    <a:lnR w="12700" cap="flat" cmpd="sng" algn="ctr">
                      <a:solidFill>
                        <a:srgbClr val="C5C4C8"/>
                      </a:solidFill>
                      <a:prstDash val="solid"/>
                      <a:round/>
                      <a:headEnd type="none" w="med" len="med"/>
                      <a:tailEnd type="none" w="med" len="med"/>
                    </a:lnR>
                    <a:lnT w="12700" cap="flat" cmpd="sng" algn="ctr">
                      <a:solidFill>
                        <a:srgbClr val="C5C4C8"/>
                      </a:solidFill>
                      <a:prstDash val="solid"/>
                      <a:round/>
                      <a:headEnd type="none" w="med" len="med"/>
                      <a:tailEnd type="none" w="med" len="med"/>
                    </a:lnT>
                    <a:lnB w="12700" cap="flat" cmpd="sng" algn="ctr">
                      <a:solidFill>
                        <a:srgbClr val="C5C4C8"/>
                      </a:solidFill>
                      <a:prstDash val="solid"/>
                      <a:round/>
                      <a:headEnd type="none" w="med" len="med"/>
                      <a:tailEnd type="none" w="med" len="med"/>
                    </a:lnB>
                  </a:tcPr>
                </a:tc>
                <a:tc>
                  <a:txBody>
                    <a:bodyPr/>
                    <a:lstStyle/>
                    <a:p>
                      <a:pPr indent="0" marL="0">
                        <a:lnSpc>
                          <a:spcPts val="1820"/>
                        </a:lnSpc>
                        <a:buNone/>
                      </a:pPr>
                      <a:r>
                        <a:rPr lang="en-US" sz="1300" dirty="0">
                          <a:solidFill>
                            <a:srgbClr val="21273F"/>
                          </a:solidFill>
                          <a:latin typeface="Inter" pitchFamily="34" charset="0"/>
                          <a:ea typeface="Inter" pitchFamily="34" charset="-122"/>
                          <a:cs typeface="Inter" pitchFamily="34" charset="-120"/>
                        </a:rPr>
                        <a:t>Staff notes fill in the exit type, marked AI-assisted; never in funder figures</a:t>
                      </a:r>
                      <a:endParaRPr lang="en-US" sz="1300" dirty="0">
                        <a:latin typeface="Inter" charset="0"/>
                        <a:ea typeface="Inter" charset="0"/>
                        <a:cs typeface="Inter" charset="0"/>
                      </a:endParaRPr>
                    </a:p>
                  </a:txBody>
                  <a:tcPr marL="57785" marR="57785" marT="57785" marB="57785" anchor="t">
                    <a:lnL w="12700" cap="flat" cmpd="sng" algn="ctr">
                      <a:solidFill>
                        <a:srgbClr val="C5C4C8"/>
                      </a:solidFill>
                      <a:prstDash val="solid"/>
                      <a:round/>
                      <a:headEnd type="none" w="med" len="med"/>
                      <a:tailEnd type="none" w="med" len="med"/>
                    </a:lnL>
                    <a:lnR w="12700" cap="flat" cmpd="sng" algn="ctr">
                      <a:solidFill>
                        <a:srgbClr val="C5C4C8"/>
                      </a:solidFill>
                      <a:prstDash val="solid"/>
                      <a:round/>
                      <a:headEnd type="none" w="med" len="med"/>
                      <a:tailEnd type="none" w="med" len="med"/>
                    </a:lnR>
                    <a:lnT w="12700" cap="flat" cmpd="sng" algn="ctr">
                      <a:solidFill>
                        <a:srgbClr val="C5C4C8"/>
                      </a:solidFill>
                      <a:prstDash val="solid"/>
                      <a:round/>
                      <a:headEnd type="none" w="med" len="med"/>
                      <a:tailEnd type="none" w="med" len="med"/>
                    </a:lnT>
                    <a:lnB w="12700" cap="flat" cmpd="sng" algn="ctr">
                      <a:solidFill>
                        <a:srgbClr val="C5C4C8"/>
                      </a:solidFill>
                      <a:prstDash val="solid"/>
                      <a:round/>
                      <a:headEnd type="none" w="med" len="med"/>
                      <a:tailEnd type="none" w="med" len="med"/>
                    </a:lnB>
                  </a:tcPr>
                </a:tc>
              </a:tr>
              <a:tr h="359321">
                <a:tc>
                  <a:txBody>
                    <a:bodyPr/>
                    <a:lstStyle/>
                    <a:p>
                      <a:pPr indent="0" marL="0">
                        <a:lnSpc>
                          <a:spcPts val="1820"/>
                        </a:lnSpc>
                        <a:buNone/>
                      </a:pPr>
                      <a:r>
                        <a:rPr lang="en-US" sz="1300" dirty="0">
                          <a:solidFill>
                            <a:srgbClr val="21273F"/>
                          </a:solidFill>
                          <a:latin typeface="Inter" pitchFamily="34" charset="0"/>
                          <a:ea typeface="Inter" pitchFamily="34" charset="-122"/>
                          <a:cs typeface="Inter" pitchFamily="34" charset="-120"/>
                        </a:rPr>
                        <a:t>4 six-month follow-ups due but blank</a:t>
                      </a:r>
                      <a:endParaRPr lang="en-US" sz="1300" dirty="0">
                        <a:latin typeface="Inter" charset="0"/>
                        <a:ea typeface="Inter" charset="0"/>
                        <a:cs typeface="Inter" charset="0"/>
                      </a:endParaRPr>
                    </a:p>
                  </a:txBody>
                  <a:tcPr marL="57785" marR="57785" marT="57785" marB="57785" anchor="t">
                    <a:lnL w="12700" cap="flat" cmpd="sng" algn="ctr">
                      <a:solidFill>
                        <a:srgbClr val="C5C4C8"/>
                      </a:solidFill>
                      <a:prstDash val="solid"/>
                      <a:round/>
                      <a:headEnd type="none" w="med" len="med"/>
                      <a:tailEnd type="none" w="med" len="med"/>
                    </a:lnL>
                    <a:lnR w="12700" cap="flat" cmpd="sng" algn="ctr">
                      <a:solidFill>
                        <a:srgbClr val="C5C4C8"/>
                      </a:solidFill>
                      <a:prstDash val="solid"/>
                      <a:round/>
                      <a:headEnd type="none" w="med" len="med"/>
                      <a:tailEnd type="none" w="med" len="med"/>
                    </a:lnR>
                    <a:lnT w="12700" cap="flat" cmpd="sng" algn="ctr">
                      <a:solidFill>
                        <a:srgbClr val="C5C4C8"/>
                      </a:solidFill>
                      <a:prstDash val="solid"/>
                      <a:round/>
                      <a:headEnd type="none" w="med" len="med"/>
                      <a:tailEnd type="none" w="med" len="med"/>
                    </a:lnT>
                    <a:lnB w="12700" cap="flat" cmpd="sng" algn="ctr">
                      <a:solidFill>
                        <a:srgbClr val="C5C4C8"/>
                      </a:solidFill>
                      <a:prstDash val="solid"/>
                      <a:round/>
                      <a:headEnd type="none" w="med" len="med"/>
                      <a:tailEnd type="none" w="med" len="med"/>
                    </a:lnB>
                  </a:tcPr>
                </a:tc>
                <a:tc>
                  <a:txBody>
                    <a:bodyPr/>
                    <a:lstStyle/>
                    <a:p>
                      <a:pPr indent="0" marL="0">
                        <a:lnSpc>
                          <a:spcPts val="1820"/>
                        </a:lnSpc>
                        <a:buNone/>
                      </a:pPr>
                      <a:r>
                        <a:rPr lang="en-US" sz="1300" dirty="0">
                          <a:solidFill>
                            <a:srgbClr val="21273F"/>
                          </a:solidFill>
                          <a:latin typeface="Inter" pitchFamily="34" charset="0"/>
                          <a:ea typeface="Inter" pitchFamily="34" charset="-122"/>
                          <a:cs typeface="Inter" pitchFamily="34" charset="-120"/>
                        </a:rPr>
                        <a:t>Own category, “due but not recorded”, kept in the denominator</a:t>
                      </a:r>
                      <a:endParaRPr lang="en-US" sz="1300" dirty="0">
                        <a:latin typeface="Inter" charset="0"/>
                        <a:ea typeface="Inter" charset="0"/>
                        <a:cs typeface="Inter" charset="0"/>
                      </a:endParaRPr>
                    </a:p>
                  </a:txBody>
                  <a:tcPr marL="57785" marR="57785" marT="57785" marB="57785" anchor="t">
                    <a:lnL w="12700" cap="flat" cmpd="sng" algn="ctr">
                      <a:solidFill>
                        <a:srgbClr val="C5C4C8"/>
                      </a:solidFill>
                      <a:prstDash val="solid"/>
                      <a:round/>
                      <a:headEnd type="none" w="med" len="med"/>
                      <a:tailEnd type="none" w="med" len="med"/>
                    </a:lnL>
                    <a:lnR w="12700" cap="flat" cmpd="sng" algn="ctr">
                      <a:solidFill>
                        <a:srgbClr val="C5C4C8"/>
                      </a:solidFill>
                      <a:prstDash val="solid"/>
                      <a:round/>
                      <a:headEnd type="none" w="med" len="med"/>
                      <a:tailEnd type="none" w="med" len="med"/>
                    </a:lnR>
                    <a:lnT w="12700" cap="flat" cmpd="sng" algn="ctr">
                      <a:solidFill>
                        <a:srgbClr val="C5C4C8"/>
                      </a:solidFill>
                      <a:prstDash val="solid"/>
                      <a:round/>
                      <a:headEnd type="none" w="med" len="med"/>
                      <a:tailEnd type="none" w="med" len="med"/>
                    </a:lnT>
                    <a:lnB w="12700" cap="flat" cmpd="sng" algn="ctr">
                      <a:solidFill>
                        <a:srgbClr val="C5C4C8"/>
                      </a:solidFill>
                      <a:prstDash val="solid"/>
                      <a:round/>
                      <a:headEnd type="none" w="med" len="med"/>
                      <a:tailEnd type="none" w="med" len="med"/>
                    </a:lnB>
                  </a:tcPr>
                </a:tc>
              </a:tr>
              <a:tr h="359321">
                <a:tc>
                  <a:txBody>
                    <a:bodyPr/>
                    <a:lstStyle/>
                    <a:p>
                      <a:pPr indent="0" marL="0">
                        <a:lnSpc>
                          <a:spcPts val="1820"/>
                        </a:lnSpc>
                        <a:buNone/>
                      </a:pPr>
                      <a:r>
                        <a:rPr lang="en-US" sz="1300" dirty="0">
                          <a:solidFill>
                            <a:srgbClr val="21273F"/>
                          </a:solidFill>
                          <a:latin typeface="Inter" pitchFamily="34" charset="0"/>
                          <a:ea typeface="Inter" pitchFamily="34" charset="-122"/>
                          <a:cs typeface="Inter" pitchFamily="34" charset="-120"/>
                        </a:rPr>
                        <a:t>Data starts July 2024; 12 referrals too recent to judge</a:t>
                      </a:r>
                      <a:endParaRPr lang="en-US" sz="1300" dirty="0">
                        <a:latin typeface="Inter" charset="0"/>
                        <a:ea typeface="Inter" charset="0"/>
                        <a:cs typeface="Inter" charset="0"/>
                      </a:endParaRPr>
                    </a:p>
                  </a:txBody>
                  <a:tcPr marL="57785" marR="57785" marT="57785" marB="57785" anchor="t">
                    <a:lnL w="12700" cap="flat" cmpd="sng" algn="ctr">
                      <a:solidFill>
                        <a:srgbClr val="C5C4C8"/>
                      </a:solidFill>
                      <a:prstDash val="solid"/>
                      <a:round/>
                      <a:headEnd type="none" w="med" len="med"/>
                      <a:tailEnd type="none" w="med" len="med"/>
                    </a:lnL>
                    <a:lnR w="12700" cap="flat" cmpd="sng" algn="ctr">
                      <a:solidFill>
                        <a:srgbClr val="C5C4C8"/>
                      </a:solidFill>
                      <a:prstDash val="solid"/>
                      <a:round/>
                      <a:headEnd type="none" w="med" len="med"/>
                      <a:tailEnd type="none" w="med" len="med"/>
                    </a:lnR>
                    <a:lnT w="12700" cap="flat" cmpd="sng" algn="ctr">
                      <a:solidFill>
                        <a:srgbClr val="C5C4C8"/>
                      </a:solidFill>
                      <a:prstDash val="solid"/>
                      <a:round/>
                      <a:headEnd type="none" w="med" len="med"/>
                      <a:tailEnd type="none" w="med" len="med"/>
                    </a:lnT>
                    <a:lnB w="12700" cap="flat" cmpd="sng" algn="ctr">
                      <a:solidFill>
                        <a:srgbClr val="C5C4C8"/>
                      </a:solidFill>
                      <a:prstDash val="solid"/>
                      <a:round/>
                      <a:headEnd type="none" w="med" len="med"/>
                      <a:tailEnd type="none" w="med" len="med"/>
                    </a:lnB>
                  </a:tcPr>
                </a:tc>
                <a:tc>
                  <a:txBody>
                    <a:bodyPr/>
                    <a:lstStyle/>
                    <a:p>
                      <a:pPr indent="0" marL="0">
                        <a:lnSpc>
                          <a:spcPts val="1820"/>
                        </a:lnSpc>
                        <a:buNone/>
                      </a:pPr>
                      <a:r>
                        <a:rPr lang="en-US" sz="1300" dirty="0">
                          <a:solidFill>
                            <a:srgbClr val="21273F"/>
                          </a:solidFill>
                          <a:latin typeface="Inter" pitchFamily="34" charset="0"/>
                          <a:ea typeface="Inter" pitchFamily="34" charset="-122"/>
                          <a:cs typeface="Inter" pitchFamily="34" charset="-120"/>
                        </a:rPr>
                        <a:t>FY2024 labelled July to December; 60-day window</a:t>
                      </a:r>
                      <a:endParaRPr lang="en-US" sz="1300" dirty="0">
                        <a:latin typeface="Inter" charset="0"/>
                        <a:ea typeface="Inter" charset="0"/>
                        <a:cs typeface="Inter" charset="0"/>
                      </a:endParaRPr>
                    </a:p>
                  </a:txBody>
                  <a:tcPr marL="57785" marR="57785" marT="57785" marB="57785" anchor="t">
                    <a:lnL w="12700" cap="flat" cmpd="sng" algn="ctr">
                      <a:solidFill>
                        <a:srgbClr val="C5C4C8"/>
                      </a:solidFill>
                      <a:prstDash val="solid"/>
                      <a:round/>
                      <a:headEnd type="none" w="med" len="med"/>
                      <a:tailEnd type="none" w="med" len="med"/>
                    </a:lnL>
                    <a:lnR w="12700" cap="flat" cmpd="sng" algn="ctr">
                      <a:solidFill>
                        <a:srgbClr val="C5C4C8"/>
                      </a:solidFill>
                      <a:prstDash val="solid"/>
                      <a:round/>
                      <a:headEnd type="none" w="med" len="med"/>
                      <a:tailEnd type="none" w="med" len="med"/>
                    </a:lnR>
                    <a:lnT w="12700" cap="flat" cmpd="sng" algn="ctr">
                      <a:solidFill>
                        <a:srgbClr val="C5C4C8"/>
                      </a:solidFill>
                      <a:prstDash val="solid"/>
                      <a:round/>
                      <a:headEnd type="none" w="med" len="med"/>
                      <a:tailEnd type="none" w="med" len="med"/>
                    </a:lnT>
                    <a:lnB w="12700" cap="flat" cmpd="sng" algn="ctr">
                      <a:solidFill>
                        <a:srgbClr val="C5C4C8"/>
                      </a:solidFill>
                      <a:prstDash val="solid"/>
                      <a:round/>
                      <a:headEnd type="none" w="med" len="med"/>
                      <a:tailEnd type="none" w="med" len="med"/>
                    </a:lnB>
                  </a:tcPr>
                </a:tc>
              </a:tr>
              <a:tr h="359321">
                <a:tc>
                  <a:txBody>
                    <a:bodyPr/>
                    <a:lstStyle/>
                    <a:p>
                      <a:pPr indent="0" marL="0">
                        <a:lnSpc>
                          <a:spcPts val="1820"/>
                        </a:lnSpc>
                        <a:buNone/>
                      </a:pPr>
                      <a:r>
                        <a:rPr lang="en-US" sz="1300" dirty="0">
                          <a:solidFill>
                            <a:srgbClr val="21273F"/>
                          </a:solidFill>
                          <a:latin typeface="Inter" pitchFamily="34" charset="0"/>
                          <a:ea typeface="Inter" pitchFamily="34" charset="-122"/>
                          <a:cs typeface="Inter" pitchFamily="34" charset="-120"/>
                        </a:rPr>
                        <a:t>Names and phones in 4 notes; 14 blank or “see file”</a:t>
                      </a:r>
                      <a:endParaRPr lang="en-US" sz="1300" dirty="0">
                        <a:latin typeface="Inter" charset="0"/>
                        <a:ea typeface="Inter" charset="0"/>
                        <a:cs typeface="Inter" charset="0"/>
                      </a:endParaRPr>
                    </a:p>
                  </a:txBody>
                  <a:tcPr marL="57785" marR="57785" marT="57785" marB="57785" anchor="t">
                    <a:lnL w="12700" cap="flat" cmpd="sng" algn="ctr">
                      <a:solidFill>
                        <a:srgbClr val="C5C4C8"/>
                      </a:solidFill>
                      <a:prstDash val="solid"/>
                      <a:round/>
                      <a:headEnd type="none" w="med" len="med"/>
                      <a:tailEnd type="none" w="med" len="med"/>
                    </a:lnL>
                    <a:lnR w="12700" cap="flat" cmpd="sng" algn="ctr">
                      <a:solidFill>
                        <a:srgbClr val="C5C4C8"/>
                      </a:solidFill>
                      <a:prstDash val="solid"/>
                      <a:round/>
                      <a:headEnd type="none" w="med" len="med"/>
                      <a:tailEnd type="none" w="med" len="med"/>
                    </a:lnR>
                    <a:lnT w="12700" cap="flat" cmpd="sng" algn="ctr">
                      <a:solidFill>
                        <a:srgbClr val="C5C4C8"/>
                      </a:solidFill>
                      <a:prstDash val="solid"/>
                      <a:round/>
                      <a:headEnd type="none" w="med" len="med"/>
                      <a:tailEnd type="none" w="med" len="med"/>
                    </a:lnT>
                    <a:lnB w="12700" cap="flat" cmpd="sng" algn="ctr">
                      <a:solidFill>
                        <a:srgbClr val="C5C4C8"/>
                      </a:solidFill>
                      <a:prstDash val="solid"/>
                      <a:round/>
                      <a:headEnd type="none" w="med" len="med"/>
                      <a:tailEnd type="none" w="med" len="med"/>
                    </a:lnB>
                  </a:tcPr>
                </a:tc>
                <a:tc>
                  <a:txBody>
                    <a:bodyPr/>
                    <a:lstStyle/>
                    <a:p>
                      <a:pPr indent="0" marL="0">
                        <a:lnSpc>
                          <a:spcPts val="1820"/>
                        </a:lnSpc>
                        <a:buNone/>
                      </a:pPr>
                      <a:r>
                        <a:rPr lang="en-US" sz="1300" dirty="0">
                          <a:solidFill>
                            <a:srgbClr val="21273F"/>
                          </a:solidFill>
                          <a:latin typeface="Inter" pitchFamily="34" charset="0"/>
                          <a:ea typeface="Inter" pitchFamily="34" charset="-122"/>
                          <a:cs typeface="Inter" pitchFamily="34" charset="-120"/>
                        </a:rPr>
                        <a:t>Redacted before anything reads them; blanks are “no usable note”</a:t>
                      </a:r>
                      <a:endParaRPr lang="en-US" sz="1300" dirty="0">
                        <a:latin typeface="Inter" charset="0"/>
                        <a:ea typeface="Inter" charset="0"/>
                        <a:cs typeface="Inter" charset="0"/>
                      </a:endParaRPr>
                    </a:p>
                  </a:txBody>
                  <a:tcPr marL="57785" marR="57785" marT="57785" marB="57785" anchor="t">
                    <a:lnL w="12700" cap="flat" cmpd="sng" algn="ctr">
                      <a:solidFill>
                        <a:srgbClr val="C5C4C8"/>
                      </a:solidFill>
                      <a:prstDash val="solid"/>
                      <a:round/>
                      <a:headEnd type="none" w="med" len="med"/>
                      <a:tailEnd type="none" w="med" len="med"/>
                    </a:lnL>
                    <a:lnR w="12700" cap="flat" cmpd="sng" algn="ctr">
                      <a:solidFill>
                        <a:srgbClr val="C5C4C8"/>
                      </a:solidFill>
                      <a:prstDash val="solid"/>
                      <a:round/>
                      <a:headEnd type="none" w="med" len="med"/>
                      <a:tailEnd type="none" w="med" len="med"/>
                    </a:lnR>
                    <a:lnT w="12700" cap="flat" cmpd="sng" algn="ctr">
                      <a:solidFill>
                        <a:srgbClr val="C5C4C8"/>
                      </a:solidFill>
                      <a:prstDash val="solid"/>
                      <a:round/>
                      <a:headEnd type="none" w="med" len="med"/>
                      <a:tailEnd type="none" w="med" len="med"/>
                    </a:lnT>
                    <a:lnB w="12700" cap="flat" cmpd="sng" algn="ctr">
                      <a:solidFill>
                        <a:srgbClr val="C5C4C8"/>
                      </a:solidFill>
                      <a:prstDash val="solid"/>
                      <a:round/>
                      <a:headEnd type="none" w="med" len="med"/>
                      <a:tailEnd type="none" w="med" len="med"/>
                    </a:lnB>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FB"/>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30302"/>
                </a:solidFill>
                <a:latin typeface="Inter" pitchFamily="34" charset="0"/>
                <a:ea typeface="Inter" pitchFamily="34" charset="-122"/>
                <a:cs typeface="Inter" pitchFamily="34" charset="-120"/>
              </a:rPr>
              <a:t>What the director sees first</a:t>
            </a:r>
            <a:endParaRPr lang="en-US" sz="3000" dirty="0"/>
          </a:p>
        </p:txBody>
      </p:sp>
      <p:sp>
        <p:nvSpPr>
          <p:cNvPr id="3" name="Shape 1"/>
          <p:cNvSpPr/>
          <p:nvPr/>
        </p:nvSpPr>
        <p:spPr>
          <a:xfrm>
            <a:off x="815975" y="1590675"/>
            <a:ext cx="2520950" cy="1694061"/>
          </a:xfrm>
          <a:prstGeom prst="roundRect">
            <a:avLst>
              <a:gd name="adj" fmla="val 5810"/>
            </a:avLst>
          </a:prstGeom>
          <a:solidFill>
            <a:srgbClr val="FFFFFF"/>
          </a:solidFill>
          <a:ln w="6350">
            <a:solidFill>
              <a:srgbClr val="ECEAF2"/>
            </a:solidFill>
            <a:prstDash val="solid"/>
          </a:ln>
        </p:spPr>
      </p:sp>
      <p:sp>
        <p:nvSpPr>
          <p:cNvPr id="4" name="Text 2"/>
          <p:cNvSpPr/>
          <p:nvPr/>
        </p:nvSpPr>
        <p:spPr>
          <a:xfrm>
            <a:off x="1022350" y="1797050"/>
            <a:ext cx="2171446"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030302"/>
                </a:solidFill>
                <a:latin typeface="Inter" pitchFamily="34" charset="0"/>
                <a:ea typeface="Inter" pitchFamily="34" charset="-122"/>
                <a:cs typeface="Inter" pitchFamily="34" charset="-120"/>
              </a:rPr>
              <a:t>15 / 24</a:t>
            </a:r>
            <a:endParaRPr lang="en-US" sz="3600" dirty="0"/>
          </a:p>
        </p:txBody>
      </p:sp>
      <p:sp>
        <p:nvSpPr>
          <p:cNvPr id="5" name="Text 3"/>
          <p:cNvSpPr/>
          <p:nvPr/>
        </p:nvSpPr>
        <p:spPr>
          <a:xfrm>
            <a:off x="1022350" y="2363440"/>
            <a:ext cx="2171446"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21273F"/>
                </a:solidFill>
                <a:latin typeface="Inter" pitchFamily="34" charset="0"/>
                <a:ea typeface="Inter" pitchFamily="34" charset="-122"/>
                <a:cs typeface="Inter" pitchFamily="34" charset="-120"/>
              </a:rPr>
              <a:t>in the house tonight</a:t>
            </a:r>
            <a:endParaRPr lang="en-US" sz="1300" dirty="0"/>
          </a:p>
        </p:txBody>
      </p:sp>
      <p:sp>
        <p:nvSpPr>
          <p:cNvPr id="6" name="Text 4"/>
          <p:cNvSpPr/>
          <p:nvPr/>
        </p:nvSpPr>
        <p:spPr>
          <a:xfrm>
            <a:off x="1022350" y="2649786"/>
            <a:ext cx="2171446"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7E7D91"/>
                </a:solidFill>
                <a:latin typeface="Inter" pitchFamily="34" charset="0"/>
                <a:ea typeface="Inter" pitchFamily="34" charset="-122"/>
                <a:cs typeface="Inter" pitchFamily="34" charset="-120"/>
              </a:rPr>
              <a:t>9 beds open</a:t>
            </a:r>
            <a:endParaRPr lang="en-US" sz="1200" dirty="0"/>
          </a:p>
        </p:txBody>
      </p:sp>
      <p:sp>
        <p:nvSpPr>
          <p:cNvPr id="7" name="Shape 5"/>
          <p:cNvSpPr/>
          <p:nvPr/>
        </p:nvSpPr>
        <p:spPr>
          <a:xfrm>
            <a:off x="3495675" y="1590675"/>
            <a:ext cx="2520950" cy="1694061"/>
          </a:xfrm>
          <a:prstGeom prst="roundRect">
            <a:avLst>
              <a:gd name="adj" fmla="val 5810"/>
            </a:avLst>
          </a:prstGeom>
          <a:solidFill>
            <a:srgbClr val="FFFFFF"/>
          </a:solidFill>
          <a:ln w="6350">
            <a:solidFill>
              <a:srgbClr val="ECEAF2"/>
            </a:solidFill>
            <a:prstDash val="solid"/>
          </a:ln>
        </p:spPr>
      </p:sp>
      <p:sp>
        <p:nvSpPr>
          <p:cNvPr id="8" name="Text 6"/>
          <p:cNvSpPr/>
          <p:nvPr/>
        </p:nvSpPr>
        <p:spPr>
          <a:xfrm>
            <a:off x="3702050" y="1797050"/>
            <a:ext cx="2171446"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030302"/>
                </a:solidFill>
                <a:latin typeface="Inter" pitchFamily="34" charset="0"/>
                <a:ea typeface="Inter" pitchFamily="34" charset="-122"/>
                <a:cs typeface="Inter" pitchFamily="34" charset="-120"/>
              </a:rPr>
              <a:t>7</a:t>
            </a:r>
            <a:endParaRPr lang="en-US" sz="3600" dirty="0"/>
          </a:p>
        </p:txBody>
      </p:sp>
      <p:sp>
        <p:nvSpPr>
          <p:cNvPr id="9" name="Text 7"/>
          <p:cNvSpPr/>
          <p:nvPr/>
        </p:nvSpPr>
        <p:spPr>
          <a:xfrm>
            <a:off x="3702050" y="2363440"/>
            <a:ext cx="2171446"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21273F"/>
                </a:solidFill>
                <a:latin typeface="Inter" pitchFamily="34" charset="0"/>
                <a:ea typeface="Inter" pitchFamily="34" charset="-122"/>
                <a:cs typeface="Inter" pitchFamily="34" charset="-120"/>
              </a:rPr>
              <a:t>new referrals, last 60 days</a:t>
            </a:r>
            <a:endParaRPr lang="en-US" sz="1300" dirty="0"/>
          </a:p>
        </p:txBody>
      </p:sp>
      <p:sp>
        <p:nvSpPr>
          <p:cNvPr id="10" name="Text 8"/>
          <p:cNvSpPr/>
          <p:nvPr/>
        </p:nvSpPr>
        <p:spPr>
          <a:xfrm>
            <a:off x="3702050" y="2649786"/>
            <a:ext cx="2171446"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7E7D91"/>
                </a:solidFill>
                <a:latin typeface="Inter" pitchFamily="34" charset="0"/>
                <a:ea typeface="Inter" pitchFamily="34" charset="-122"/>
                <a:cs typeface="Inter" pitchFamily="34" charset="-120"/>
              </a:rPr>
              <a:t>1 waiting, 6 closed (staff notes)</a:t>
            </a:r>
            <a:endParaRPr lang="en-US" sz="1200" dirty="0"/>
          </a:p>
        </p:txBody>
      </p:sp>
      <p:sp>
        <p:nvSpPr>
          <p:cNvPr id="11" name="Shape 9"/>
          <p:cNvSpPr/>
          <p:nvPr/>
        </p:nvSpPr>
        <p:spPr>
          <a:xfrm>
            <a:off x="6175375" y="1590675"/>
            <a:ext cx="2520950" cy="1694061"/>
          </a:xfrm>
          <a:prstGeom prst="roundRect">
            <a:avLst>
              <a:gd name="adj" fmla="val 5810"/>
            </a:avLst>
          </a:prstGeom>
          <a:solidFill>
            <a:srgbClr val="FFFFFF"/>
          </a:solidFill>
          <a:ln w="6350">
            <a:solidFill>
              <a:srgbClr val="ECEAF2"/>
            </a:solidFill>
            <a:prstDash val="solid"/>
          </a:ln>
        </p:spPr>
      </p:sp>
      <p:sp>
        <p:nvSpPr>
          <p:cNvPr id="12" name="Text 10"/>
          <p:cNvSpPr/>
          <p:nvPr/>
        </p:nvSpPr>
        <p:spPr>
          <a:xfrm>
            <a:off x="6381750" y="1797050"/>
            <a:ext cx="2171446"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030302"/>
                </a:solidFill>
                <a:latin typeface="Inter" pitchFamily="34" charset="0"/>
                <a:ea typeface="Inter" pitchFamily="34" charset="-122"/>
                <a:cs typeface="Inter" pitchFamily="34" charset="-120"/>
              </a:rPr>
              <a:t>14</a:t>
            </a:r>
            <a:endParaRPr lang="en-US" sz="3600" dirty="0"/>
          </a:p>
        </p:txBody>
      </p:sp>
      <p:sp>
        <p:nvSpPr>
          <p:cNvPr id="13" name="Text 11"/>
          <p:cNvSpPr/>
          <p:nvPr/>
        </p:nvSpPr>
        <p:spPr>
          <a:xfrm>
            <a:off x="6381750" y="2363440"/>
            <a:ext cx="2171446"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21273F"/>
                </a:solidFill>
                <a:latin typeface="Inter" pitchFamily="34" charset="0"/>
                <a:ea typeface="Inter" pitchFamily="34" charset="-122"/>
                <a:cs typeface="Inter" pitchFamily="34" charset="-120"/>
              </a:rPr>
              <a:t>follow-up calls due in 30 days</a:t>
            </a:r>
            <a:endParaRPr lang="en-US" sz="1300" dirty="0"/>
          </a:p>
        </p:txBody>
      </p:sp>
      <p:sp>
        <p:nvSpPr>
          <p:cNvPr id="14" name="Text 12"/>
          <p:cNvSpPr/>
          <p:nvPr/>
        </p:nvSpPr>
        <p:spPr>
          <a:xfrm>
            <a:off x="6381750" y="2872631"/>
            <a:ext cx="2171446"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7E7D91"/>
                </a:solidFill>
                <a:latin typeface="Inter" pitchFamily="34" charset="0"/>
                <a:ea typeface="Inter" pitchFamily="34" charset="-122"/>
                <a:cs typeface="Inter" pitchFamily="34" charset="-120"/>
              </a:rPr>
              <a:t>9 at 6 months, 5 at 12</a:t>
            </a:r>
            <a:endParaRPr lang="en-US" sz="1200" dirty="0"/>
          </a:p>
        </p:txBody>
      </p:sp>
      <p:sp>
        <p:nvSpPr>
          <p:cNvPr id="15" name="Shape 13"/>
          <p:cNvSpPr/>
          <p:nvPr/>
        </p:nvSpPr>
        <p:spPr>
          <a:xfrm>
            <a:off x="8855075" y="1590675"/>
            <a:ext cx="2520950" cy="1694061"/>
          </a:xfrm>
          <a:prstGeom prst="roundRect">
            <a:avLst>
              <a:gd name="adj" fmla="val 5810"/>
            </a:avLst>
          </a:prstGeom>
          <a:solidFill>
            <a:srgbClr val="FFFFFF"/>
          </a:solidFill>
          <a:ln w="6350">
            <a:solidFill>
              <a:srgbClr val="ECEAF2"/>
            </a:solidFill>
            <a:prstDash val="solid"/>
          </a:ln>
        </p:spPr>
      </p:sp>
      <p:sp>
        <p:nvSpPr>
          <p:cNvPr id="16" name="Text 14"/>
          <p:cNvSpPr/>
          <p:nvPr/>
        </p:nvSpPr>
        <p:spPr>
          <a:xfrm>
            <a:off x="9061450" y="1797050"/>
            <a:ext cx="2171446"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030302"/>
                </a:solidFill>
                <a:latin typeface="Inter" pitchFamily="34" charset="0"/>
                <a:ea typeface="Inter" pitchFamily="34" charset="-122"/>
                <a:cs typeface="Inter" pitchFamily="34" charset="-120"/>
              </a:rPr>
              <a:t>4</a:t>
            </a:r>
            <a:endParaRPr lang="en-US" sz="3600" dirty="0"/>
          </a:p>
        </p:txBody>
      </p:sp>
      <p:sp>
        <p:nvSpPr>
          <p:cNvPr id="17" name="Text 15"/>
          <p:cNvSpPr/>
          <p:nvPr/>
        </p:nvSpPr>
        <p:spPr>
          <a:xfrm>
            <a:off x="9061450" y="2363440"/>
            <a:ext cx="2171446"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21273F"/>
                </a:solidFill>
                <a:latin typeface="Inter" pitchFamily="34" charset="0"/>
                <a:ea typeface="Inter" pitchFamily="34" charset="-122"/>
                <a:cs typeface="Inter" pitchFamily="34" charset="-120"/>
              </a:rPr>
              <a:t>follow-ups not recorded</a:t>
            </a:r>
            <a:endParaRPr lang="en-US" sz="1300" dirty="0"/>
          </a:p>
        </p:txBody>
      </p:sp>
      <p:sp>
        <p:nvSpPr>
          <p:cNvPr id="18" name="Text 16"/>
          <p:cNvSpPr/>
          <p:nvPr/>
        </p:nvSpPr>
        <p:spPr>
          <a:xfrm>
            <a:off x="9061450" y="2649786"/>
            <a:ext cx="2171446"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7E7D91"/>
                </a:solidFill>
                <a:latin typeface="Inter" pitchFamily="34" charset="0"/>
                <a:ea typeface="Inter" pitchFamily="34" charset="-122"/>
                <a:cs typeface="Inter" pitchFamily="34" charset="-120"/>
              </a:rPr>
              <a:t>date passed, no result</a:t>
            </a:r>
            <a:endParaRPr lang="en-US" sz="1200" dirty="0"/>
          </a:p>
        </p:txBody>
      </p:sp>
      <p:sp>
        <p:nvSpPr>
          <p:cNvPr id="19" name="Text 17"/>
          <p:cNvSpPr/>
          <p:nvPr/>
        </p:nvSpPr>
        <p:spPr>
          <a:xfrm>
            <a:off x="812800" y="3643511"/>
            <a:ext cx="334873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30302"/>
                </a:solidFill>
                <a:latin typeface="Inter" pitchFamily="34" charset="0"/>
                <a:ea typeface="Inter" pitchFamily="34" charset="-122"/>
                <a:cs typeface="Inter" pitchFamily="34" charset="-120"/>
              </a:rPr>
              <a:t>Neutral facts</a:t>
            </a:r>
            <a:endParaRPr lang="en-US" sz="1600" dirty="0"/>
          </a:p>
        </p:txBody>
      </p:sp>
      <p:sp>
        <p:nvSpPr>
          <p:cNvPr id="20" name="Text 18"/>
          <p:cNvSpPr/>
          <p:nvPr/>
        </p:nvSpPr>
        <p:spPr>
          <a:xfrm>
            <a:off x="812800" y="3950841"/>
            <a:ext cx="3348736" cy="74349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54586B"/>
                </a:solidFill>
                <a:latin typeface="Inter" pitchFamily="34" charset="0"/>
                <a:ea typeface="Inter" pitchFamily="34" charset="-122"/>
                <a:cs typeface="Inter" pitchFamily="34" charset="-120"/>
              </a:rPr>
              <a:t>Open beds aren’t a warning. Red appears only for a real breach in recorded data: more residents than beds.</a:t>
            </a:r>
            <a:endParaRPr lang="en-US" sz="1300" dirty="0"/>
          </a:p>
        </p:txBody>
      </p:sp>
      <p:sp>
        <p:nvSpPr>
          <p:cNvPr id="21" name="Text 19"/>
          <p:cNvSpPr/>
          <p:nvPr/>
        </p:nvSpPr>
        <p:spPr>
          <a:xfrm>
            <a:off x="4470400" y="3643511"/>
            <a:ext cx="334873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30302"/>
                </a:solidFill>
                <a:latin typeface="Inter" pitchFamily="34" charset="0"/>
                <a:ea typeface="Inter" pitchFamily="34" charset="-122"/>
                <a:cs typeface="Inter" pitchFamily="34" charset="-120"/>
              </a:rPr>
              <a:t>Recorded first, notes underneath</a:t>
            </a:r>
            <a:endParaRPr lang="en-US" sz="1600" dirty="0"/>
          </a:p>
        </p:txBody>
      </p:sp>
      <p:sp>
        <p:nvSpPr>
          <p:cNvPr id="22" name="Text 20"/>
          <p:cNvSpPr/>
          <p:nvPr/>
        </p:nvSpPr>
        <p:spPr>
          <a:xfrm>
            <a:off x="4470400" y="3950841"/>
            <a:ext cx="3348736"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54586B"/>
                </a:solidFill>
                <a:latin typeface="Inter" pitchFamily="34" charset="0"/>
                <a:ea typeface="Inter" pitchFamily="34" charset="-122"/>
                <a:cs typeface="Inter" pitchFamily="34" charset="-120"/>
              </a:rPr>
              <a:t>Every headline is a recorded field. The notes only explain it, labelled as AI-assisted.</a:t>
            </a:r>
            <a:endParaRPr lang="en-US" sz="1300" dirty="0"/>
          </a:p>
        </p:txBody>
      </p:sp>
      <p:sp>
        <p:nvSpPr>
          <p:cNvPr id="23" name="Text 21"/>
          <p:cNvSpPr/>
          <p:nvPr/>
        </p:nvSpPr>
        <p:spPr>
          <a:xfrm>
            <a:off x="8128000" y="3643511"/>
            <a:ext cx="334873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30302"/>
                </a:solidFill>
                <a:latin typeface="Inter" pitchFamily="34" charset="0"/>
                <a:ea typeface="Inter" pitchFamily="34" charset="-122"/>
                <a:cs typeface="Inter" pitchFamily="34" charset="-120"/>
              </a:rPr>
              <a:t>One view, one export</a:t>
            </a:r>
            <a:endParaRPr lang="en-US" sz="1600" dirty="0"/>
          </a:p>
        </p:txBody>
      </p:sp>
      <p:sp>
        <p:nvSpPr>
          <p:cNvPr id="24" name="Text 22"/>
          <p:cNvSpPr/>
          <p:nvPr/>
        </p:nvSpPr>
        <p:spPr>
          <a:xfrm>
            <a:off x="8128000" y="3950841"/>
            <a:ext cx="3348736"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54586B"/>
                </a:solidFill>
                <a:latin typeface="Inter" pitchFamily="34" charset="0"/>
                <a:ea typeface="Inter" pitchFamily="34" charset="-122"/>
                <a:cs typeface="Inter" pitchFamily="34" charset="-120"/>
              </a:rPr>
              <a:t>Director and funders share the view. The export hides counts from 1 to 4.</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FB"/>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30302"/>
                </a:solidFill>
                <a:latin typeface="Inter" pitchFamily="34" charset="0"/>
                <a:ea typeface="Inter" pitchFamily="34" charset="-122"/>
                <a:cs typeface="Inter" pitchFamily="34" charset="-120"/>
              </a:rPr>
              <a:t>Referral to admission: 56%, counted fairly</a:t>
            </a:r>
            <a:endParaRPr lang="en-US" sz="3000" dirty="0"/>
          </a:p>
        </p:txBody>
      </p:sp>
      <p:sp>
        <p:nvSpPr>
          <p:cNvPr id="3" name="Text 1"/>
          <p:cNvSpPr/>
          <p:nvPr/>
        </p:nvSpPr>
        <p:spPr>
          <a:xfrm>
            <a:off x="812800" y="1675110"/>
            <a:ext cx="100330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4586B"/>
                </a:solidFill>
                <a:latin typeface="Inter" pitchFamily="34" charset="0"/>
                <a:ea typeface="Inter" pitchFamily="34" charset="-122"/>
                <a:cs typeface="Inter" pitchFamily="34" charset="-120"/>
              </a:rPr>
              <a:t>Referred</a:t>
            </a:r>
            <a:endParaRPr lang="en-US" sz="1300" dirty="0"/>
          </a:p>
        </p:txBody>
      </p:sp>
      <p:sp>
        <p:nvSpPr>
          <p:cNvPr id="4" name="Text 2"/>
          <p:cNvSpPr/>
          <p:nvPr/>
        </p:nvSpPr>
        <p:spPr>
          <a:xfrm>
            <a:off x="1917700" y="1587500"/>
            <a:ext cx="5207000" cy="406400"/>
          </a:xfrm>
          <a:prstGeom prst="roundRect">
            <a:avLst>
              <a:gd name="adj" fmla="val 15625"/>
            </a:avLst>
          </a:prstGeom>
          <a:solidFill>
            <a:srgbClr val="2A78D6"/>
          </a:solidFill>
          <a:ln/>
        </p:spPr>
        <p:txBody>
          <a:bodyPr wrap="square" lIns="133801" tIns="0" rIns="133801" bIns="0" rtlCol="0" anchor="ctr">
            <a:normAutofit/>
          </a:bodyPr>
          <a:lstStyle/>
          <a:p>
            <a:pPr algn="l" indent="0" marL="0">
              <a:lnSpc>
                <a:spcPts val="2100"/>
              </a:lnSpc>
              <a:buNone/>
            </a:pPr>
            <a:r>
              <a:rPr lang="en-US" sz="1500" b="1" dirty="0">
                <a:solidFill>
                  <a:srgbClr val="FFFFFF"/>
                </a:solidFill>
                <a:latin typeface="Inter" pitchFamily="34" charset="0"/>
                <a:ea typeface="Inter" pitchFamily="34" charset="-122"/>
                <a:cs typeface="Inter" pitchFamily="34" charset="-120"/>
              </a:rPr>
              <a:t>129</a:t>
            </a:r>
            <a:endParaRPr lang="en-US" sz="1500" dirty="0"/>
          </a:p>
        </p:txBody>
      </p:sp>
      <p:sp>
        <p:nvSpPr>
          <p:cNvPr id="5" name="Text 3"/>
          <p:cNvSpPr/>
          <p:nvPr/>
        </p:nvSpPr>
        <p:spPr>
          <a:xfrm>
            <a:off x="1917700" y="2095500"/>
            <a:ext cx="1806277" cy="289520"/>
          </a:xfrm>
          <a:custGeom>
            <a:avLst/>
            <a:gdLst/>
            <a:ahLst/>
            <a:cxnLst/>
            <a:rect l="l" t="t" r="r" b="b"/>
            <a:pathLst>
              <a:path w="1806277" h="289520">
                <a:moveTo>
                  <a:pt x="144760" y="0"/>
                </a:moveTo>
                <a:lnTo>
                  <a:pt x="1661517" y="0"/>
                </a:lnTo>
                <a:arcTo hR="144760" wR="144760" stAng="16200000" swAng="5400000"/>
                <a:lnTo>
                  <a:pt x="1806277" y="144760"/>
                </a:lnTo>
                <a:arcTo hR="144760" wR="144760" stAng="0" swAng="5400000"/>
                <a:lnTo>
                  <a:pt x="144760" y="289520"/>
                </a:lnTo>
                <a:arcTo hR="144760" wR="144760" stAng="5400000" swAng="5400000"/>
                <a:lnTo>
                  <a:pt x="0" y="144760"/>
                </a:lnTo>
                <a:arcTo hR="144760" wR="144760" stAng="10800000" swAng="5400000"/>
                <a:close/>
              </a:path>
            </a:pathLst>
          </a:custGeom>
          <a:solidFill>
            <a:srgbClr val="EEF4FC"/>
          </a:solidFill>
          <a:ln/>
        </p:spPr>
        <p:txBody>
          <a:bodyPr wrap="none" lIns="0" tIns="0" rIns="0" bIns="0" rtlCol="0" anchor="ctr">
            <a:normAutofit/>
          </a:bodyPr>
          <a:lstStyle/>
          <a:p>
            <a:pPr algn="ctr" indent="0" marL="0">
              <a:lnSpc>
                <a:spcPts val="1680"/>
              </a:lnSpc>
              <a:buNone/>
            </a:pPr>
            <a:r>
              <a:rPr lang="en-US" sz="1200" dirty="0">
                <a:solidFill>
                  <a:srgbClr val="1C5CAB"/>
                </a:solidFill>
                <a:latin typeface="Inter" pitchFamily="34" charset="0"/>
                <a:ea typeface="Inter" pitchFamily="34" charset="-122"/>
                <a:cs typeface="Inter" pitchFamily="34" charset="-120"/>
              </a:rPr>
              <a:t>median 6 days, P90 18</a:t>
            </a:r>
            <a:endParaRPr lang="en-US" sz="1200" dirty="0"/>
          </a:p>
        </p:txBody>
      </p:sp>
      <p:sp>
        <p:nvSpPr>
          <p:cNvPr id="6" name="Text 4"/>
          <p:cNvSpPr/>
          <p:nvPr/>
        </p:nvSpPr>
        <p:spPr>
          <a:xfrm>
            <a:off x="812800" y="2574230"/>
            <a:ext cx="100330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4586B"/>
                </a:solidFill>
                <a:latin typeface="Inter" pitchFamily="34" charset="0"/>
                <a:ea typeface="Inter" pitchFamily="34" charset="-122"/>
                <a:cs typeface="Inter" pitchFamily="34" charset="-120"/>
              </a:rPr>
              <a:t>Intake</a:t>
            </a:r>
            <a:endParaRPr lang="en-US" sz="1300" dirty="0"/>
          </a:p>
        </p:txBody>
      </p:sp>
      <p:sp>
        <p:nvSpPr>
          <p:cNvPr id="7" name="Text 5"/>
          <p:cNvSpPr/>
          <p:nvPr/>
        </p:nvSpPr>
        <p:spPr>
          <a:xfrm>
            <a:off x="1917700" y="2486620"/>
            <a:ext cx="4165600" cy="406400"/>
          </a:xfrm>
          <a:prstGeom prst="roundRect">
            <a:avLst>
              <a:gd name="adj" fmla="val 15625"/>
            </a:avLst>
          </a:prstGeom>
          <a:solidFill>
            <a:srgbClr val="2A78D6"/>
          </a:solidFill>
          <a:ln/>
        </p:spPr>
        <p:txBody>
          <a:bodyPr wrap="square" lIns="133801" tIns="0" rIns="133801" bIns="0" rtlCol="0" anchor="ctr">
            <a:normAutofit/>
          </a:bodyPr>
          <a:lstStyle/>
          <a:p>
            <a:pPr algn="l" indent="0" marL="0">
              <a:lnSpc>
                <a:spcPts val="2100"/>
              </a:lnSpc>
              <a:buNone/>
            </a:pPr>
            <a:r>
              <a:rPr lang="en-US" sz="1500" b="1" dirty="0">
                <a:solidFill>
                  <a:srgbClr val="FFFFFF"/>
                </a:solidFill>
                <a:latin typeface="Inter" pitchFamily="34" charset="0"/>
                <a:ea typeface="Inter" pitchFamily="34" charset="-122"/>
                <a:cs typeface="Inter" pitchFamily="34" charset="-120"/>
              </a:rPr>
              <a:t>103 (80%)</a:t>
            </a:r>
            <a:endParaRPr lang="en-US" sz="1500" dirty="0"/>
          </a:p>
        </p:txBody>
      </p:sp>
      <p:sp>
        <p:nvSpPr>
          <p:cNvPr id="8" name="Text 6"/>
          <p:cNvSpPr/>
          <p:nvPr/>
        </p:nvSpPr>
        <p:spPr>
          <a:xfrm>
            <a:off x="1917700" y="2994620"/>
            <a:ext cx="1898551" cy="289520"/>
          </a:xfrm>
          <a:custGeom>
            <a:avLst/>
            <a:gdLst/>
            <a:ahLst/>
            <a:cxnLst/>
            <a:rect l="l" t="t" r="r" b="b"/>
            <a:pathLst>
              <a:path w="1898551" h="289520">
                <a:moveTo>
                  <a:pt x="144760" y="0"/>
                </a:moveTo>
                <a:lnTo>
                  <a:pt x="1753791" y="0"/>
                </a:lnTo>
                <a:arcTo hR="144760" wR="144760" stAng="16200000" swAng="5400000"/>
                <a:lnTo>
                  <a:pt x="1898551" y="144760"/>
                </a:lnTo>
                <a:arcTo hR="144760" wR="144760" stAng="0" swAng="5400000"/>
                <a:lnTo>
                  <a:pt x="144760" y="289520"/>
                </a:lnTo>
                <a:arcTo hR="144760" wR="144760" stAng="5400000" swAng="5400000"/>
                <a:lnTo>
                  <a:pt x="0" y="144760"/>
                </a:lnTo>
                <a:arcTo hR="144760" wR="144760" stAng="10800000" swAng="5400000"/>
                <a:close/>
              </a:path>
            </a:pathLst>
          </a:custGeom>
          <a:solidFill>
            <a:srgbClr val="EEF4FC"/>
          </a:solidFill>
          <a:ln/>
        </p:spPr>
        <p:txBody>
          <a:bodyPr wrap="none" lIns="0" tIns="0" rIns="0" bIns="0" rtlCol="0" anchor="ctr">
            <a:normAutofit/>
          </a:bodyPr>
          <a:lstStyle/>
          <a:p>
            <a:pPr algn="ctr" indent="0" marL="0">
              <a:lnSpc>
                <a:spcPts val="1680"/>
              </a:lnSpc>
              <a:buNone/>
            </a:pPr>
            <a:r>
              <a:rPr lang="en-US" sz="1200" dirty="0">
                <a:solidFill>
                  <a:srgbClr val="1C5CAB"/>
                </a:solidFill>
                <a:latin typeface="Inter" pitchFamily="34" charset="0"/>
                <a:ea typeface="Inter" pitchFamily="34" charset="-122"/>
                <a:cs typeface="Inter" pitchFamily="34" charset="-120"/>
              </a:rPr>
              <a:t>median 10 days, P90 26</a:t>
            </a:r>
            <a:endParaRPr lang="en-US" sz="1200" dirty="0"/>
          </a:p>
        </p:txBody>
      </p:sp>
      <p:sp>
        <p:nvSpPr>
          <p:cNvPr id="9" name="Text 7"/>
          <p:cNvSpPr/>
          <p:nvPr/>
        </p:nvSpPr>
        <p:spPr>
          <a:xfrm>
            <a:off x="812800" y="3473351"/>
            <a:ext cx="100330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4586B"/>
                </a:solidFill>
                <a:latin typeface="Inter" pitchFamily="34" charset="0"/>
                <a:ea typeface="Inter" pitchFamily="34" charset="-122"/>
                <a:cs typeface="Inter" pitchFamily="34" charset="-120"/>
              </a:rPr>
              <a:t>Admitted</a:t>
            </a:r>
            <a:endParaRPr lang="en-US" sz="1300" dirty="0"/>
          </a:p>
        </p:txBody>
      </p:sp>
      <p:sp>
        <p:nvSpPr>
          <p:cNvPr id="10" name="Text 8"/>
          <p:cNvSpPr/>
          <p:nvPr/>
        </p:nvSpPr>
        <p:spPr>
          <a:xfrm>
            <a:off x="1917700" y="3385741"/>
            <a:ext cx="2914650" cy="406400"/>
          </a:xfrm>
          <a:prstGeom prst="roundRect">
            <a:avLst>
              <a:gd name="adj" fmla="val 15625"/>
            </a:avLst>
          </a:prstGeom>
          <a:solidFill>
            <a:srgbClr val="2A78D6"/>
          </a:solidFill>
          <a:ln/>
        </p:spPr>
        <p:txBody>
          <a:bodyPr wrap="square" lIns="133801" tIns="0" rIns="133801" bIns="0" rtlCol="0" anchor="ctr">
            <a:normAutofit/>
          </a:bodyPr>
          <a:lstStyle/>
          <a:p>
            <a:pPr algn="l" indent="0" marL="0">
              <a:lnSpc>
                <a:spcPts val="2100"/>
              </a:lnSpc>
              <a:buNone/>
            </a:pPr>
            <a:r>
              <a:rPr lang="en-US" sz="1500" b="1" dirty="0">
                <a:solidFill>
                  <a:srgbClr val="FFFFFF"/>
                </a:solidFill>
                <a:latin typeface="Inter" pitchFamily="34" charset="0"/>
                <a:ea typeface="Inter" pitchFamily="34" charset="-122"/>
                <a:cs typeface="Inter" pitchFamily="34" charset="-120"/>
              </a:rPr>
              <a:t>72 (56%)</a:t>
            </a:r>
            <a:endParaRPr lang="en-US" sz="1500" dirty="0"/>
          </a:p>
        </p:txBody>
      </p:sp>
      <p:sp>
        <p:nvSpPr>
          <p:cNvPr id="11" name="Text 9"/>
          <p:cNvSpPr/>
          <p:nvPr/>
        </p:nvSpPr>
        <p:spPr>
          <a:xfrm>
            <a:off x="7670800" y="1587500"/>
            <a:ext cx="3819652"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30302"/>
                </a:solidFill>
                <a:latin typeface="Inter" pitchFamily="34" charset="0"/>
                <a:ea typeface="Inter" pitchFamily="34" charset="-122"/>
                <a:cs typeface="Inter" pitchFamily="34" charset="-120"/>
              </a:rPr>
              <a:t>Only referrals with time to progress</a:t>
            </a:r>
            <a:endParaRPr lang="en-US" sz="1600" dirty="0"/>
          </a:p>
        </p:txBody>
      </p:sp>
      <p:sp>
        <p:nvSpPr>
          <p:cNvPr id="12" name="Text 10"/>
          <p:cNvSpPr/>
          <p:nvPr/>
        </p:nvSpPr>
        <p:spPr>
          <a:xfrm>
            <a:off x="7670800" y="1894830"/>
            <a:ext cx="3819652"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54586B"/>
                </a:solidFill>
                <a:latin typeface="Inter" pitchFamily="34" charset="0"/>
                <a:ea typeface="Inter" pitchFamily="34" charset="-122"/>
                <a:cs typeface="Inter" pitchFamily="34" charset="-120"/>
              </a:rPr>
              <a:t>Made by 16 Nov 2025, so each had 60 days. The 12 later ones aren’t counted as failures.</a:t>
            </a:r>
            <a:endParaRPr lang="en-US" sz="1300" dirty="0"/>
          </a:p>
        </p:txBody>
      </p:sp>
      <p:sp>
        <p:nvSpPr>
          <p:cNvPr id="13" name="Text 11"/>
          <p:cNvSpPr/>
          <p:nvPr/>
        </p:nvSpPr>
        <p:spPr>
          <a:xfrm>
            <a:off x="7670800" y="2602161"/>
            <a:ext cx="3819652"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30302"/>
                </a:solidFill>
                <a:latin typeface="Inter" pitchFamily="34" charset="0"/>
                <a:ea typeface="Inter" pitchFamily="34" charset="-122"/>
                <a:cs typeface="Inter" pitchFamily="34" charset="-120"/>
              </a:rPr>
              <a:t>Times among people who moved on</a:t>
            </a:r>
            <a:endParaRPr lang="en-US" sz="1600" dirty="0"/>
          </a:p>
        </p:txBody>
      </p:sp>
      <p:sp>
        <p:nvSpPr>
          <p:cNvPr id="14" name="Text 12"/>
          <p:cNvSpPr/>
          <p:nvPr/>
        </p:nvSpPr>
        <p:spPr>
          <a:xfrm>
            <a:off x="7670800" y="2909491"/>
            <a:ext cx="3819652" cy="26476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54586B"/>
                </a:solidFill>
                <a:latin typeface="Inter" pitchFamily="34" charset="0"/>
                <a:ea typeface="Inter" pitchFamily="34" charset="-122"/>
                <a:cs typeface="Inter" pitchFamily="34" charset="-120"/>
              </a:rPr>
              <a:t>Referral to admission: median 17 days, P90 48.</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FB"/>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30302"/>
                </a:solidFill>
                <a:latin typeface="Inter" pitchFamily="34" charset="0"/>
                <a:ea typeface="Inter" pitchFamily="34" charset="-122"/>
                <a:cs typeface="Inter" pitchFamily="34" charset="-120"/>
              </a:rPr>
              <a:t>Occupancy and length of stay</a:t>
            </a:r>
            <a:endParaRPr lang="en-US" sz="3000" dirty="0"/>
          </a:p>
        </p:txBody>
      </p:sp>
      <p:sp>
        <p:nvSpPr>
          <p:cNvPr id="3" name="Text 1"/>
          <p:cNvSpPr/>
          <p:nvPr/>
        </p:nvSpPr>
        <p:spPr>
          <a:xfrm>
            <a:off x="812800" y="1485900"/>
            <a:ext cx="2024182"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446A3F"/>
                </a:solidFill>
                <a:latin typeface="Inter" pitchFamily="34" charset="0"/>
                <a:ea typeface="Inter" pitchFamily="34" charset="-122"/>
                <a:cs typeface="Inter" pitchFamily="34" charset="-120"/>
              </a:rPr>
              <a:t>BEDS FILLED, FY2025</a:t>
            </a:r>
            <a:endParaRPr lang="en-US" sz="1200" dirty="0"/>
          </a:p>
        </p:txBody>
      </p:sp>
      <p:sp>
        <p:nvSpPr>
          <p:cNvPr id="4" name="Text 2"/>
          <p:cNvSpPr/>
          <p:nvPr/>
        </p:nvSpPr>
        <p:spPr>
          <a:xfrm>
            <a:off x="812800" y="1737320"/>
            <a:ext cx="1737618"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030302"/>
                </a:solidFill>
                <a:latin typeface="Inter" pitchFamily="34" charset="0"/>
                <a:ea typeface="Inter" pitchFamily="34" charset="-122"/>
                <a:cs typeface="Inter" pitchFamily="34" charset="-120"/>
              </a:rPr>
              <a:t>90%</a:t>
            </a:r>
            <a:endParaRPr lang="en-US" sz="4800" dirty="0"/>
          </a:p>
        </p:txBody>
      </p:sp>
      <p:sp>
        <p:nvSpPr>
          <p:cNvPr id="5" name="Text 3"/>
          <p:cNvSpPr/>
          <p:nvPr/>
        </p:nvSpPr>
        <p:spPr>
          <a:xfrm>
            <a:off x="2906018" y="1485900"/>
            <a:ext cx="2238333"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446A3F"/>
                </a:solidFill>
                <a:latin typeface="Inter" pitchFamily="34" charset="0"/>
                <a:ea typeface="Inter" pitchFamily="34" charset="-122"/>
                <a:cs typeface="Inter" pitchFamily="34" charset="-120"/>
              </a:rPr>
              <a:t>TYPICAL STAY</a:t>
            </a:r>
            <a:endParaRPr lang="en-US" sz="1200" dirty="0"/>
          </a:p>
        </p:txBody>
      </p:sp>
      <p:sp>
        <p:nvSpPr>
          <p:cNvPr id="6" name="Text 4"/>
          <p:cNvSpPr/>
          <p:nvPr/>
        </p:nvSpPr>
        <p:spPr>
          <a:xfrm>
            <a:off x="2906018" y="1737320"/>
            <a:ext cx="2579539"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030302"/>
                </a:solidFill>
                <a:latin typeface="Inter" pitchFamily="34" charset="0"/>
                <a:ea typeface="Inter" pitchFamily="34" charset="-122"/>
                <a:cs typeface="Inter" pitchFamily="34" charset="-120"/>
              </a:rPr>
              <a:t>95 days</a:t>
            </a:r>
            <a:endParaRPr lang="en-US" sz="4800" dirty="0"/>
          </a:p>
        </p:txBody>
      </p:sp>
      <p:sp>
        <p:nvSpPr>
          <p:cNvPr id="7" name="Text 5"/>
          <p:cNvSpPr/>
          <p:nvPr/>
        </p:nvSpPr>
        <p:spPr>
          <a:xfrm>
            <a:off x="5485557" y="1868190"/>
            <a:ext cx="6070453"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54586B"/>
                </a:solidFill>
                <a:latin typeface="Inter" pitchFamily="34" charset="0"/>
                <a:ea typeface="Inter" pitchFamily="34" charset="-122"/>
                <a:cs typeface="Inter" pitchFamily="34" charset="-120"/>
              </a:rPr>
              <a:t>Counting the 14 still in the house. Finished stays alone say 86. Completers stay 128 days, early leavers 46.</a:t>
            </a:r>
            <a:endParaRPr lang="en-US" sz="1300" dirty="0"/>
          </a:p>
        </p:txBody>
      </p:sp>
      <p:sp>
        <p:nvSpPr>
          <p:cNvPr id="8" name="Shape 6"/>
          <p:cNvSpPr/>
          <p:nvPr/>
        </p:nvSpPr>
        <p:spPr>
          <a:xfrm>
            <a:off x="812800" y="2600920"/>
            <a:ext cx="10566400" cy="2679700"/>
          </a:xfrm>
          <a:prstGeom prst="roundRect">
            <a:avLst>
              <a:gd name="adj" fmla="val 3791"/>
            </a:avLst>
          </a:prstGeom>
          <a:solidFill>
            <a:srgbClr val="FFFFFF"/>
          </a:solidFill>
          <a:ln/>
        </p:spPr>
      </p:sp>
      <p:pic>
        <p:nvPicPr>
          <p:cNvPr id="9" name="Image 0" descr="Monthly occupancy in FY2025, from about 84% in January to 99% in April and October, with a low of 77% in August; the axis starts at 60%">    </p:cNvPr>
          <p:cNvPicPr>
            <a:picLocks noChangeAspect="1"/>
          </p:cNvPicPr>
          <p:nvPr/>
        </p:nvPicPr>
        <p:blipFill>
          <a:blip r:embed="rId1"/>
          <a:srcRect l="0" r="0" t="-54" b="-54"/>
          <a:stretch/>
        </p:blipFill>
        <p:spPr>
          <a:xfrm>
            <a:off x="812800" y="2600920"/>
            <a:ext cx="10566400" cy="2679700"/>
          </a:xfrm>
          <a:prstGeom prst="roundRect">
            <a:avLst>
              <a:gd name="adj" fmla="val 3791"/>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FB"/>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30302"/>
                </a:solidFill>
                <a:latin typeface="Inter" pitchFamily="34" charset="0"/>
                <a:ea typeface="Inter" pitchFamily="34" charset="-122"/>
                <a:cs typeface="Inter" pitchFamily="34" charset="-120"/>
              </a:rPr>
              <a:t>Completing is not the same as leaving</a:t>
            </a:r>
            <a:endParaRPr lang="en-US" sz="3000" dirty="0"/>
          </a:p>
        </p:txBody>
      </p:sp>
      <p:sp>
        <p:nvSpPr>
          <p:cNvPr id="3" name="Text 1"/>
          <p:cNvSpPr/>
          <p:nvPr/>
        </p:nvSpPr>
        <p:spPr>
          <a:xfrm>
            <a:off x="812800" y="15113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446A3F"/>
                </a:solidFill>
                <a:latin typeface="Inter" pitchFamily="34" charset="0"/>
                <a:ea typeface="Inter" pitchFamily="34" charset="-122"/>
                <a:cs typeface="Inter" pitchFamily="34" charset="-120"/>
              </a:rPr>
              <a:t>HOW STAYS ENDED, PEOPLE ADMITTED IN FY2025</a:t>
            </a:r>
            <a:endParaRPr lang="en-US" sz="1200" dirty="0"/>
          </a:p>
        </p:txBody>
      </p:sp>
      <p:sp>
        <p:nvSpPr>
          <p:cNvPr id="4" name="Text 2"/>
          <p:cNvSpPr/>
          <p:nvPr/>
        </p:nvSpPr>
        <p:spPr>
          <a:xfrm>
            <a:off x="812800" y="1851620"/>
            <a:ext cx="3727450" cy="406400"/>
          </a:xfrm>
          <a:custGeom>
            <a:avLst/>
            <a:gdLst/>
            <a:ahLst/>
            <a:cxnLst/>
            <a:rect l="l" t="t" r="r" b="b"/>
            <a:pathLst>
              <a:path w="3727450" h="406400">
                <a:moveTo>
                  <a:pt x="63500" y="0"/>
                </a:moveTo>
                <a:lnTo>
                  <a:pt x="3727450" y="0"/>
                </a:lnTo>
                <a:lnTo>
                  <a:pt x="3727450" y="406400"/>
                </a:lnTo>
                <a:lnTo>
                  <a:pt x="63500" y="406400"/>
                </a:lnTo>
                <a:arcTo hR="63500" wR="63500" stAng="5400000" swAng="5400000"/>
                <a:lnTo>
                  <a:pt x="0" y="63500"/>
                </a:lnTo>
                <a:arcTo hR="63500" wR="63500" stAng="10800000" swAng="5400000"/>
                <a:close/>
              </a:path>
            </a:pathLst>
          </a:custGeom>
          <a:solidFill>
            <a:srgbClr val="578550"/>
          </a:solidFill>
          <a:ln/>
        </p:spPr>
        <p:txBody>
          <a:bodyPr wrap="square" lIns="0" tIns="0" rIns="0" bIns="0" rtlCol="0" anchor="ctr">
            <a:normAutofit/>
          </a:bodyPr>
          <a:lstStyle/>
          <a:p>
            <a:pPr algn="ctr" indent="0" marL="0">
              <a:lnSpc>
                <a:spcPts val="1960"/>
              </a:lnSpc>
              <a:buNone/>
            </a:pPr>
            <a:r>
              <a:rPr lang="en-US" sz="1400" b="1" dirty="0">
                <a:solidFill>
                  <a:srgbClr val="FFFFFF"/>
                </a:solidFill>
                <a:latin typeface="Inter" pitchFamily="34" charset="0"/>
                <a:ea typeface="Inter" pitchFamily="34" charset="-122"/>
                <a:cs typeface="Inter" pitchFamily="34" charset="-120"/>
              </a:rPr>
              <a:t>29</a:t>
            </a:r>
            <a:endParaRPr lang="en-US" sz="1400" dirty="0"/>
          </a:p>
        </p:txBody>
      </p:sp>
      <p:sp>
        <p:nvSpPr>
          <p:cNvPr id="5" name="Text 3"/>
          <p:cNvSpPr/>
          <p:nvPr/>
        </p:nvSpPr>
        <p:spPr>
          <a:xfrm>
            <a:off x="4565650" y="1851620"/>
            <a:ext cx="641350" cy="406400"/>
          </a:xfrm>
          <a:prstGeom prst="rect">
            <a:avLst/>
          </a:prstGeom>
          <a:solidFill>
            <a:srgbClr val="2A78D6"/>
          </a:solidFill>
          <a:ln/>
        </p:spPr>
        <p:txBody>
          <a:bodyPr wrap="square" lIns="0" tIns="0" rIns="0" bIns="0" rtlCol="0" anchor="ctr">
            <a:normAutofit/>
          </a:bodyPr>
          <a:lstStyle/>
          <a:p>
            <a:pPr algn="ctr" indent="0" marL="0">
              <a:lnSpc>
                <a:spcPts val="1960"/>
              </a:lnSpc>
              <a:buNone/>
            </a:pPr>
            <a:r>
              <a:rPr lang="en-US" sz="1400" b="1" dirty="0">
                <a:solidFill>
                  <a:srgbClr val="FFFFFF"/>
                </a:solidFill>
                <a:latin typeface="Inter" pitchFamily="34" charset="0"/>
                <a:ea typeface="Inter" pitchFamily="34" charset="-122"/>
                <a:cs typeface="Inter" pitchFamily="34" charset="-120"/>
              </a:rPr>
              <a:t>5</a:t>
            </a:r>
            <a:endParaRPr lang="en-US" sz="1400" dirty="0"/>
          </a:p>
        </p:txBody>
      </p:sp>
      <p:sp>
        <p:nvSpPr>
          <p:cNvPr id="6" name="Text 4"/>
          <p:cNvSpPr/>
          <p:nvPr/>
        </p:nvSpPr>
        <p:spPr>
          <a:xfrm>
            <a:off x="5232400" y="1851620"/>
            <a:ext cx="3086100" cy="406400"/>
          </a:xfrm>
          <a:prstGeom prst="rect">
            <a:avLst/>
          </a:prstGeom>
          <a:solidFill>
            <a:srgbClr val="EB6834"/>
          </a:solidFill>
          <a:ln/>
        </p:spPr>
        <p:txBody>
          <a:bodyPr wrap="square" lIns="0" tIns="0" rIns="0" bIns="0" rtlCol="0" anchor="ctr">
            <a:normAutofit/>
          </a:bodyPr>
          <a:lstStyle/>
          <a:p>
            <a:pPr algn="ctr" indent="0" marL="0">
              <a:lnSpc>
                <a:spcPts val="1960"/>
              </a:lnSpc>
              <a:buNone/>
            </a:pPr>
            <a:r>
              <a:rPr lang="en-US" sz="1400" b="1" dirty="0">
                <a:solidFill>
                  <a:srgbClr val="030302"/>
                </a:solidFill>
                <a:latin typeface="Inter" pitchFamily="34" charset="0"/>
                <a:ea typeface="Inter" pitchFamily="34" charset="-122"/>
                <a:cs typeface="Inter" pitchFamily="34" charset="-120"/>
              </a:rPr>
              <a:t>24</a:t>
            </a:r>
            <a:endParaRPr lang="en-US" sz="1400" dirty="0"/>
          </a:p>
        </p:txBody>
      </p:sp>
      <p:sp>
        <p:nvSpPr>
          <p:cNvPr id="7" name="Text 5"/>
          <p:cNvSpPr/>
          <p:nvPr/>
        </p:nvSpPr>
        <p:spPr>
          <a:xfrm>
            <a:off x="8343900" y="1851620"/>
            <a:ext cx="768350" cy="406400"/>
          </a:xfrm>
          <a:prstGeom prst="rect">
            <a:avLst/>
          </a:prstGeom>
          <a:solidFill>
            <a:srgbClr val="4A3AA7"/>
          </a:solidFill>
          <a:ln/>
        </p:spPr>
        <p:txBody>
          <a:bodyPr wrap="square" lIns="0" tIns="0" rIns="0" bIns="0" rtlCol="0" anchor="ctr">
            <a:normAutofit/>
          </a:bodyPr>
          <a:lstStyle/>
          <a:p>
            <a:pPr algn="ctr" indent="0" marL="0">
              <a:lnSpc>
                <a:spcPts val="1960"/>
              </a:lnSpc>
              <a:buNone/>
            </a:pPr>
            <a:r>
              <a:rPr lang="en-US" sz="1400" b="1" dirty="0">
                <a:solidFill>
                  <a:srgbClr val="FFFFFF"/>
                </a:solidFill>
                <a:latin typeface="Inter" pitchFamily="34" charset="0"/>
                <a:ea typeface="Inter" pitchFamily="34" charset="-122"/>
                <a:cs typeface="Inter" pitchFamily="34" charset="-120"/>
              </a:rPr>
              <a:t>6</a:t>
            </a:r>
            <a:endParaRPr lang="en-US" sz="1400" dirty="0"/>
          </a:p>
        </p:txBody>
      </p:sp>
      <p:sp>
        <p:nvSpPr>
          <p:cNvPr id="8" name="Shape 6"/>
          <p:cNvSpPr/>
          <p:nvPr/>
        </p:nvSpPr>
        <p:spPr>
          <a:xfrm>
            <a:off x="9137650" y="1851620"/>
            <a:ext cx="127000" cy="406400"/>
          </a:xfrm>
          <a:prstGeom prst="rect">
            <a:avLst/>
          </a:prstGeom>
          <a:solidFill>
            <a:srgbClr val="54586B"/>
          </a:solidFill>
          <a:ln/>
        </p:spPr>
      </p:sp>
      <p:sp>
        <p:nvSpPr>
          <p:cNvPr id="9" name="Shape 7"/>
          <p:cNvSpPr/>
          <p:nvPr/>
        </p:nvSpPr>
        <p:spPr>
          <a:xfrm>
            <a:off x="9290050" y="1851620"/>
            <a:ext cx="260350" cy="406400"/>
          </a:xfrm>
          <a:prstGeom prst="rect">
            <a:avLst/>
          </a:prstGeom>
          <a:solidFill>
            <a:srgbClr val="7E7D91"/>
          </a:solidFill>
          <a:ln/>
        </p:spPr>
      </p:sp>
      <p:sp>
        <p:nvSpPr>
          <p:cNvPr id="10" name="Text 8"/>
          <p:cNvSpPr/>
          <p:nvPr/>
        </p:nvSpPr>
        <p:spPr>
          <a:xfrm>
            <a:off x="9575800" y="1851620"/>
            <a:ext cx="1803400" cy="406400"/>
          </a:xfrm>
          <a:custGeom>
            <a:avLst/>
            <a:gdLst/>
            <a:ahLst/>
            <a:cxnLst/>
            <a:rect l="l" t="t" r="r" b="b"/>
            <a:pathLst>
              <a:path w="1803400" h="406400">
                <a:moveTo>
                  <a:pt x="0" y="0"/>
                </a:moveTo>
                <a:lnTo>
                  <a:pt x="1739900" y="0"/>
                </a:lnTo>
                <a:arcTo hR="63500" wR="63500" stAng="16200000" swAng="5400000"/>
                <a:lnTo>
                  <a:pt x="1803400" y="342900"/>
                </a:lnTo>
                <a:arcTo hR="63500" wR="63500" stAng="0" swAng="5400000"/>
                <a:lnTo>
                  <a:pt x="0" y="406400"/>
                </a:lnTo>
                <a:lnTo>
                  <a:pt x="0" y="0"/>
                </a:lnTo>
                <a:close/>
              </a:path>
            </a:pathLst>
          </a:custGeom>
          <a:solidFill>
            <a:srgbClr val="D7D5E0"/>
          </a:solidFill>
          <a:ln/>
        </p:spPr>
        <p:txBody>
          <a:bodyPr wrap="square" lIns="0" tIns="0" rIns="0" bIns="0" rtlCol="0" anchor="ctr">
            <a:normAutofit/>
          </a:bodyPr>
          <a:lstStyle/>
          <a:p>
            <a:pPr algn="ctr" indent="0" marL="0">
              <a:lnSpc>
                <a:spcPts val="1960"/>
              </a:lnSpc>
              <a:buNone/>
            </a:pPr>
            <a:r>
              <a:rPr lang="en-US" sz="1400" b="1" dirty="0">
                <a:solidFill>
                  <a:srgbClr val="21273F"/>
                </a:solidFill>
                <a:latin typeface="Inter" pitchFamily="34" charset="0"/>
                <a:ea typeface="Inter" pitchFamily="34" charset="-122"/>
                <a:cs typeface="Inter" pitchFamily="34" charset="-120"/>
              </a:rPr>
              <a:t>14</a:t>
            </a:r>
            <a:endParaRPr lang="en-US" sz="1400" dirty="0"/>
          </a:p>
        </p:txBody>
      </p:sp>
      <p:sp>
        <p:nvSpPr>
          <p:cNvPr id="11" name="Text 9"/>
          <p:cNvSpPr/>
          <p:nvPr/>
        </p:nvSpPr>
        <p:spPr>
          <a:xfrm>
            <a:off x="812800" y="2385020"/>
            <a:ext cx="138335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78550"/>
                </a:solidFill>
                <a:latin typeface="Inter" pitchFamily="34" charset="0"/>
                <a:ea typeface="Inter" pitchFamily="34" charset="-122"/>
                <a:cs typeface="Inter" pitchFamily="34" charset="-120"/>
              </a:rPr>
              <a:t>■</a:t>
            </a:r>
            <a:r>
              <a:rPr lang="en-US" sz="1200" dirty="0">
                <a:solidFill>
                  <a:srgbClr val="54586B"/>
                </a:solidFill>
                <a:latin typeface="Inter" pitchFamily="34" charset="0"/>
                <a:ea typeface="Inter" pitchFamily="34" charset="-122"/>
                <a:cs typeface="Inter" pitchFamily="34" charset="-120"/>
              </a:rPr>
              <a:t> Completed 29</a:t>
            </a:r>
            <a:endParaRPr lang="en-US" sz="1200" dirty="0"/>
          </a:p>
        </p:txBody>
      </p:sp>
      <p:sp>
        <p:nvSpPr>
          <p:cNvPr id="12" name="Text 10"/>
          <p:cNvSpPr/>
          <p:nvPr/>
        </p:nvSpPr>
        <p:spPr>
          <a:xfrm>
            <a:off x="2196157" y="2385020"/>
            <a:ext cx="131689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78D6"/>
                </a:solidFill>
                <a:latin typeface="Inter" pitchFamily="34" charset="0"/>
                <a:ea typeface="Inter" pitchFamily="34" charset="-122"/>
                <a:cs typeface="Inter" pitchFamily="34" charset="-120"/>
              </a:rPr>
              <a:t>■</a:t>
            </a:r>
            <a:r>
              <a:rPr lang="en-US" sz="1200" dirty="0">
                <a:solidFill>
                  <a:srgbClr val="54586B"/>
                </a:solidFill>
                <a:latin typeface="Inter" pitchFamily="34" charset="0"/>
                <a:ea typeface="Inter" pitchFamily="34" charset="-122"/>
                <a:cs typeface="Inter" pitchFamily="34" charset="-120"/>
              </a:rPr>
              <a:t> Transferred 5</a:t>
            </a:r>
            <a:endParaRPr lang="en-US" sz="1200" dirty="0"/>
          </a:p>
        </p:txBody>
      </p:sp>
      <p:sp>
        <p:nvSpPr>
          <p:cNvPr id="13" name="Text 11"/>
          <p:cNvSpPr/>
          <p:nvPr/>
        </p:nvSpPr>
        <p:spPr>
          <a:xfrm>
            <a:off x="3522166" y="2385020"/>
            <a:ext cx="159727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B6834"/>
                </a:solidFill>
                <a:latin typeface="Inter" pitchFamily="34" charset="0"/>
                <a:ea typeface="Inter" pitchFamily="34" charset="-122"/>
                <a:cs typeface="Inter" pitchFamily="34" charset="-120"/>
              </a:rPr>
              <a:t>■</a:t>
            </a:r>
            <a:r>
              <a:rPr lang="en-US" sz="1200" dirty="0">
                <a:solidFill>
                  <a:srgbClr val="54586B"/>
                </a:solidFill>
                <a:latin typeface="Inter" pitchFamily="34" charset="0"/>
                <a:ea typeface="Inter" pitchFamily="34" charset="-122"/>
                <a:cs typeface="Inter" pitchFamily="34" charset="-120"/>
              </a:rPr>
              <a:t> Left by choice 24</a:t>
            </a:r>
            <a:endParaRPr lang="en-US" sz="1200" dirty="0"/>
          </a:p>
        </p:txBody>
      </p:sp>
      <p:sp>
        <p:nvSpPr>
          <p:cNvPr id="14" name="Text 12"/>
          <p:cNvSpPr/>
          <p:nvPr/>
        </p:nvSpPr>
        <p:spPr>
          <a:xfrm>
            <a:off x="5119439" y="2385020"/>
            <a:ext cx="224864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3AA7"/>
                </a:solidFill>
                <a:latin typeface="Inter" pitchFamily="34" charset="0"/>
                <a:ea typeface="Inter" pitchFamily="34" charset="-122"/>
                <a:cs typeface="Inter" pitchFamily="34" charset="-120"/>
              </a:rPr>
              <a:t>■</a:t>
            </a:r>
            <a:r>
              <a:rPr lang="en-US" sz="1200" dirty="0">
                <a:solidFill>
                  <a:srgbClr val="54586B"/>
                </a:solidFill>
                <a:latin typeface="Inter" pitchFamily="34" charset="0"/>
                <a:ea typeface="Inter" pitchFamily="34" charset="-122"/>
                <a:cs typeface="Inter" pitchFamily="34" charset="-120"/>
              </a:rPr>
              <a:t> Discharged by the house 6</a:t>
            </a:r>
            <a:endParaRPr lang="en-US" sz="1200" dirty="0"/>
          </a:p>
        </p:txBody>
      </p:sp>
      <p:sp>
        <p:nvSpPr>
          <p:cNvPr id="15" name="Text 13"/>
          <p:cNvSpPr/>
          <p:nvPr/>
        </p:nvSpPr>
        <p:spPr>
          <a:xfrm>
            <a:off x="7368084" y="2385020"/>
            <a:ext cx="102560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4586B"/>
                </a:solidFill>
                <a:latin typeface="Inter" pitchFamily="34" charset="0"/>
                <a:ea typeface="Inter" pitchFamily="34" charset="-122"/>
                <a:cs typeface="Inter" pitchFamily="34" charset="-120"/>
              </a:rPr>
              <a:t>■</a:t>
            </a:r>
            <a:r>
              <a:rPr lang="en-US" sz="1200" dirty="0">
                <a:solidFill>
                  <a:srgbClr val="54586B"/>
                </a:solidFill>
                <a:latin typeface="Inter" pitchFamily="34" charset="0"/>
                <a:ea typeface="Inter" pitchFamily="34" charset="-122"/>
                <a:cs typeface="Inter" pitchFamily="34" charset="-120"/>
              </a:rPr>
              <a:t> Custody 1</a:t>
            </a:r>
            <a:endParaRPr lang="en-US" sz="1200" dirty="0"/>
          </a:p>
        </p:txBody>
      </p:sp>
      <p:sp>
        <p:nvSpPr>
          <p:cNvPr id="16" name="Text 14"/>
          <p:cNvSpPr/>
          <p:nvPr/>
        </p:nvSpPr>
        <p:spPr>
          <a:xfrm>
            <a:off x="8451354" y="2385020"/>
            <a:ext cx="185142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E7D91"/>
                </a:solidFill>
                <a:latin typeface="Inter" pitchFamily="34" charset="0"/>
                <a:ea typeface="Inter" pitchFamily="34" charset="-122"/>
                <a:cs typeface="Inter" pitchFamily="34" charset="-120"/>
              </a:rPr>
              <a:t>■</a:t>
            </a:r>
            <a:r>
              <a:rPr lang="en-US" sz="1200" dirty="0">
                <a:solidFill>
                  <a:srgbClr val="54586B"/>
                </a:solidFill>
                <a:latin typeface="Inter" pitchFamily="34" charset="0"/>
                <a:ea typeface="Inter" pitchFamily="34" charset="-122"/>
                <a:cs typeface="Inter" pitchFamily="34" charset="-120"/>
              </a:rPr>
              <a:t> Other or unknown 2</a:t>
            </a:r>
            <a:endParaRPr lang="en-US" sz="1200" dirty="0"/>
          </a:p>
        </p:txBody>
      </p:sp>
      <p:sp>
        <p:nvSpPr>
          <p:cNvPr id="17" name="Text 15"/>
          <p:cNvSpPr/>
          <p:nvPr/>
        </p:nvSpPr>
        <p:spPr>
          <a:xfrm>
            <a:off x="812800" y="2826941"/>
            <a:ext cx="198935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7B8"/>
                </a:solidFill>
                <a:latin typeface="Inter" pitchFamily="34" charset="0"/>
                <a:ea typeface="Inter" pitchFamily="34" charset="-122"/>
                <a:cs typeface="Inter" pitchFamily="34" charset="-120"/>
              </a:rPr>
              <a:t>■</a:t>
            </a:r>
            <a:r>
              <a:rPr lang="en-US" sz="1200" dirty="0">
                <a:solidFill>
                  <a:srgbClr val="54586B"/>
                </a:solidFill>
                <a:latin typeface="Inter" pitchFamily="34" charset="0"/>
                <a:ea typeface="Inter" pitchFamily="34" charset="-122"/>
                <a:cs typeface="Inter" pitchFamily="34" charset="-120"/>
              </a:rPr>
              <a:t> Still in the program 14</a:t>
            </a:r>
            <a:endParaRPr lang="en-US" sz="1200" dirty="0"/>
          </a:p>
        </p:txBody>
      </p:sp>
      <p:sp>
        <p:nvSpPr>
          <p:cNvPr id="18" name="Text 16"/>
          <p:cNvSpPr/>
          <p:nvPr/>
        </p:nvSpPr>
        <p:spPr>
          <a:xfrm>
            <a:off x="812800" y="3319661"/>
            <a:ext cx="6278880"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446A3F"/>
                </a:solidFill>
                <a:latin typeface="Inter" pitchFamily="34" charset="0"/>
                <a:ea typeface="Inter" pitchFamily="34" charset="-122"/>
                <a:cs typeface="Inter" pitchFamily="34" charset="-120"/>
              </a:rPr>
              <a:t>WHERE PEOPLE WENT NEXT, FROM STAFF NOTES</a:t>
            </a:r>
            <a:endParaRPr lang="en-US" sz="1200" dirty="0"/>
          </a:p>
        </p:txBody>
      </p:sp>
      <p:sp>
        <p:nvSpPr>
          <p:cNvPr id="19" name="Text 17"/>
          <p:cNvSpPr/>
          <p:nvPr/>
        </p:nvSpPr>
        <p:spPr>
          <a:xfrm>
            <a:off x="812800" y="3621881"/>
            <a:ext cx="1511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1273F"/>
                </a:solidFill>
                <a:latin typeface="Inter" pitchFamily="34" charset="0"/>
                <a:ea typeface="Inter" pitchFamily="34" charset="-122"/>
                <a:cs typeface="Inter" pitchFamily="34" charset="-120"/>
              </a:rPr>
              <a:t>Sober living</a:t>
            </a:r>
            <a:endParaRPr lang="en-US" sz="1200" dirty="0"/>
          </a:p>
        </p:txBody>
      </p:sp>
      <p:sp>
        <p:nvSpPr>
          <p:cNvPr id="20" name="Shape 18"/>
          <p:cNvSpPr/>
          <p:nvPr/>
        </p:nvSpPr>
        <p:spPr>
          <a:xfrm>
            <a:off x="2400300" y="3671391"/>
            <a:ext cx="4064000" cy="114300"/>
          </a:xfrm>
          <a:prstGeom prst="roundRect">
            <a:avLst>
              <a:gd name="adj" fmla="val 50000"/>
            </a:avLst>
          </a:prstGeom>
          <a:solidFill>
            <a:srgbClr val="ECEAF2"/>
          </a:solidFill>
          <a:ln/>
        </p:spPr>
      </p:sp>
      <p:sp>
        <p:nvSpPr>
          <p:cNvPr id="21" name="Shape 19"/>
          <p:cNvSpPr/>
          <p:nvPr/>
        </p:nvSpPr>
        <p:spPr>
          <a:xfrm>
            <a:off x="2400300" y="3671391"/>
            <a:ext cx="692150" cy="114300"/>
          </a:xfrm>
          <a:prstGeom prst="roundRect">
            <a:avLst>
              <a:gd name="adj" fmla="val 50000"/>
            </a:avLst>
          </a:prstGeom>
          <a:solidFill>
            <a:srgbClr val="578550"/>
          </a:solidFill>
          <a:ln/>
        </p:spPr>
      </p:sp>
      <p:sp>
        <p:nvSpPr>
          <p:cNvPr id="22" name="Text 20"/>
          <p:cNvSpPr/>
          <p:nvPr/>
        </p:nvSpPr>
        <p:spPr>
          <a:xfrm>
            <a:off x="6591300" y="3621881"/>
            <a:ext cx="14203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4586B"/>
                </a:solidFill>
                <a:latin typeface="Inter" pitchFamily="34" charset="0"/>
                <a:ea typeface="Inter" pitchFamily="34" charset="-122"/>
                <a:cs typeface="Inter" pitchFamily="34" charset="-120"/>
              </a:rPr>
              <a:t>8</a:t>
            </a:r>
            <a:endParaRPr lang="en-US" sz="1200" dirty="0"/>
          </a:p>
        </p:txBody>
      </p:sp>
      <p:sp>
        <p:nvSpPr>
          <p:cNvPr id="23" name="Text 21"/>
          <p:cNvSpPr/>
          <p:nvPr/>
        </p:nvSpPr>
        <p:spPr>
          <a:xfrm>
            <a:off x="812800" y="3924102"/>
            <a:ext cx="1511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1273F"/>
                </a:solidFill>
                <a:latin typeface="Inter" pitchFamily="34" charset="0"/>
                <a:ea typeface="Inter" pitchFamily="34" charset="-122"/>
                <a:cs typeface="Inter" pitchFamily="34" charset="-120"/>
              </a:rPr>
              <a:t>Home or family</a:t>
            </a:r>
            <a:endParaRPr lang="en-US" sz="1200" dirty="0"/>
          </a:p>
        </p:txBody>
      </p:sp>
      <p:sp>
        <p:nvSpPr>
          <p:cNvPr id="24" name="Shape 22"/>
          <p:cNvSpPr/>
          <p:nvPr/>
        </p:nvSpPr>
        <p:spPr>
          <a:xfrm>
            <a:off x="2400300" y="3973612"/>
            <a:ext cx="4064000" cy="114300"/>
          </a:xfrm>
          <a:prstGeom prst="roundRect">
            <a:avLst>
              <a:gd name="adj" fmla="val 50000"/>
            </a:avLst>
          </a:prstGeom>
          <a:solidFill>
            <a:srgbClr val="ECEAF2"/>
          </a:solidFill>
          <a:ln/>
        </p:spPr>
      </p:sp>
      <p:sp>
        <p:nvSpPr>
          <p:cNvPr id="25" name="Shape 23"/>
          <p:cNvSpPr/>
          <p:nvPr/>
        </p:nvSpPr>
        <p:spPr>
          <a:xfrm>
            <a:off x="2400300" y="3973612"/>
            <a:ext cx="520700" cy="114300"/>
          </a:xfrm>
          <a:prstGeom prst="roundRect">
            <a:avLst>
              <a:gd name="adj" fmla="val 50000"/>
            </a:avLst>
          </a:prstGeom>
          <a:solidFill>
            <a:srgbClr val="578550"/>
          </a:solidFill>
          <a:ln/>
        </p:spPr>
      </p:sp>
      <p:sp>
        <p:nvSpPr>
          <p:cNvPr id="26" name="Text 24"/>
          <p:cNvSpPr/>
          <p:nvPr/>
        </p:nvSpPr>
        <p:spPr>
          <a:xfrm>
            <a:off x="6591300" y="3924102"/>
            <a:ext cx="1422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4586B"/>
                </a:solidFill>
                <a:latin typeface="Inter" pitchFamily="34" charset="0"/>
                <a:ea typeface="Inter" pitchFamily="34" charset="-122"/>
                <a:cs typeface="Inter" pitchFamily="34" charset="-120"/>
              </a:rPr>
              <a:t>6</a:t>
            </a:r>
            <a:endParaRPr lang="en-US" sz="1200" dirty="0"/>
          </a:p>
        </p:txBody>
      </p:sp>
      <p:sp>
        <p:nvSpPr>
          <p:cNvPr id="27" name="Text 25"/>
          <p:cNvSpPr/>
          <p:nvPr/>
        </p:nvSpPr>
        <p:spPr>
          <a:xfrm>
            <a:off x="812800" y="4226322"/>
            <a:ext cx="1511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1273F"/>
                </a:solidFill>
                <a:latin typeface="Inter" pitchFamily="34" charset="0"/>
                <a:ea typeface="Inter" pitchFamily="34" charset="-122"/>
                <a:cs typeface="Inter" pitchFamily="34" charset="-120"/>
              </a:rPr>
              <a:t>Another program</a:t>
            </a:r>
            <a:endParaRPr lang="en-US" sz="1200" dirty="0"/>
          </a:p>
        </p:txBody>
      </p:sp>
      <p:sp>
        <p:nvSpPr>
          <p:cNvPr id="28" name="Shape 26"/>
          <p:cNvSpPr/>
          <p:nvPr/>
        </p:nvSpPr>
        <p:spPr>
          <a:xfrm>
            <a:off x="2400300" y="4275832"/>
            <a:ext cx="4064000" cy="114300"/>
          </a:xfrm>
          <a:prstGeom prst="roundRect">
            <a:avLst>
              <a:gd name="adj" fmla="val 50000"/>
            </a:avLst>
          </a:prstGeom>
          <a:solidFill>
            <a:srgbClr val="ECEAF2"/>
          </a:solidFill>
          <a:ln/>
        </p:spPr>
      </p:sp>
      <p:sp>
        <p:nvSpPr>
          <p:cNvPr id="29" name="Shape 27"/>
          <p:cNvSpPr/>
          <p:nvPr/>
        </p:nvSpPr>
        <p:spPr>
          <a:xfrm>
            <a:off x="2400300" y="4275832"/>
            <a:ext cx="260350" cy="114300"/>
          </a:xfrm>
          <a:prstGeom prst="roundRect">
            <a:avLst>
              <a:gd name="adj" fmla="val 50000"/>
            </a:avLst>
          </a:prstGeom>
          <a:solidFill>
            <a:srgbClr val="578550"/>
          </a:solidFill>
          <a:ln/>
        </p:spPr>
      </p:sp>
      <p:sp>
        <p:nvSpPr>
          <p:cNvPr id="30" name="Text 28"/>
          <p:cNvSpPr/>
          <p:nvPr/>
        </p:nvSpPr>
        <p:spPr>
          <a:xfrm>
            <a:off x="6591300" y="4226322"/>
            <a:ext cx="14332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4586B"/>
                </a:solidFill>
                <a:latin typeface="Inter" pitchFamily="34" charset="0"/>
                <a:ea typeface="Inter" pitchFamily="34" charset="-122"/>
                <a:cs typeface="Inter" pitchFamily="34" charset="-120"/>
              </a:rPr>
              <a:t>3</a:t>
            </a:r>
            <a:endParaRPr lang="en-US" sz="1200" dirty="0"/>
          </a:p>
        </p:txBody>
      </p:sp>
      <p:sp>
        <p:nvSpPr>
          <p:cNvPr id="31" name="Text 29"/>
          <p:cNvSpPr/>
          <p:nvPr/>
        </p:nvSpPr>
        <p:spPr>
          <a:xfrm>
            <a:off x="812800" y="4528542"/>
            <a:ext cx="1511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1273F"/>
                </a:solidFill>
                <a:latin typeface="Inter" pitchFamily="34" charset="0"/>
                <a:ea typeface="Inter" pitchFamily="34" charset="-122"/>
                <a:cs typeface="Inter" pitchFamily="34" charset="-120"/>
              </a:rPr>
              <a:t>Detox or custody</a:t>
            </a:r>
            <a:endParaRPr lang="en-US" sz="1200" dirty="0"/>
          </a:p>
        </p:txBody>
      </p:sp>
      <p:sp>
        <p:nvSpPr>
          <p:cNvPr id="32" name="Shape 30"/>
          <p:cNvSpPr/>
          <p:nvPr/>
        </p:nvSpPr>
        <p:spPr>
          <a:xfrm>
            <a:off x="2400300" y="4578052"/>
            <a:ext cx="4064000" cy="114300"/>
          </a:xfrm>
          <a:prstGeom prst="roundRect">
            <a:avLst>
              <a:gd name="adj" fmla="val 50000"/>
            </a:avLst>
          </a:prstGeom>
          <a:solidFill>
            <a:srgbClr val="ECEAF2"/>
          </a:solidFill>
          <a:ln/>
        </p:spPr>
      </p:sp>
      <p:sp>
        <p:nvSpPr>
          <p:cNvPr id="33" name="Shape 31"/>
          <p:cNvSpPr/>
          <p:nvPr/>
        </p:nvSpPr>
        <p:spPr>
          <a:xfrm>
            <a:off x="2400300" y="4578052"/>
            <a:ext cx="260350" cy="114300"/>
          </a:xfrm>
          <a:prstGeom prst="roundRect">
            <a:avLst>
              <a:gd name="adj" fmla="val 50000"/>
            </a:avLst>
          </a:prstGeom>
          <a:solidFill>
            <a:srgbClr val="578550"/>
          </a:solidFill>
          <a:ln/>
        </p:spPr>
      </p:sp>
      <p:sp>
        <p:nvSpPr>
          <p:cNvPr id="34" name="Text 32"/>
          <p:cNvSpPr/>
          <p:nvPr/>
        </p:nvSpPr>
        <p:spPr>
          <a:xfrm>
            <a:off x="6591300" y="4528542"/>
            <a:ext cx="14332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4586B"/>
                </a:solidFill>
                <a:latin typeface="Inter" pitchFamily="34" charset="0"/>
                <a:ea typeface="Inter" pitchFamily="34" charset="-122"/>
                <a:cs typeface="Inter" pitchFamily="34" charset="-120"/>
              </a:rPr>
              <a:t>3</a:t>
            </a:r>
            <a:endParaRPr lang="en-US" sz="1200" dirty="0"/>
          </a:p>
        </p:txBody>
      </p:sp>
      <p:sp>
        <p:nvSpPr>
          <p:cNvPr id="35" name="Text 33"/>
          <p:cNvSpPr/>
          <p:nvPr/>
        </p:nvSpPr>
        <p:spPr>
          <a:xfrm>
            <a:off x="812800" y="4830763"/>
            <a:ext cx="1511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1273F"/>
                </a:solidFill>
                <a:latin typeface="Inter" pitchFamily="34" charset="0"/>
                <a:ea typeface="Inter" pitchFamily="34" charset="-122"/>
                <a:cs typeface="Inter" pitchFamily="34" charset="-120"/>
              </a:rPr>
              <a:t>Not stated</a:t>
            </a:r>
            <a:endParaRPr lang="en-US" sz="1200" dirty="0"/>
          </a:p>
        </p:txBody>
      </p:sp>
      <p:sp>
        <p:nvSpPr>
          <p:cNvPr id="36" name="Shape 34"/>
          <p:cNvSpPr/>
          <p:nvPr/>
        </p:nvSpPr>
        <p:spPr>
          <a:xfrm>
            <a:off x="2400300" y="4880273"/>
            <a:ext cx="4064000" cy="114300"/>
          </a:xfrm>
          <a:prstGeom prst="roundRect">
            <a:avLst>
              <a:gd name="adj" fmla="val 50000"/>
            </a:avLst>
          </a:prstGeom>
          <a:solidFill>
            <a:srgbClr val="ECEAF2"/>
          </a:solidFill>
          <a:ln/>
        </p:spPr>
      </p:sp>
      <p:sp>
        <p:nvSpPr>
          <p:cNvPr id="37" name="Shape 35"/>
          <p:cNvSpPr/>
          <p:nvPr/>
        </p:nvSpPr>
        <p:spPr>
          <a:xfrm>
            <a:off x="2400300" y="4880273"/>
            <a:ext cx="4064000" cy="114300"/>
          </a:xfrm>
          <a:prstGeom prst="roundRect">
            <a:avLst>
              <a:gd name="adj" fmla="val 50000"/>
            </a:avLst>
          </a:prstGeom>
          <a:solidFill>
            <a:srgbClr val="A9A7B8"/>
          </a:solidFill>
          <a:ln/>
        </p:spPr>
      </p:sp>
      <p:sp>
        <p:nvSpPr>
          <p:cNvPr id="38" name="Text 36"/>
          <p:cNvSpPr/>
          <p:nvPr/>
        </p:nvSpPr>
        <p:spPr>
          <a:xfrm>
            <a:off x="6591300" y="4830763"/>
            <a:ext cx="22557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4586B"/>
                </a:solidFill>
                <a:latin typeface="Inter" pitchFamily="34" charset="0"/>
                <a:ea typeface="Inter" pitchFamily="34" charset="-122"/>
                <a:cs typeface="Inter" pitchFamily="34" charset="-120"/>
              </a:rPr>
              <a:t>47</a:t>
            </a:r>
            <a:endParaRPr lang="en-US" sz="1200" dirty="0"/>
          </a:p>
        </p:txBody>
      </p:sp>
      <p:sp>
        <p:nvSpPr>
          <p:cNvPr id="39" name="Text 37"/>
          <p:cNvSpPr/>
          <p:nvPr/>
        </p:nvSpPr>
        <p:spPr>
          <a:xfrm>
            <a:off x="7416800" y="3319661"/>
            <a:ext cx="4081272"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30302"/>
                </a:solidFill>
                <a:latin typeface="Inter" pitchFamily="34" charset="0"/>
                <a:ea typeface="Inter" pitchFamily="34" charset="-122"/>
                <a:cs typeface="Inter" pitchFamily="34" charset="-120"/>
              </a:rPr>
              <a:t>Recorded reason first</a:t>
            </a:r>
            <a:endParaRPr lang="en-US" sz="1600" dirty="0"/>
          </a:p>
        </p:txBody>
      </p:sp>
      <p:sp>
        <p:nvSpPr>
          <p:cNvPr id="40" name="Text 38"/>
          <p:cNvSpPr/>
          <p:nvPr/>
        </p:nvSpPr>
        <p:spPr>
          <a:xfrm>
            <a:off x="7416800" y="3639691"/>
            <a:ext cx="4081272" cy="74349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54586B"/>
                </a:solidFill>
                <a:latin typeface="Inter" pitchFamily="34" charset="0"/>
                <a:ea typeface="Inter" pitchFamily="34" charset="-122"/>
                <a:cs typeface="Inter" pitchFamily="34" charset="-120"/>
              </a:rPr>
              <a:t>Notes fill in only reasons coded “other” or left blank (2 here), marked as from notes. The funder report uses recorded reasons only.</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35522F"/>
        </a:solidFill>
      </p:bgPr>
    </p:bg>
    <p:spTree>
      <p:nvGrpSpPr>
        <p:cNvPr id="1" name=""/>
        <p:cNvGrpSpPr/>
        <p:nvPr/>
      </p:nvGrpSpPr>
      <p:grpSpPr>
        <a:xfrm>
          <a:off x="0" y="0"/>
          <a:ext cx="0" cy="0"/>
          <a:chOff x="0" y="0"/>
          <a:chExt cx="0" cy="0"/>
        </a:xfrm>
      </p:grpSpPr>
      <p:sp>
        <p:nvSpPr>
          <p:cNvPr id="2" name="Text 0"/>
          <p:cNvSpPr/>
          <p:nvPr/>
        </p:nvSpPr>
        <p:spPr>
          <a:xfrm>
            <a:off x="812800" y="186055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50" kern="0" dirty="0">
                <a:solidFill>
                  <a:srgbClr val="D2E2CF"/>
                </a:solidFill>
                <a:latin typeface="Inter" pitchFamily="34" charset="0"/>
                <a:ea typeface="Inter" pitchFamily="34" charset="-122"/>
                <a:cs typeface="Inter" pitchFamily="34" charset="-120"/>
              </a:rPr>
              <a:t>ENGAGED IN RECOVERY AT 6 MONTHS, FY2025</a:t>
            </a:r>
            <a:endParaRPr lang="en-US" sz="1400" dirty="0"/>
          </a:p>
        </p:txBody>
      </p:sp>
      <p:sp>
        <p:nvSpPr>
          <p:cNvPr id="3" name="Text 1"/>
          <p:cNvSpPr/>
          <p:nvPr/>
        </p:nvSpPr>
        <p:spPr>
          <a:xfrm>
            <a:off x="812800" y="2414240"/>
            <a:ext cx="10883392" cy="1549400"/>
          </a:xfrm>
          <a:prstGeom prst="rect">
            <a:avLst/>
          </a:prstGeom>
          <a:noFill/>
          <a:ln/>
        </p:spPr>
        <p:txBody>
          <a:bodyPr wrap="square" lIns="0" tIns="0" rIns="0" bIns="0" rtlCol="0" anchor="t">
            <a:normAutofit/>
          </a:bodyPr>
          <a:lstStyle/>
          <a:p>
            <a:pPr algn="l" indent="0" marL="0">
              <a:lnSpc>
                <a:spcPts val="12000"/>
              </a:lnSpc>
              <a:buNone/>
            </a:pPr>
            <a:r>
              <a:rPr lang="en-US" sz="12000" b="1" spc="-200" kern="0" dirty="0">
                <a:solidFill>
                  <a:srgbClr val="FFFFFF"/>
                </a:solidFill>
                <a:latin typeface="Inter" pitchFamily="34" charset="0"/>
                <a:ea typeface="Inter" pitchFamily="34" charset="-122"/>
                <a:cs typeface="Inter" pitchFamily="34" charset="-120"/>
              </a:rPr>
              <a:t>46–85%</a:t>
            </a:r>
            <a:endParaRPr lang="en-US" sz="12000" dirty="0"/>
          </a:p>
        </p:txBody>
      </p:sp>
      <p:sp>
        <p:nvSpPr>
          <p:cNvPr id="4" name="Text 2"/>
          <p:cNvSpPr/>
          <p:nvPr/>
        </p:nvSpPr>
        <p:spPr>
          <a:xfrm>
            <a:off x="812800" y="4243040"/>
            <a:ext cx="9810750" cy="779760"/>
          </a:xfrm>
          <a:prstGeom prst="rect">
            <a:avLst/>
          </a:prstGeom>
          <a:noFill/>
          <a:ln/>
        </p:spPr>
        <p:txBody>
          <a:bodyPr wrap="square" lIns="0" tIns="0" rIns="0" bIns="0" rtlCol="0" anchor="t">
            <a:normAutofit/>
          </a:bodyPr>
          <a:lstStyle/>
          <a:p>
            <a:pPr algn="l" indent="0" marL="0">
              <a:lnSpc>
                <a:spcPts val="2970"/>
              </a:lnSpc>
              <a:buNone/>
            </a:pPr>
            <a:r>
              <a:rPr lang="en-US" sz="2200" dirty="0">
                <a:solidFill>
                  <a:srgbClr val="F7F5FB"/>
                </a:solidFill>
                <a:latin typeface="Inter" pitchFamily="34" charset="0"/>
                <a:ea typeface="Inter" pitchFamily="34" charset="-122"/>
                <a:cs typeface="Inter" pitchFamily="34" charset="-120"/>
              </a:rPr>
              <a:t>Out of all 41 people who left in FY2025 and are due. Counting only the 25 we reached would say 76%, and hide everyone we lost touch with.</a:t>
            </a:r>
            <a:endParaRPr lang="en-US" sz="2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FB"/>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30302"/>
                </a:solidFill>
                <a:latin typeface="Inter" pitchFamily="34" charset="0"/>
                <a:ea typeface="Inter" pitchFamily="34" charset="-122"/>
                <a:cs typeface="Inter" pitchFamily="34" charset="-120"/>
              </a:rPr>
              <a:t>Everyone due stays in the denominator</a:t>
            </a:r>
            <a:endParaRPr lang="en-US" sz="3000" dirty="0"/>
          </a:p>
        </p:txBody>
      </p:sp>
      <p:sp>
        <p:nvSpPr>
          <p:cNvPr id="3" name="Text 1"/>
          <p:cNvSpPr/>
          <p:nvPr/>
        </p:nvSpPr>
        <p:spPr>
          <a:xfrm>
            <a:off x="812800" y="14859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446A3F"/>
                </a:solidFill>
                <a:latin typeface="Inter" pitchFamily="34" charset="0"/>
                <a:ea typeface="Inter" pitchFamily="34" charset="-122"/>
                <a:cs typeface="Inter" pitchFamily="34" charset="-120"/>
              </a:rPr>
              <a:t>6-MONTH FOLLOW-UP, EVERYONE WHO LEFT IN FY2025 AND IS DUE</a:t>
            </a:r>
            <a:endParaRPr lang="en-US" sz="1200" dirty="0"/>
          </a:p>
        </p:txBody>
      </p:sp>
      <p:sp>
        <p:nvSpPr>
          <p:cNvPr id="4" name="Text 2"/>
          <p:cNvSpPr/>
          <p:nvPr/>
        </p:nvSpPr>
        <p:spPr>
          <a:xfrm>
            <a:off x="812800" y="1788120"/>
            <a:ext cx="4851400" cy="406400"/>
          </a:xfrm>
          <a:custGeom>
            <a:avLst/>
            <a:gdLst/>
            <a:ahLst/>
            <a:cxnLst/>
            <a:rect l="l" t="t" r="r" b="b"/>
            <a:pathLst>
              <a:path w="4851400" h="406400">
                <a:moveTo>
                  <a:pt x="63500" y="0"/>
                </a:moveTo>
                <a:lnTo>
                  <a:pt x="4851400" y="0"/>
                </a:lnTo>
                <a:lnTo>
                  <a:pt x="4851400" y="406400"/>
                </a:lnTo>
                <a:lnTo>
                  <a:pt x="63500" y="406400"/>
                </a:lnTo>
                <a:arcTo hR="63500" wR="63500" stAng="5400000" swAng="5400000"/>
                <a:lnTo>
                  <a:pt x="0" y="63500"/>
                </a:lnTo>
                <a:arcTo hR="63500" wR="63500" stAng="10800000" swAng="5400000"/>
                <a:close/>
              </a:path>
            </a:pathLst>
          </a:custGeom>
          <a:solidFill>
            <a:srgbClr val="578550"/>
          </a:solidFill>
          <a:ln/>
        </p:spPr>
        <p:txBody>
          <a:bodyPr wrap="square" lIns="0" tIns="0" rIns="0" bIns="0" rtlCol="0" anchor="ctr">
            <a:normAutofit/>
          </a:bodyPr>
          <a:lstStyle/>
          <a:p>
            <a:pPr algn="ctr" indent="0" marL="0">
              <a:lnSpc>
                <a:spcPts val="1960"/>
              </a:lnSpc>
              <a:buNone/>
            </a:pPr>
            <a:r>
              <a:rPr lang="en-US" sz="1400" b="1" dirty="0">
                <a:solidFill>
                  <a:srgbClr val="FFFFFF"/>
                </a:solidFill>
                <a:latin typeface="Inter" pitchFamily="34" charset="0"/>
                <a:ea typeface="Inter" pitchFamily="34" charset="-122"/>
                <a:cs typeface="Inter" pitchFamily="34" charset="-120"/>
              </a:rPr>
              <a:t>19</a:t>
            </a:r>
            <a:endParaRPr lang="en-US" sz="1400" dirty="0"/>
          </a:p>
        </p:txBody>
      </p:sp>
      <p:sp>
        <p:nvSpPr>
          <p:cNvPr id="5" name="Text 3"/>
          <p:cNvSpPr/>
          <p:nvPr/>
        </p:nvSpPr>
        <p:spPr>
          <a:xfrm>
            <a:off x="5689600" y="1788120"/>
            <a:ext cx="2552700" cy="406400"/>
          </a:xfrm>
          <a:prstGeom prst="rect">
            <a:avLst/>
          </a:prstGeom>
          <a:solidFill>
            <a:srgbClr val="54586B"/>
          </a:solidFill>
          <a:ln/>
        </p:spPr>
        <p:txBody>
          <a:bodyPr wrap="square" lIns="0" tIns="0" rIns="0" bIns="0" rtlCol="0" anchor="ctr">
            <a:normAutofit/>
          </a:bodyPr>
          <a:lstStyle/>
          <a:p>
            <a:pPr algn="ctr" indent="0" marL="0">
              <a:lnSpc>
                <a:spcPts val="1960"/>
              </a:lnSpc>
              <a:buNone/>
            </a:pPr>
            <a:r>
              <a:rPr lang="en-US" sz="1400" b="1" dirty="0">
                <a:solidFill>
                  <a:srgbClr val="FFFFFF"/>
                </a:solidFill>
                <a:latin typeface="Inter" pitchFamily="34" charset="0"/>
                <a:ea typeface="Inter" pitchFamily="34" charset="-122"/>
                <a:cs typeface="Inter" pitchFamily="34" charset="-120"/>
              </a:rPr>
              <a:t>10</a:t>
            </a:r>
            <a:endParaRPr lang="en-US" sz="1400" dirty="0"/>
          </a:p>
        </p:txBody>
      </p:sp>
      <p:sp>
        <p:nvSpPr>
          <p:cNvPr id="6" name="Text 4"/>
          <p:cNvSpPr/>
          <p:nvPr/>
        </p:nvSpPr>
        <p:spPr>
          <a:xfrm>
            <a:off x="8267700" y="1788120"/>
            <a:ext cx="508000" cy="406400"/>
          </a:xfrm>
          <a:prstGeom prst="rect">
            <a:avLst/>
          </a:prstGeom>
          <a:solidFill>
            <a:srgbClr val="7E7D91"/>
          </a:solidFill>
          <a:ln/>
        </p:spPr>
        <p:txBody>
          <a:bodyPr wrap="square" lIns="0" tIns="0" rIns="0" bIns="0" rtlCol="0" anchor="ctr">
            <a:normAutofit/>
          </a:bodyPr>
          <a:lstStyle/>
          <a:p>
            <a:pPr algn="ctr" indent="0" marL="0">
              <a:lnSpc>
                <a:spcPts val="1960"/>
              </a:lnSpc>
              <a:buNone/>
            </a:pPr>
            <a:r>
              <a:rPr lang="en-US" sz="1400" b="1" dirty="0">
                <a:solidFill>
                  <a:srgbClr val="FFFFFF"/>
                </a:solidFill>
                <a:latin typeface="Inter" pitchFamily="34" charset="0"/>
                <a:ea typeface="Inter" pitchFamily="34" charset="-122"/>
                <a:cs typeface="Inter" pitchFamily="34" charset="-120"/>
              </a:rPr>
              <a:t>2</a:t>
            </a:r>
            <a:endParaRPr lang="en-US" sz="1400" dirty="0"/>
          </a:p>
        </p:txBody>
      </p:sp>
      <p:sp>
        <p:nvSpPr>
          <p:cNvPr id="7" name="Text 5"/>
          <p:cNvSpPr/>
          <p:nvPr/>
        </p:nvSpPr>
        <p:spPr>
          <a:xfrm>
            <a:off x="8801100" y="1788120"/>
            <a:ext cx="1022350" cy="406400"/>
          </a:xfrm>
          <a:prstGeom prst="rect">
            <a:avLst/>
          </a:prstGeom>
          <a:solidFill>
            <a:srgbClr val="A9A7B8"/>
          </a:solidFill>
          <a:ln/>
        </p:spPr>
        <p:txBody>
          <a:bodyPr wrap="square" lIns="0" tIns="0" rIns="0" bIns="0" rtlCol="0" anchor="ctr">
            <a:normAutofit/>
          </a:bodyPr>
          <a:lstStyle/>
          <a:p>
            <a:pPr algn="ctr" indent="0" marL="0">
              <a:lnSpc>
                <a:spcPts val="1960"/>
              </a:lnSpc>
              <a:buNone/>
            </a:pPr>
            <a:r>
              <a:rPr lang="en-US" sz="1400" b="1" dirty="0">
                <a:solidFill>
                  <a:srgbClr val="21273F"/>
                </a:solidFill>
                <a:latin typeface="Inter" pitchFamily="34" charset="0"/>
                <a:ea typeface="Inter" pitchFamily="34" charset="-122"/>
                <a:cs typeface="Inter" pitchFamily="34" charset="-120"/>
              </a:rPr>
              <a:t>4</a:t>
            </a:r>
            <a:endParaRPr lang="en-US" sz="1400" dirty="0"/>
          </a:p>
        </p:txBody>
      </p:sp>
      <p:sp>
        <p:nvSpPr>
          <p:cNvPr id="8" name="Text 6"/>
          <p:cNvSpPr/>
          <p:nvPr/>
        </p:nvSpPr>
        <p:spPr>
          <a:xfrm>
            <a:off x="9848850" y="1788120"/>
            <a:ext cx="1530350" cy="406400"/>
          </a:xfrm>
          <a:custGeom>
            <a:avLst/>
            <a:gdLst/>
            <a:ahLst/>
            <a:cxnLst/>
            <a:rect l="l" t="t" r="r" b="b"/>
            <a:pathLst>
              <a:path w="1530350" h="406400">
                <a:moveTo>
                  <a:pt x="0" y="0"/>
                </a:moveTo>
                <a:lnTo>
                  <a:pt x="1466850" y="0"/>
                </a:lnTo>
                <a:arcTo hR="63500" wR="63500" stAng="16200000" swAng="5400000"/>
                <a:lnTo>
                  <a:pt x="1530350" y="342900"/>
                </a:lnTo>
                <a:arcTo hR="63500" wR="63500" stAng="0" swAng="5400000"/>
                <a:lnTo>
                  <a:pt x="0" y="406400"/>
                </a:lnTo>
                <a:lnTo>
                  <a:pt x="0" y="0"/>
                </a:lnTo>
                <a:close/>
              </a:path>
            </a:pathLst>
          </a:custGeom>
          <a:solidFill>
            <a:srgbClr val="EB6834"/>
          </a:solidFill>
          <a:ln/>
        </p:spPr>
        <p:txBody>
          <a:bodyPr wrap="square" lIns="0" tIns="0" rIns="0" bIns="0" rtlCol="0" anchor="ctr">
            <a:normAutofit/>
          </a:bodyPr>
          <a:lstStyle/>
          <a:p>
            <a:pPr algn="ctr" indent="0" marL="0">
              <a:lnSpc>
                <a:spcPts val="1960"/>
              </a:lnSpc>
              <a:buNone/>
            </a:pPr>
            <a:r>
              <a:rPr lang="en-US" sz="1400" b="1" dirty="0">
                <a:solidFill>
                  <a:srgbClr val="030302"/>
                </a:solidFill>
                <a:latin typeface="Inter" pitchFamily="34" charset="0"/>
                <a:ea typeface="Inter" pitchFamily="34" charset="-122"/>
                <a:cs typeface="Inter" pitchFamily="34" charset="-120"/>
              </a:rPr>
              <a:t>6</a:t>
            </a:r>
            <a:endParaRPr lang="en-US" sz="1400" dirty="0"/>
          </a:p>
        </p:txBody>
      </p:sp>
      <p:sp>
        <p:nvSpPr>
          <p:cNvPr id="9" name="Shape 7"/>
          <p:cNvSpPr/>
          <p:nvPr/>
        </p:nvSpPr>
        <p:spPr>
          <a:xfrm>
            <a:off x="812800" y="2283420"/>
            <a:ext cx="4133850" cy="101600"/>
          </a:xfrm>
          <a:custGeom>
            <a:avLst/>
            <a:gdLst/>
            <a:ahLst/>
            <a:cxnLst/>
            <a:rect l="l" t="t" r="r" b="b"/>
            <a:pathLst>
              <a:path w="4133850" h="101600">
                <a:moveTo>
                  <a:pt x="4114800" y="0"/>
                </a:moveTo>
                <a:lnTo>
                  <a:pt x="4133850" y="0"/>
                </a:lnTo>
                <a:lnTo>
                  <a:pt x="4133850" y="76200"/>
                </a:lnTo>
                <a:arcTo hR="25400" wR="25400" stAng="0" swAng="5400000"/>
                <a:lnTo>
                  <a:pt x="25400" y="101600"/>
                </a:lnTo>
                <a:arcTo hR="25400" wR="25400" stAng="5400000" swAng="5400000"/>
                <a:lnTo>
                  <a:pt x="0" y="0"/>
                </a:lnTo>
                <a:lnTo>
                  <a:pt x="19050" y="0"/>
                </a:lnTo>
                <a:lnTo>
                  <a:pt x="19050" y="76200"/>
                </a:lnTo>
                <a:arcTo hR="6350" wR="6350" stAng="10800000" swAng="-5400000"/>
                <a:lnTo>
                  <a:pt x="4108450" y="82550"/>
                </a:lnTo>
                <a:arcTo hR="6350" wR="6350" stAng="5400000" swAng="-5400000"/>
                <a:lnTo>
                  <a:pt x="4114800" y="0"/>
                </a:lnTo>
                <a:close/>
              </a:path>
            </a:pathLst>
          </a:custGeom>
          <a:solidFill>
            <a:srgbClr val="21273F"/>
          </a:solidFill>
          <a:ln/>
        </p:spPr>
      </p:sp>
      <p:sp>
        <p:nvSpPr>
          <p:cNvPr id="10" name="Text 8"/>
          <p:cNvSpPr/>
          <p:nvPr/>
        </p:nvSpPr>
        <p:spPr>
          <a:xfrm>
            <a:off x="720408" y="2473920"/>
            <a:ext cx="6344285"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21273F"/>
                </a:solidFill>
                <a:latin typeface="Inter" pitchFamily="34" charset="0"/>
                <a:ea typeface="Inter" pitchFamily="34" charset="-122"/>
                <a:cs typeface="Inter" pitchFamily="34" charset="-120"/>
              </a:rPr>
              <a:t>16 with no known outcome: 46% if none engaged, 85% if all did</a:t>
            </a:r>
            <a:endParaRPr lang="en-US" sz="1200" dirty="0"/>
          </a:p>
        </p:txBody>
      </p:sp>
      <p:sp>
        <p:nvSpPr>
          <p:cNvPr id="11" name="Text 9"/>
          <p:cNvSpPr/>
          <p:nvPr/>
        </p:nvSpPr>
        <p:spPr>
          <a:xfrm>
            <a:off x="812800" y="2776141"/>
            <a:ext cx="18191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78550"/>
                </a:solidFill>
                <a:latin typeface="Inter" pitchFamily="34" charset="0"/>
                <a:ea typeface="Inter" pitchFamily="34" charset="-122"/>
                <a:cs typeface="Inter" pitchFamily="34" charset="-120"/>
              </a:rPr>
              <a:t>■</a:t>
            </a:r>
            <a:r>
              <a:rPr lang="en-US" sz="1200" dirty="0">
                <a:solidFill>
                  <a:srgbClr val="54586B"/>
                </a:solidFill>
                <a:latin typeface="Inter" pitchFamily="34" charset="0"/>
                <a:ea typeface="Inter" pitchFamily="34" charset="-122"/>
                <a:cs typeface="Inter" pitchFamily="34" charset="-120"/>
              </a:rPr>
              <a:t> Engaged in recovery</a:t>
            </a:r>
            <a:endParaRPr lang="en-US" sz="1200" dirty="0"/>
          </a:p>
        </p:txBody>
      </p:sp>
      <p:sp>
        <p:nvSpPr>
          <p:cNvPr id="12" name="Text 10"/>
          <p:cNvSpPr/>
          <p:nvPr/>
        </p:nvSpPr>
        <p:spPr>
          <a:xfrm>
            <a:off x="2631976" y="2776141"/>
            <a:ext cx="156552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4586B"/>
                </a:solidFill>
                <a:latin typeface="Inter" pitchFamily="34" charset="0"/>
                <a:ea typeface="Inter" pitchFamily="34" charset="-122"/>
                <a:cs typeface="Inter" pitchFamily="34" charset="-120"/>
              </a:rPr>
              <a:t>■</a:t>
            </a:r>
            <a:r>
              <a:rPr lang="en-US" sz="1200" dirty="0">
                <a:solidFill>
                  <a:srgbClr val="54586B"/>
                </a:solidFill>
                <a:latin typeface="Inter" pitchFamily="34" charset="0"/>
                <a:ea typeface="Inter" pitchFamily="34" charset="-122"/>
                <a:cs typeface="Inter" pitchFamily="34" charset="-120"/>
              </a:rPr>
              <a:t> Lost to follow-up</a:t>
            </a:r>
            <a:endParaRPr lang="en-US" sz="1200" dirty="0"/>
          </a:p>
        </p:txBody>
      </p:sp>
      <p:sp>
        <p:nvSpPr>
          <p:cNvPr id="13" name="Text 11"/>
          <p:cNvSpPr/>
          <p:nvPr/>
        </p:nvSpPr>
        <p:spPr>
          <a:xfrm>
            <a:off x="4197499" y="2776141"/>
            <a:ext cx="99524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E7D91"/>
                </a:solidFill>
                <a:latin typeface="Inter" pitchFamily="34" charset="0"/>
                <a:ea typeface="Inter" pitchFamily="34" charset="-122"/>
                <a:cs typeface="Inter" pitchFamily="34" charset="-120"/>
              </a:rPr>
              <a:t>■</a:t>
            </a:r>
            <a:r>
              <a:rPr lang="en-US" sz="1200" dirty="0">
                <a:solidFill>
                  <a:srgbClr val="54586B"/>
                </a:solidFill>
                <a:latin typeface="Inter" pitchFamily="34" charset="0"/>
                <a:ea typeface="Inter" pitchFamily="34" charset="-122"/>
                <a:cs typeface="Inter" pitchFamily="34" charset="-120"/>
              </a:rPr>
              <a:t> Unknown</a:t>
            </a:r>
            <a:endParaRPr lang="en-US" sz="1200" dirty="0"/>
          </a:p>
        </p:txBody>
      </p:sp>
      <p:sp>
        <p:nvSpPr>
          <p:cNvPr id="14" name="Text 12"/>
          <p:cNvSpPr/>
          <p:nvPr/>
        </p:nvSpPr>
        <p:spPr>
          <a:xfrm>
            <a:off x="5255468" y="2776141"/>
            <a:ext cx="1644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7B8"/>
                </a:solidFill>
                <a:latin typeface="Inter" pitchFamily="34" charset="0"/>
                <a:ea typeface="Inter" pitchFamily="34" charset="-122"/>
                <a:cs typeface="Inter" pitchFamily="34" charset="-120"/>
              </a:rPr>
              <a:t>■</a:t>
            </a:r>
            <a:r>
              <a:rPr lang="en-US" sz="1200" dirty="0">
                <a:solidFill>
                  <a:srgbClr val="54586B"/>
                </a:solidFill>
                <a:latin typeface="Inter" pitchFamily="34" charset="0"/>
                <a:ea typeface="Inter" pitchFamily="34" charset="-122"/>
                <a:cs typeface="Inter" pitchFamily="34" charset="-120"/>
              </a:rPr>
              <a:t> Due, not recorded</a:t>
            </a:r>
            <a:endParaRPr lang="en-US" sz="1200" dirty="0"/>
          </a:p>
        </p:txBody>
      </p:sp>
      <p:sp>
        <p:nvSpPr>
          <p:cNvPr id="15" name="Text 13"/>
          <p:cNvSpPr/>
          <p:nvPr/>
        </p:nvSpPr>
        <p:spPr>
          <a:xfrm>
            <a:off x="6900118" y="2776141"/>
            <a:ext cx="162109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B6834"/>
                </a:solidFill>
                <a:latin typeface="Inter" pitchFamily="34" charset="0"/>
                <a:ea typeface="Inter" pitchFamily="34" charset="-122"/>
                <a:cs typeface="Inter" pitchFamily="34" charset="-120"/>
              </a:rPr>
              <a:t>■</a:t>
            </a:r>
            <a:r>
              <a:rPr lang="en-US" sz="1200" dirty="0">
                <a:solidFill>
                  <a:srgbClr val="54586B"/>
                </a:solidFill>
                <a:latin typeface="Inter" pitchFamily="34" charset="0"/>
                <a:ea typeface="Inter" pitchFamily="34" charset="-122"/>
                <a:cs typeface="Inter" pitchFamily="34" charset="-120"/>
              </a:rPr>
              <a:t> Relapse reported</a:t>
            </a:r>
            <a:endParaRPr lang="en-US" sz="1200" dirty="0"/>
          </a:p>
        </p:txBody>
      </p:sp>
      <p:sp>
        <p:nvSpPr>
          <p:cNvPr id="16" name="Text 14"/>
          <p:cNvSpPr/>
          <p:nvPr/>
        </p:nvSpPr>
        <p:spPr>
          <a:xfrm>
            <a:off x="812800" y="3243461"/>
            <a:ext cx="334873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30302"/>
                </a:solidFill>
                <a:latin typeface="Inter" pitchFamily="34" charset="0"/>
                <a:ea typeface="Inter" pitchFamily="34" charset="-122"/>
                <a:cs typeface="Inter" pitchFamily="34" charset="-120"/>
              </a:rPr>
              <a:t>Unknowns kept apart</a:t>
            </a:r>
            <a:endParaRPr lang="en-US" sz="1600" dirty="0"/>
          </a:p>
        </p:txBody>
      </p:sp>
      <p:sp>
        <p:nvSpPr>
          <p:cNvPr id="17" name="Text 15"/>
          <p:cNvSpPr/>
          <p:nvPr/>
        </p:nvSpPr>
        <p:spPr>
          <a:xfrm>
            <a:off x="812800" y="3550791"/>
            <a:ext cx="3348736" cy="74349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54586B"/>
                </a:solidFill>
                <a:latin typeface="Inter" pitchFamily="34" charset="0"/>
                <a:ea typeface="Inter" pitchFamily="34" charset="-122"/>
                <a:cs typeface="Inter" pitchFamily="34" charset="-120"/>
              </a:rPr>
              <a:t>Lost, unknown and never entered are separate. The last is a gap the house can fix.</a:t>
            </a:r>
            <a:endParaRPr lang="en-US" sz="1300" dirty="0"/>
          </a:p>
        </p:txBody>
      </p:sp>
      <p:sp>
        <p:nvSpPr>
          <p:cNvPr id="18" name="Text 16"/>
          <p:cNvSpPr/>
          <p:nvPr/>
        </p:nvSpPr>
        <p:spPr>
          <a:xfrm>
            <a:off x="4470400" y="3243461"/>
            <a:ext cx="334873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30302"/>
                </a:solidFill>
                <a:latin typeface="Inter" pitchFamily="34" charset="0"/>
                <a:ea typeface="Inter" pitchFamily="34" charset="-122"/>
                <a:cs typeface="Inter" pitchFamily="34" charset="-120"/>
              </a:rPr>
              <a:t>Completers vs early leavers</a:t>
            </a:r>
            <a:endParaRPr lang="en-US" sz="1600" dirty="0"/>
          </a:p>
        </p:txBody>
      </p:sp>
      <p:sp>
        <p:nvSpPr>
          <p:cNvPr id="19" name="Text 17"/>
          <p:cNvSpPr/>
          <p:nvPr/>
        </p:nvSpPr>
        <p:spPr>
          <a:xfrm>
            <a:off x="4470400" y="3550791"/>
            <a:ext cx="3348736"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54586B"/>
                </a:solidFill>
                <a:latin typeface="Inter" pitchFamily="34" charset="0"/>
                <a:ea typeface="Inter" pitchFamily="34" charset="-122"/>
                <a:cs typeface="Inter" pitchFamily="34" charset="-120"/>
              </a:rPr>
              <a:t>15 of 22 completers confirmed engaged; 4 of 19 early leavers.</a:t>
            </a:r>
            <a:endParaRPr lang="en-US" sz="1300" dirty="0"/>
          </a:p>
        </p:txBody>
      </p:sp>
      <p:sp>
        <p:nvSpPr>
          <p:cNvPr id="20" name="Text 18"/>
          <p:cNvSpPr/>
          <p:nvPr/>
        </p:nvSpPr>
        <p:spPr>
          <a:xfrm>
            <a:off x="8128000" y="3243461"/>
            <a:ext cx="334873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30302"/>
                </a:solidFill>
                <a:latin typeface="Inter" pitchFamily="34" charset="0"/>
                <a:ea typeface="Inter" pitchFamily="34" charset="-122"/>
                <a:cs typeface="Inter" pitchFamily="34" charset="-120"/>
              </a:rPr>
              <a:t>Too few: counts only</a:t>
            </a:r>
            <a:endParaRPr lang="en-US" sz="1600" dirty="0"/>
          </a:p>
        </p:txBody>
      </p:sp>
      <p:sp>
        <p:nvSpPr>
          <p:cNvPr id="21" name="Text 19"/>
          <p:cNvSpPr/>
          <p:nvPr/>
        </p:nvSpPr>
        <p:spPr>
          <a:xfrm>
            <a:off x="8128000" y="3550791"/>
            <a:ext cx="3348736"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54586B"/>
                </a:solidFill>
                <a:latin typeface="Inter" pitchFamily="34" charset="0"/>
                <a:ea typeface="Inter" pitchFamily="34" charset="-122"/>
                <a:cs typeface="Inter" pitchFamily="34" charset="-120"/>
              </a:rPr>
              <a:t>Under 20 due, no range is shown: 12 months has 3 due; FY2024 has 8.</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30302"/>
                </a:solidFill>
                <a:latin typeface="Inter" pitchFamily="34" charset="0"/>
                <a:ea typeface="Inter" pitchFamily="34" charset="-122"/>
                <a:cs typeface="Inter" pitchFamily="34" charset="-120"/>
              </a:rPr>
              <a:t>Staff notes hold what the fields don’t</a:t>
            </a:r>
            <a:endParaRPr lang="en-US" sz="3000" dirty="0"/>
          </a:p>
        </p:txBody>
      </p:sp>
      <p:sp>
        <p:nvSpPr>
          <p:cNvPr id="3" name="Shape 1"/>
          <p:cNvSpPr/>
          <p:nvPr/>
        </p:nvSpPr>
        <p:spPr>
          <a:xfrm>
            <a:off x="812800" y="1511300"/>
            <a:ext cx="6604000" cy="876250"/>
          </a:xfrm>
          <a:prstGeom prst="roundRect">
            <a:avLst>
              <a:gd name="adj" fmla="val 11595"/>
            </a:avLst>
          </a:prstGeom>
          <a:solidFill>
            <a:srgbClr val="F7F5FB"/>
          </a:solidFill>
          <a:ln/>
        </p:spPr>
      </p:sp>
      <p:sp>
        <p:nvSpPr>
          <p:cNvPr id="4" name="Text 2"/>
          <p:cNvSpPr/>
          <p:nvPr/>
        </p:nvSpPr>
        <p:spPr>
          <a:xfrm>
            <a:off x="990600" y="1663700"/>
            <a:ext cx="6435852" cy="256530"/>
          </a:xfrm>
          <a:prstGeom prst="rect">
            <a:avLst/>
          </a:prstGeom>
          <a:noFill/>
          <a:ln/>
        </p:spPr>
        <p:txBody>
          <a:bodyPr wrap="square" lIns="0" tIns="0" rIns="0" bIns="0" rtlCol="0" anchor="t">
            <a:normAutofit/>
          </a:bodyPr>
          <a:lstStyle/>
          <a:p>
            <a:pPr algn="l" indent="0" marL="0">
              <a:lnSpc>
                <a:spcPts val="1820"/>
              </a:lnSpc>
              <a:buNone/>
            </a:pPr>
            <a:r>
              <a:rPr lang="en-US" sz="1300" i="1" dirty="0">
                <a:solidFill>
                  <a:srgbClr val="21273F"/>
                </a:solidFill>
                <a:latin typeface="Inter" pitchFamily="34" charset="0"/>
                <a:ea typeface="Inter" pitchFamily="34" charset="-122"/>
                <a:cs typeface="Inter" pitchFamily="34" charset="-120"/>
              </a:rPr>
              <a:t>“Res. back from weekend pass, appears well, attending NA 3x/wk”</a:t>
            </a:r>
            <a:endParaRPr lang="en-US" sz="1300" dirty="0"/>
          </a:p>
        </p:txBody>
      </p:sp>
      <p:sp>
        <p:nvSpPr>
          <p:cNvPr id="5" name="Text 3"/>
          <p:cNvSpPr/>
          <p:nvPr/>
        </p:nvSpPr>
        <p:spPr>
          <a:xfrm>
            <a:off x="990600" y="1971030"/>
            <a:ext cx="1287859" cy="264120"/>
          </a:xfrm>
          <a:custGeom>
            <a:avLst/>
            <a:gdLst/>
            <a:ahLst/>
            <a:cxnLst/>
            <a:rect l="l" t="t" r="r" b="b"/>
            <a:pathLst>
              <a:path w="1287859" h="264120">
                <a:moveTo>
                  <a:pt x="132060" y="0"/>
                </a:moveTo>
                <a:lnTo>
                  <a:pt x="1155799" y="0"/>
                </a:lnTo>
                <a:arcTo hR="132060" wR="132060" stAng="16200000" swAng="5400000"/>
                <a:lnTo>
                  <a:pt x="1287859" y="132060"/>
                </a:lnTo>
                <a:arcTo hR="132060" wR="132060" stAng="0" swAng="5400000"/>
                <a:lnTo>
                  <a:pt x="132060" y="264120"/>
                </a:lnTo>
                <a:arcTo hR="132060" wR="132060" stAng="5400000" swAng="5400000"/>
                <a:lnTo>
                  <a:pt x="0" y="132060"/>
                </a:lnTo>
                <a:arcTo hR="132060" wR="132060" stAng="10800000" swAng="5400000"/>
                <a:close/>
              </a:path>
            </a:pathLst>
          </a:custGeom>
          <a:solidFill>
            <a:srgbClr val="EEF4FC"/>
          </a:solidFill>
          <a:ln/>
        </p:spPr>
        <p:txBody>
          <a:bodyPr wrap="none" lIns="0" tIns="0" rIns="0" bIns="0" rtlCol="0" anchor="ctr">
            <a:normAutofit/>
          </a:bodyPr>
          <a:lstStyle/>
          <a:p>
            <a:pPr algn="ctr" indent="0" marL="0">
              <a:lnSpc>
                <a:spcPts val="1680"/>
              </a:lnSpc>
              <a:buNone/>
            </a:pPr>
            <a:r>
              <a:rPr lang="en-US" sz="1200" dirty="0">
                <a:solidFill>
                  <a:srgbClr val="1C5CAB"/>
                </a:solidFill>
                <a:latin typeface="Inter" pitchFamily="34" charset="0"/>
                <a:ea typeface="Inter" pitchFamily="34" charset="-122"/>
                <a:cs typeface="Inter" pitchFamily="34" charset="-120"/>
              </a:rPr>
              <a:t>back from pass</a:t>
            </a:r>
            <a:endParaRPr lang="en-US" sz="1200" dirty="0"/>
          </a:p>
        </p:txBody>
      </p:sp>
      <p:sp>
        <p:nvSpPr>
          <p:cNvPr id="6" name="Text 4"/>
          <p:cNvSpPr/>
          <p:nvPr/>
        </p:nvSpPr>
        <p:spPr>
          <a:xfrm>
            <a:off x="2354659" y="1971030"/>
            <a:ext cx="923776" cy="264120"/>
          </a:xfrm>
          <a:custGeom>
            <a:avLst/>
            <a:gdLst/>
            <a:ahLst/>
            <a:cxnLst/>
            <a:rect l="l" t="t" r="r" b="b"/>
            <a:pathLst>
              <a:path w="923776" h="264120">
                <a:moveTo>
                  <a:pt x="132060" y="0"/>
                </a:moveTo>
                <a:lnTo>
                  <a:pt x="791716" y="0"/>
                </a:lnTo>
                <a:arcTo hR="132060" wR="132060" stAng="16200000" swAng="5400000"/>
                <a:lnTo>
                  <a:pt x="923776" y="132060"/>
                </a:lnTo>
                <a:arcTo hR="132060" wR="132060" stAng="0" swAng="5400000"/>
                <a:lnTo>
                  <a:pt x="132060" y="264120"/>
                </a:lnTo>
                <a:arcTo hR="132060" wR="132060" stAng="5400000" swAng="5400000"/>
                <a:lnTo>
                  <a:pt x="0" y="132060"/>
                </a:lnTo>
                <a:arcTo hR="132060" wR="132060" stAng="10800000" swAng="5400000"/>
                <a:close/>
              </a:path>
            </a:pathLst>
          </a:custGeom>
          <a:solidFill>
            <a:srgbClr val="EDF3EF"/>
          </a:solidFill>
          <a:ln/>
        </p:spPr>
        <p:txBody>
          <a:bodyPr wrap="none" lIns="0" tIns="0" rIns="0" bIns="0" rtlCol="0" anchor="ctr">
            <a:normAutofit/>
          </a:bodyPr>
          <a:lstStyle/>
          <a:p>
            <a:pPr algn="ctr" indent="0" marL="0">
              <a:lnSpc>
                <a:spcPts val="1680"/>
              </a:lnSpc>
              <a:buNone/>
            </a:pPr>
            <a:r>
              <a:rPr lang="en-US" sz="1200" dirty="0">
                <a:solidFill>
                  <a:srgbClr val="35522F"/>
                </a:solidFill>
                <a:latin typeface="Inter" pitchFamily="34" charset="0"/>
                <a:ea typeface="Inter" pitchFamily="34" charset="-122"/>
                <a:cs typeface="Inter" pitchFamily="34" charset="-120"/>
              </a:rPr>
              <a:t>doing well</a:t>
            </a:r>
            <a:endParaRPr lang="en-US" sz="1200" dirty="0"/>
          </a:p>
        </p:txBody>
      </p:sp>
      <p:sp>
        <p:nvSpPr>
          <p:cNvPr id="7" name="Text 5"/>
          <p:cNvSpPr/>
          <p:nvPr/>
        </p:nvSpPr>
        <p:spPr>
          <a:xfrm>
            <a:off x="3354636" y="1971030"/>
            <a:ext cx="1392386" cy="264120"/>
          </a:xfrm>
          <a:custGeom>
            <a:avLst/>
            <a:gdLst/>
            <a:ahLst/>
            <a:cxnLst/>
            <a:rect l="l" t="t" r="r" b="b"/>
            <a:pathLst>
              <a:path w="1392386" h="264120">
                <a:moveTo>
                  <a:pt x="132060" y="0"/>
                </a:moveTo>
                <a:lnTo>
                  <a:pt x="1260326" y="0"/>
                </a:lnTo>
                <a:arcTo hR="132060" wR="132060" stAng="16200000" swAng="5400000"/>
                <a:lnTo>
                  <a:pt x="1392386" y="132060"/>
                </a:lnTo>
                <a:arcTo hR="132060" wR="132060" stAng="0" swAng="5400000"/>
                <a:lnTo>
                  <a:pt x="132060" y="264120"/>
                </a:lnTo>
                <a:arcTo hR="132060" wR="132060" stAng="5400000" swAng="5400000"/>
                <a:lnTo>
                  <a:pt x="0" y="132060"/>
                </a:lnTo>
                <a:arcTo hR="132060" wR="132060" stAng="10800000" swAng="5400000"/>
                <a:close/>
              </a:path>
            </a:pathLst>
          </a:custGeom>
          <a:solidFill>
            <a:srgbClr val="EDF3EF"/>
          </a:solidFill>
          <a:ln/>
        </p:spPr>
        <p:txBody>
          <a:bodyPr wrap="none" lIns="0" tIns="0" rIns="0" bIns="0" rtlCol="0" anchor="ctr">
            <a:normAutofit/>
          </a:bodyPr>
          <a:lstStyle/>
          <a:p>
            <a:pPr algn="ctr" indent="0" marL="0">
              <a:lnSpc>
                <a:spcPts val="1680"/>
              </a:lnSpc>
              <a:buNone/>
            </a:pPr>
            <a:r>
              <a:rPr lang="en-US" sz="1200" dirty="0">
                <a:solidFill>
                  <a:srgbClr val="35522F"/>
                </a:solidFill>
                <a:latin typeface="Inter" pitchFamily="34" charset="0"/>
                <a:ea typeface="Inter" pitchFamily="34" charset="-122"/>
                <a:cs typeface="Inter" pitchFamily="34" charset="-120"/>
              </a:rPr>
              <a:t>attending groups</a:t>
            </a:r>
            <a:endParaRPr lang="en-US" sz="1200" dirty="0"/>
          </a:p>
        </p:txBody>
      </p:sp>
      <p:sp>
        <p:nvSpPr>
          <p:cNvPr id="8" name="Shape 6"/>
          <p:cNvSpPr/>
          <p:nvPr/>
        </p:nvSpPr>
        <p:spPr>
          <a:xfrm>
            <a:off x="812800" y="2514550"/>
            <a:ext cx="6604000" cy="876250"/>
          </a:xfrm>
          <a:prstGeom prst="roundRect">
            <a:avLst>
              <a:gd name="adj" fmla="val 11595"/>
            </a:avLst>
          </a:prstGeom>
          <a:solidFill>
            <a:srgbClr val="F7F5FB"/>
          </a:solidFill>
          <a:ln/>
        </p:spPr>
      </p:sp>
      <p:sp>
        <p:nvSpPr>
          <p:cNvPr id="9" name="Text 7"/>
          <p:cNvSpPr/>
          <p:nvPr/>
        </p:nvSpPr>
        <p:spPr>
          <a:xfrm>
            <a:off x="990600" y="2666950"/>
            <a:ext cx="6435852" cy="256530"/>
          </a:xfrm>
          <a:prstGeom prst="rect">
            <a:avLst/>
          </a:prstGeom>
          <a:noFill/>
          <a:ln/>
        </p:spPr>
        <p:txBody>
          <a:bodyPr wrap="square" lIns="0" tIns="0" rIns="0" bIns="0" rtlCol="0" anchor="t">
            <a:normAutofit/>
          </a:bodyPr>
          <a:lstStyle/>
          <a:p>
            <a:pPr algn="l" indent="0" marL="0">
              <a:lnSpc>
                <a:spcPts val="1820"/>
              </a:lnSpc>
              <a:buNone/>
            </a:pPr>
            <a:r>
              <a:rPr lang="en-US" sz="1300" i="1" dirty="0">
                <a:solidFill>
                  <a:srgbClr val="21273F"/>
                </a:solidFill>
                <a:latin typeface="Inter" pitchFamily="34" charset="0"/>
                <a:ea typeface="Inter" pitchFamily="34" charset="-122"/>
                <a:cs typeface="Inter" pitchFamily="34" charset="-120"/>
              </a:rPr>
              <a:t>“Self-discharged. Stated wanted to go home.”</a:t>
            </a:r>
            <a:endParaRPr lang="en-US" sz="1300" dirty="0"/>
          </a:p>
        </p:txBody>
      </p:sp>
      <p:sp>
        <p:nvSpPr>
          <p:cNvPr id="10" name="Text 8"/>
          <p:cNvSpPr/>
          <p:nvPr/>
        </p:nvSpPr>
        <p:spPr>
          <a:xfrm>
            <a:off x="990600" y="2974280"/>
            <a:ext cx="1147961" cy="264120"/>
          </a:xfrm>
          <a:custGeom>
            <a:avLst/>
            <a:gdLst/>
            <a:ahLst/>
            <a:cxnLst/>
            <a:rect l="l" t="t" r="r" b="b"/>
            <a:pathLst>
              <a:path w="1147961" h="264120">
                <a:moveTo>
                  <a:pt x="132060" y="0"/>
                </a:moveTo>
                <a:lnTo>
                  <a:pt x="1015901" y="0"/>
                </a:lnTo>
                <a:arcTo hR="132060" wR="132060" stAng="16200000" swAng="5400000"/>
                <a:lnTo>
                  <a:pt x="1147961" y="132060"/>
                </a:lnTo>
                <a:arcTo hR="132060" wR="132060" stAng="0" swAng="5400000"/>
                <a:lnTo>
                  <a:pt x="132060" y="264120"/>
                </a:lnTo>
                <a:arcTo hR="132060" wR="132060" stAng="5400000" swAng="5400000"/>
                <a:lnTo>
                  <a:pt x="0" y="132060"/>
                </a:lnTo>
                <a:arcTo hR="132060" wR="132060" stAng="10800000" swAng="5400000"/>
                <a:close/>
              </a:path>
            </a:pathLst>
          </a:custGeom>
          <a:solidFill>
            <a:srgbClr val="FDF0EA"/>
          </a:solidFill>
          <a:ln/>
        </p:spPr>
        <p:txBody>
          <a:bodyPr wrap="none" lIns="0" tIns="0" rIns="0" bIns="0" rtlCol="0" anchor="ctr">
            <a:normAutofit/>
          </a:bodyPr>
          <a:lstStyle/>
          <a:p>
            <a:pPr algn="ctr" indent="0" marL="0">
              <a:lnSpc>
                <a:spcPts val="1680"/>
              </a:lnSpc>
              <a:buNone/>
            </a:pPr>
            <a:r>
              <a:rPr lang="en-US" sz="1200" dirty="0">
                <a:solidFill>
                  <a:srgbClr val="B4501F"/>
                </a:solidFill>
                <a:latin typeface="Inter" pitchFamily="34" charset="0"/>
                <a:ea typeface="Inter" pitchFamily="34" charset="-122"/>
                <a:cs typeface="Inter" pitchFamily="34" charset="-120"/>
              </a:rPr>
              <a:t>left by choice</a:t>
            </a:r>
            <a:endParaRPr lang="en-US" sz="1200" dirty="0"/>
          </a:p>
        </p:txBody>
      </p:sp>
      <p:sp>
        <p:nvSpPr>
          <p:cNvPr id="11" name="Text 9"/>
          <p:cNvSpPr/>
          <p:nvPr/>
        </p:nvSpPr>
        <p:spPr>
          <a:xfrm>
            <a:off x="2214761" y="2974280"/>
            <a:ext cx="1798836" cy="264120"/>
          </a:xfrm>
          <a:custGeom>
            <a:avLst/>
            <a:gdLst/>
            <a:ahLst/>
            <a:cxnLst/>
            <a:rect l="l" t="t" r="r" b="b"/>
            <a:pathLst>
              <a:path w="1798836" h="264120">
                <a:moveTo>
                  <a:pt x="132060" y="0"/>
                </a:moveTo>
                <a:lnTo>
                  <a:pt x="1666776" y="0"/>
                </a:lnTo>
                <a:arcTo hR="132060" wR="132060" stAng="16200000" swAng="5400000"/>
                <a:lnTo>
                  <a:pt x="1798836" y="132060"/>
                </a:lnTo>
                <a:arcTo hR="132060" wR="132060" stAng="0" swAng="5400000"/>
                <a:lnTo>
                  <a:pt x="132060" y="264120"/>
                </a:lnTo>
                <a:arcTo hR="132060" wR="132060" stAng="5400000" swAng="5400000"/>
                <a:lnTo>
                  <a:pt x="0" y="132060"/>
                </a:lnTo>
                <a:arcTo hR="132060" wR="132060" stAng="10800000" swAng="5400000"/>
                <a:close/>
              </a:path>
            </a:pathLst>
          </a:custGeom>
          <a:solidFill>
            <a:srgbClr val="EDF3EF"/>
          </a:solidFill>
          <a:ln/>
        </p:spPr>
        <p:txBody>
          <a:bodyPr wrap="none" lIns="0" tIns="0" rIns="0" bIns="0" rtlCol="0" anchor="ctr">
            <a:normAutofit/>
          </a:bodyPr>
          <a:lstStyle/>
          <a:p>
            <a:pPr algn="ctr" indent="0" marL="0">
              <a:lnSpc>
                <a:spcPts val="1680"/>
              </a:lnSpc>
              <a:buNone/>
            </a:pPr>
            <a:r>
              <a:rPr lang="en-US" sz="1200" dirty="0">
                <a:solidFill>
                  <a:srgbClr val="35522F"/>
                </a:solidFill>
                <a:latin typeface="Inter" pitchFamily="34" charset="0"/>
                <a:ea typeface="Inter" pitchFamily="34" charset="-122"/>
                <a:cs typeface="Inter" pitchFamily="34" charset="-120"/>
              </a:rPr>
              <a:t>went home or to family</a:t>
            </a:r>
            <a:endParaRPr lang="en-US" sz="1200" dirty="0"/>
          </a:p>
        </p:txBody>
      </p:sp>
      <p:sp>
        <p:nvSpPr>
          <p:cNvPr id="12" name="Shape 10"/>
          <p:cNvSpPr/>
          <p:nvPr/>
        </p:nvSpPr>
        <p:spPr>
          <a:xfrm>
            <a:off x="812800" y="3517801"/>
            <a:ext cx="6604000" cy="876250"/>
          </a:xfrm>
          <a:prstGeom prst="roundRect">
            <a:avLst>
              <a:gd name="adj" fmla="val 11595"/>
            </a:avLst>
          </a:prstGeom>
          <a:solidFill>
            <a:srgbClr val="F7F5FB"/>
          </a:solidFill>
          <a:ln/>
        </p:spPr>
      </p:sp>
      <p:sp>
        <p:nvSpPr>
          <p:cNvPr id="13" name="Text 11"/>
          <p:cNvSpPr/>
          <p:nvPr/>
        </p:nvSpPr>
        <p:spPr>
          <a:xfrm>
            <a:off x="990600" y="3670201"/>
            <a:ext cx="6435852" cy="256530"/>
          </a:xfrm>
          <a:prstGeom prst="rect">
            <a:avLst/>
          </a:prstGeom>
          <a:noFill/>
          <a:ln/>
        </p:spPr>
        <p:txBody>
          <a:bodyPr wrap="square" lIns="0" tIns="0" rIns="0" bIns="0" rtlCol="0" anchor="t">
            <a:normAutofit/>
          </a:bodyPr>
          <a:lstStyle/>
          <a:p>
            <a:pPr algn="l" indent="0" marL="0">
              <a:lnSpc>
                <a:spcPts val="1820"/>
              </a:lnSpc>
              <a:buNone/>
            </a:pPr>
            <a:r>
              <a:rPr lang="en-US" sz="1300" i="1" dirty="0">
                <a:solidFill>
                  <a:srgbClr val="21273F"/>
                </a:solidFill>
                <a:latin typeface="Inter" pitchFamily="34" charset="0"/>
                <a:ea typeface="Inter" pitchFamily="34" charset="-122"/>
                <a:cs typeface="Inter" pitchFamily="34" charset="-120"/>
              </a:rPr>
              <a:t>“Called x3, no answer, mailbox full. Closing.”</a:t>
            </a:r>
            <a:endParaRPr lang="en-US" sz="1300" dirty="0"/>
          </a:p>
        </p:txBody>
      </p:sp>
      <p:sp>
        <p:nvSpPr>
          <p:cNvPr id="14" name="Text 12"/>
          <p:cNvSpPr/>
          <p:nvPr/>
        </p:nvSpPr>
        <p:spPr>
          <a:xfrm>
            <a:off x="990600" y="3977531"/>
            <a:ext cx="2141587" cy="264120"/>
          </a:xfrm>
          <a:custGeom>
            <a:avLst/>
            <a:gdLst/>
            <a:ahLst/>
            <a:cxnLst/>
            <a:rect l="l" t="t" r="r" b="b"/>
            <a:pathLst>
              <a:path w="2141587" h="264120">
                <a:moveTo>
                  <a:pt x="132060" y="0"/>
                </a:moveTo>
                <a:lnTo>
                  <a:pt x="2009527" y="0"/>
                </a:lnTo>
                <a:arcTo hR="132060" wR="132060" stAng="16200000" swAng="5400000"/>
                <a:lnTo>
                  <a:pt x="2141587" y="132060"/>
                </a:lnTo>
                <a:arcTo hR="132060" wR="132060" stAng="0" swAng="5400000"/>
                <a:lnTo>
                  <a:pt x="132060" y="264120"/>
                </a:lnTo>
                <a:arcTo hR="132060" wR="132060" stAng="5400000" swAng="5400000"/>
                <a:lnTo>
                  <a:pt x="0" y="132060"/>
                </a:lnTo>
                <a:arcTo hR="132060" wR="132060" stAng="10800000" swAng="5400000"/>
                <a:close/>
              </a:path>
            </a:pathLst>
          </a:custGeom>
          <a:solidFill>
            <a:srgbClr val="FDF0EA"/>
          </a:solidFill>
          <a:ln/>
        </p:spPr>
        <p:txBody>
          <a:bodyPr wrap="none" lIns="0" tIns="0" rIns="0" bIns="0" rtlCol="0" anchor="ctr">
            <a:normAutofit/>
          </a:bodyPr>
          <a:lstStyle/>
          <a:p>
            <a:pPr algn="ctr" indent="0" marL="0">
              <a:lnSpc>
                <a:spcPts val="1680"/>
              </a:lnSpc>
              <a:buNone/>
            </a:pPr>
            <a:r>
              <a:rPr lang="en-US" sz="1200" dirty="0">
                <a:solidFill>
                  <a:srgbClr val="B4501F"/>
                </a:solidFill>
                <a:latin typeface="Inter" pitchFamily="34" charset="0"/>
                <a:ea typeface="Inter" pitchFamily="34" charset="-122"/>
                <a:cs typeface="Inter" pitchFamily="34" charset="-120"/>
              </a:rPr>
              <a:t>referral closed: unreachable</a:t>
            </a:r>
            <a:endParaRPr lang="en-US" sz="1200" dirty="0"/>
          </a:p>
        </p:txBody>
      </p:sp>
      <p:sp>
        <p:nvSpPr>
          <p:cNvPr id="15" name="Shape 13"/>
          <p:cNvSpPr/>
          <p:nvPr/>
        </p:nvSpPr>
        <p:spPr>
          <a:xfrm>
            <a:off x="812800" y="4521051"/>
            <a:ext cx="6604000" cy="876250"/>
          </a:xfrm>
          <a:prstGeom prst="roundRect">
            <a:avLst>
              <a:gd name="adj" fmla="val 11595"/>
            </a:avLst>
          </a:prstGeom>
          <a:solidFill>
            <a:srgbClr val="F7F5FB"/>
          </a:solidFill>
          <a:ln/>
        </p:spPr>
      </p:sp>
      <p:sp>
        <p:nvSpPr>
          <p:cNvPr id="16" name="Text 14"/>
          <p:cNvSpPr/>
          <p:nvPr/>
        </p:nvSpPr>
        <p:spPr>
          <a:xfrm>
            <a:off x="990600" y="4673451"/>
            <a:ext cx="6435852" cy="256530"/>
          </a:xfrm>
          <a:prstGeom prst="rect">
            <a:avLst/>
          </a:prstGeom>
          <a:noFill/>
          <a:ln/>
        </p:spPr>
        <p:txBody>
          <a:bodyPr wrap="square" lIns="0" tIns="0" rIns="0" bIns="0" rtlCol="0" anchor="t">
            <a:normAutofit/>
          </a:bodyPr>
          <a:lstStyle/>
          <a:p>
            <a:pPr algn="l" indent="0" marL="0">
              <a:lnSpc>
                <a:spcPts val="1820"/>
              </a:lnSpc>
              <a:buNone/>
            </a:pPr>
            <a:r>
              <a:rPr lang="en-US" sz="1300" i="1" dirty="0">
                <a:solidFill>
                  <a:srgbClr val="21273F"/>
                </a:solidFill>
                <a:latin typeface="Inter" pitchFamily="34" charset="0"/>
                <a:ea typeface="Inter" pitchFamily="34" charset="-122"/>
                <a:cs typeface="Inter" pitchFamily="34" charset="-120"/>
              </a:rPr>
              <a:t>“Weekend pass approved for a family visit.”</a:t>
            </a:r>
            <a:endParaRPr lang="en-US" sz="1300" dirty="0"/>
          </a:p>
        </p:txBody>
      </p:sp>
      <p:sp>
        <p:nvSpPr>
          <p:cNvPr id="17" name="Text 15"/>
          <p:cNvSpPr/>
          <p:nvPr/>
        </p:nvSpPr>
        <p:spPr>
          <a:xfrm>
            <a:off x="990600" y="4980781"/>
            <a:ext cx="2209105" cy="264120"/>
          </a:xfrm>
          <a:custGeom>
            <a:avLst/>
            <a:gdLst/>
            <a:ahLst/>
            <a:cxnLst/>
            <a:rect l="l" t="t" r="r" b="b"/>
            <a:pathLst>
              <a:path w="2209105" h="264120">
                <a:moveTo>
                  <a:pt x="132060" y="0"/>
                </a:moveTo>
                <a:lnTo>
                  <a:pt x="2077045" y="0"/>
                </a:lnTo>
                <a:arcTo hR="132060" wR="132060" stAng="16200000" swAng="5400000"/>
                <a:lnTo>
                  <a:pt x="2209105" y="132060"/>
                </a:lnTo>
                <a:arcTo hR="132060" wR="132060" stAng="0" swAng="5400000"/>
                <a:lnTo>
                  <a:pt x="132060" y="264120"/>
                </a:lnTo>
                <a:arcTo hR="132060" wR="132060" stAng="5400000" swAng="5400000"/>
                <a:lnTo>
                  <a:pt x="0" y="132060"/>
                </a:lnTo>
                <a:arcTo hR="132060" wR="132060" stAng="10800000" swAng="5400000"/>
                <a:close/>
              </a:path>
            </a:pathLst>
          </a:custGeom>
          <a:solidFill>
            <a:srgbClr val="ECEAF2"/>
          </a:solidFill>
          <a:ln/>
        </p:spPr>
        <p:txBody>
          <a:bodyPr wrap="none" lIns="0" tIns="0" rIns="0" bIns="0" rtlCol="0" anchor="ctr">
            <a:normAutofit/>
          </a:bodyPr>
          <a:lstStyle/>
          <a:p>
            <a:pPr algn="ctr" indent="0" marL="0">
              <a:lnSpc>
                <a:spcPts val="1680"/>
              </a:lnSpc>
              <a:buNone/>
            </a:pPr>
            <a:r>
              <a:rPr lang="en-US" sz="1200" dirty="0">
                <a:solidFill>
                  <a:srgbClr val="54586B"/>
                </a:solidFill>
                <a:latin typeface="Inter" pitchFamily="34" charset="0"/>
                <a:ea typeface="Inter" pitchFamily="34" charset="-122"/>
                <a:cs typeface="Inter" pitchFamily="34" charset="-120"/>
              </a:rPr>
              <a:t>nothing: approved isn’t taken</a:t>
            </a:r>
            <a:endParaRPr lang="en-US" sz="1200" dirty="0"/>
          </a:p>
        </p:txBody>
      </p:sp>
      <p:sp>
        <p:nvSpPr>
          <p:cNvPr id="18" name="Text 16"/>
          <p:cNvSpPr/>
          <p:nvPr/>
        </p:nvSpPr>
        <p:spPr>
          <a:xfrm>
            <a:off x="7874000" y="1511300"/>
            <a:ext cx="361035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30302"/>
                </a:solidFill>
                <a:latin typeface="Inter" pitchFamily="34" charset="0"/>
                <a:ea typeface="Inter" pitchFamily="34" charset="-122"/>
                <a:cs typeface="Inter" pitchFamily="34" charset="-120"/>
              </a:rPr>
              <a:t>In the house</a:t>
            </a:r>
            <a:endParaRPr lang="en-US" sz="1600" dirty="0"/>
          </a:p>
        </p:txBody>
      </p:sp>
      <p:sp>
        <p:nvSpPr>
          <p:cNvPr id="19" name="Text 17"/>
          <p:cNvSpPr/>
          <p:nvPr/>
        </p:nvSpPr>
        <p:spPr>
          <a:xfrm>
            <a:off x="7874000" y="1805930"/>
            <a:ext cx="3610356"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54586B"/>
                </a:solidFill>
                <a:latin typeface="Inter" pitchFamily="34" charset="0"/>
                <a:ea typeface="Inter" pitchFamily="34" charset="-122"/>
                <a:cs typeface="Inter" pitchFamily="34" charset="-120"/>
              </a:rPr>
              <a:t>Meetings and groups, passes, incidents, mood and risk flags</a:t>
            </a:r>
            <a:endParaRPr lang="en-US" sz="1300" dirty="0"/>
          </a:p>
        </p:txBody>
      </p:sp>
      <p:sp>
        <p:nvSpPr>
          <p:cNvPr id="20" name="Text 18"/>
          <p:cNvSpPr/>
          <p:nvPr/>
        </p:nvSpPr>
        <p:spPr>
          <a:xfrm>
            <a:off x="7874000" y="2462461"/>
            <a:ext cx="361035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30302"/>
                </a:solidFill>
                <a:latin typeface="Inter" pitchFamily="34" charset="0"/>
                <a:ea typeface="Inter" pitchFamily="34" charset="-122"/>
                <a:cs typeface="Inter" pitchFamily="34" charset="-120"/>
              </a:rPr>
              <a:t>After leaving</a:t>
            </a:r>
            <a:endParaRPr lang="en-US" sz="1600" dirty="0"/>
          </a:p>
        </p:txBody>
      </p:sp>
      <p:sp>
        <p:nvSpPr>
          <p:cNvPr id="21" name="Text 19"/>
          <p:cNvSpPr/>
          <p:nvPr/>
        </p:nvSpPr>
        <p:spPr>
          <a:xfrm>
            <a:off x="7874000" y="2757091"/>
            <a:ext cx="3610356" cy="26476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54586B"/>
                </a:solidFill>
                <a:latin typeface="Inter" pitchFamily="34" charset="0"/>
                <a:ea typeface="Inter" pitchFamily="34" charset="-122"/>
                <a:cs typeface="Inter" pitchFamily="34" charset="-120"/>
              </a:rPr>
              <a:t>Why they left, where they went next</a:t>
            </a:r>
            <a:endParaRPr lang="en-US" sz="1300" dirty="0"/>
          </a:p>
        </p:txBody>
      </p:sp>
      <p:sp>
        <p:nvSpPr>
          <p:cNvPr id="22" name="Text 20"/>
          <p:cNvSpPr/>
          <p:nvPr/>
        </p:nvSpPr>
        <p:spPr>
          <a:xfrm>
            <a:off x="7874000" y="3174256"/>
            <a:ext cx="361035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30302"/>
                </a:solidFill>
                <a:latin typeface="Inter" pitchFamily="34" charset="0"/>
                <a:ea typeface="Inter" pitchFamily="34" charset="-122"/>
                <a:cs typeface="Inter" pitchFamily="34" charset="-120"/>
              </a:rPr>
              <a:t>Referrals not admitted</a:t>
            </a:r>
            <a:endParaRPr lang="en-US" sz="1600" dirty="0"/>
          </a:p>
        </p:txBody>
      </p:sp>
      <p:sp>
        <p:nvSpPr>
          <p:cNvPr id="23" name="Text 21"/>
          <p:cNvSpPr/>
          <p:nvPr/>
        </p:nvSpPr>
        <p:spPr>
          <a:xfrm>
            <a:off x="7874000" y="3468886"/>
            <a:ext cx="3610356" cy="26476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54586B"/>
                </a:solidFill>
                <a:latin typeface="Inter" pitchFamily="34" charset="0"/>
                <a:ea typeface="Inter" pitchFamily="34" charset="-122"/>
                <a:cs typeface="Inter" pitchFamily="34" charset="-120"/>
              </a:rPr>
              <a:t>Still open or closed, and why</a:t>
            </a:r>
            <a:endParaRPr lang="en-US" sz="1300" dirty="0"/>
          </a:p>
        </p:txBody>
      </p:sp>
      <p:sp>
        <p:nvSpPr>
          <p:cNvPr id="24" name="Text 22"/>
          <p:cNvSpPr/>
          <p:nvPr/>
        </p:nvSpPr>
        <p:spPr>
          <a:xfrm>
            <a:off x="7874000" y="3886051"/>
            <a:ext cx="3610356" cy="6882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7E7D91"/>
                </a:solidFill>
                <a:latin typeface="Inter" pitchFamily="34" charset="0"/>
                <a:ea typeface="Inter" pitchFamily="34" charset="-122"/>
                <a:cs typeface="Inter" pitchFamily="34" charset="-120"/>
              </a:rPr>
              <a:t>Which fields can apply depends on where the person is, so an old incident is never read as a current risk.</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5FB"/>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30302"/>
                </a:solidFill>
                <a:latin typeface="Inter" pitchFamily="34" charset="0"/>
                <a:ea typeface="Inter" pitchFamily="34" charset="-122"/>
                <a:cs typeface="Inter" pitchFamily="34" charset="-120"/>
              </a:rPr>
              <a:t>Notes become metrics, labelled as AI-assisted</a:t>
            </a:r>
            <a:endParaRPr lang="en-US" sz="3000" dirty="0"/>
          </a:p>
        </p:txBody>
      </p:sp>
      <p:sp>
        <p:nvSpPr>
          <p:cNvPr id="3" name="Text 1"/>
          <p:cNvSpPr/>
          <p:nvPr/>
        </p:nvSpPr>
        <p:spPr>
          <a:xfrm>
            <a:off x="812800" y="1536700"/>
            <a:ext cx="6409690"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446A3F"/>
                </a:solidFill>
                <a:latin typeface="Inter" pitchFamily="34" charset="0"/>
                <a:ea typeface="Inter" pitchFamily="34" charset="-122"/>
                <a:cs typeface="Inter" pitchFamily="34" charset="-120"/>
              </a:rPr>
              <a:t>WHY FY2025 REFERRALS WEREN’T ADMITTED</a:t>
            </a:r>
            <a:endParaRPr lang="en-US" sz="1200" dirty="0"/>
          </a:p>
        </p:txBody>
      </p:sp>
      <p:sp>
        <p:nvSpPr>
          <p:cNvPr id="4" name="Text 2"/>
          <p:cNvSpPr/>
          <p:nvPr/>
        </p:nvSpPr>
        <p:spPr>
          <a:xfrm>
            <a:off x="812800" y="1838920"/>
            <a:ext cx="17659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1273F"/>
                </a:solidFill>
                <a:latin typeface="Inter" pitchFamily="34" charset="0"/>
                <a:ea typeface="Inter" pitchFamily="34" charset="-122"/>
                <a:cs typeface="Inter" pitchFamily="34" charset="-120"/>
              </a:rPr>
              <a:t>No-show</a:t>
            </a:r>
            <a:endParaRPr lang="en-US" sz="1200" dirty="0"/>
          </a:p>
        </p:txBody>
      </p:sp>
      <p:sp>
        <p:nvSpPr>
          <p:cNvPr id="5" name="Shape 3"/>
          <p:cNvSpPr/>
          <p:nvPr/>
        </p:nvSpPr>
        <p:spPr>
          <a:xfrm>
            <a:off x="2654300" y="1888430"/>
            <a:ext cx="3556000" cy="114300"/>
          </a:xfrm>
          <a:prstGeom prst="roundRect">
            <a:avLst>
              <a:gd name="adj" fmla="val 50000"/>
            </a:avLst>
          </a:prstGeom>
          <a:solidFill>
            <a:srgbClr val="ECEAF2"/>
          </a:solidFill>
          <a:ln/>
        </p:spPr>
      </p:sp>
      <p:sp>
        <p:nvSpPr>
          <p:cNvPr id="6" name="Shape 4"/>
          <p:cNvSpPr/>
          <p:nvPr/>
        </p:nvSpPr>
        <p:spPr>
          <a:xfrm>
            <a:off x="2654300" y="1888430"/>
            <a:ext cx="3556000" cy="114300"/>
          </a:xfrm>
          <a:prstGeom prst="roundRect">
            <a:avLst>
              <a:gd name="adj" fmla="val 50000"/>
            </a:avLst>
          </a:prstGeom>
          <a:solidFill>
            <a:srgbClr val="EB6834"/>
          </a:solidFill>
          <a:ln/>
        </p:spPr>
      </p:sp>
      <p:sp>
        <p:nvSpPr>
          <p:cNvPr id="7" name="Text 5"/>
          <p:cNvSpPr/>
          <p:nvPr/>
        </p:nvSpPr>
        <p:spPr>
          <a:xfrm>
            <a:off x="6337300" y="1838920"/>
            <a:ext cx="20052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4586B"/>
                </a:solidFill>
                <a:latin typeface="Inter" pitchFamily="34" charset="0"/>
                <a:ea typeface="Inter" pitchFamily="34" charset="-122"/>
                <a:cs typeface="Inter" pitchFamily="34" charset="-120"/>
              </a:rPr>
              <a:t>16</a:t>
            </a:r>
            <a:endParaRPr lang="en-US" sz="1200" dirty="0"/>
          </a:p>
        </p:txBody>
      </p:sp>
      <p:sp>
        <p:nvSpPr>
          <p:cNvPr id="8" name="Text 6"/>
          <p:cNvSpPr/>
          <p:nvPr/>
        </p:nvSpPr>
        <p:spPr>
          <a:xfrm>
            <a:off x="812800" y="2141141"/>
            <a:ext cx="17659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1273F"/>
                </a:solidFill>
                <a:latin typeface="Inter" pitchFamily="34" charset="0"/>
                <a:ea typeface="Inter" pitchFamily="34" charset="-122"/>
                <a:cs typeface="Inter" pitchFamily="34" charset="-120"/>
              </a:rPr>
              <a:t>Waitlisted (open)</a:t>
            </a:r>
            <a:endParaRPr lang="en-US" sz="1200" dirty="0"/>
          </a:p>
        </p:txBody>
      </p:sp>
      <p:sp>
        <p:nvSpPr>
          <p:cNvPr id="9" name="Shape 7"/>
          <p:cNvSpPr/>
          <p:nvPr/>
        </p:nvSpPr>
        <p:spPr>
          <a:xfrm>
            <a:off x="2654300" y="2190651"/>
            <a:ext cx="3556000" cy="114300"/>
          </a:xfrm>
          <a:prstGeom prst="roundRect">
            <a:avLst>
              <a:gd name="adj" fmla="val 50000"/>
            </a:avLst>
          </a:prstGeom>
          <a:solidFill>
            <a:srgbClr val="ECEAF2"/>
          </a:solidFill>
          <a:ln/>
        </p:spPr>
      </p:sp>
      <p:sp>
        <p:nvSpPr>
          <p:cNvPr id="10" name="Shape 8"/>
          <p:cNvSpPr/>
          <p:nvPr/>
        </p:nvSpPr>
        <p:spPr>
          <a:xfrm>
            <a:off x="2654300" y="2190651"/>
            <a:ext cx="2667000" cy="114300"/>
          </a:xfrm>
          <a:prstGeom prst="roundRect">
            <a:avLst>
              <a:gd name="adj" fmla="val 50000"/>
            </a:avLst>
          </a:prstGeom>
          <a:solidFill>
            <a:srgbClr val="2A78D6"/>
          </a:solidFill>
          <a:ln/>
        </p:spPr>
      </p:sp>
      <p:sp>
        <p:nvSpPr>
          <p:cNvPr id="11" name="Text 9"/>
          <p:cNvSpPr/>
          <p:nvPr/>
        </p:nvSpPr>
        <p:spPr>
          <a:xfrm>
            <a:off x="6337300" y="2141141"/>
            <a:ext cx="19784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4586B"/>
                </a:solidFill>
                <a:latin typeface="Inter" pitchFamily="34" charset="0"/>
                <a:ea typeface="Inter" pitchFamily="34" charset="-122"/>
                <a:cs typeface="Inter" pitchFamily="34" charset="-120"/>
              </a:rPr>
              <a:t>12</a:t>
            </a:r>
            <a:endParaRPr lang="en-US" sz="1200" dirty="0"/>
          </a:p>
        </p:txBody>
      </p:sp>
      <p:sp>
        <p:nvSpPr>
          <p:cNvPr id="12" name="Text 10"/>
          <p:cNvSpPr/>
          <p:nvPr/>
        </p:nvSpPr>
        <p:spPr>
          <a:xfrm>
            <a:off x="812800" y="2443361"/>
            <a:ext cx="17659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1273F"/>
                </a:solidFill>
                <a:latin typeface="Inter" pitchFamily="34" charset="0"/>
                <a:ea typeface="Inter" pitchFamily="34" charset="-122"/>
                <a:cs typeface="Inter" pitchFamily="34" charset="-120"/>
              </a:rPr>
              <a:t>Unreachable</a:t>
            </a:r>
            <a:endParaRPr lang="en-US" sz="1200" dirty="0"/>
          </a:p>
        </p:txBody>
      </p:sp>
      <p:sp>
        <p:nvSpPr>
          <p:cNvPr id="13" name="Shape 11"/>
          <p:cNvSpPr/>
          <p:nvPr/>
        </p:nvSpPr>
        <p:spPr>
          <a:xfrm>
            <a:off x="2654300" y="2492871"/>
            <a:ext cx="3556000" cy="114300"/>
          </a:xfrm>
          <a:prstGeom prst="roundRect">
            <a:avLst>
              <a:gd name="adj" fmla="val 50000"/>
            </a:avLst>
          </a:prstGeom>
          <a:solidFill>
            <a:srgbClr val="ECEAF2"/>
          </a:solidFill>
          <a:ln/>
        </p:spPr>
      </p:sp>
      <p:sp>
        <p:nvSpPr>
          <p:cNvPr id="14" name="Shape 12"/>
          <p:cNvSpPr/>
          <p:nvPr/>
        </p:nvSpPr>
        <p:spPr>
          <a:xfrm>
            <a:off x="2654300" y="2492871"/>
            <a:ext cx="2444750" cy="114300"/>
          </a:xfrm>
          <a:prstGeom prst="roundRect">
            <a:avLst>
              <a:gd name="adj" fmla="val 50000"/>
            </a:avLst>
          </a:prstGeom>
          <a:solidFill>
            <a:srgbClr val="EB6834"/>
          </a:solidFill>
          <a:ln/>
        </p:spPr>
      </p:sp>
      <p:sp>
        <p:nvSpPr>
          <p:cNvPr id="15" name="Text 13"/>
          <p:cNvSpPr/>
          <p:nvPr/>
        </p:nvSpPr>
        <p:spPr>
          <a:xfrm>
            <a:off x="6337300" y="2443361"/>
            <a:ext cx="16728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4586B"/>
                </a:solidFill>
                <a:latin typeface="Inter" pitchFamily="34" charset="0"/>
                <a:ea typeface="Inter" pitchFamily="34" charset="-122"/>
                <a:cs typeface="Inter" pitchFamily="34" charset="-120"/>
              </a:rPr>
              <a:t>11</a:t>
            </a:r>
            <a:endParaRPr lang="en-US" sz="1200" dirty="0"/>
          </a:p>
        </p:txBody>
      </p:sp>
      <p:sp>
        <p:nvSpPr>
          <p:cNvPr id="16" name="Text 14"/>
          <p:cNvSpPr/>
          <p:nvPr/>
        </p:nvSpPr>
        <p:spPr>
          <a:xfrm>
            <a:off x="812800" y="2745581"/>
            <a:ext cx="17659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1273F"/>
                </a:solidFill>
                <a:latin typeface="Inter" pitchFamily="34" charset="0"/>
                <a:ea typeface="Inter" pitchFamily="34" charset="-122"/>
                <a:cs typeface="Inter" pitchFamily="34" charset="-120"/>
              </a:rPr>
              <a:t>Pending intake (open)</a:t>
            </a:r>
            <a:endParaRPr lang="en-US" sz="1200" dirty="0"/>
          </a:p>
        </p:txBody>
      </p:sp>
      <p:sp>
        <p:nvSpPr>
          <p:cNvPr id="17" name="Shape 15"/>
          <p:cNvSpPr/>
          <p:nvPr/>
        </p:nvSpPr>
        <p:spPr>
          <a:xfrm>
            <a:off x="2654300" y="2795091"/>
            <a:ext cx="3556000" cy="114300"/>
          </a:xfrm>
          <a:prstGeom prst="roundRect">
            <a:avLst>
              <a:gd name="adj" fmla="val 50000"/>
            </a:avLst>
          </a:prstGeom>
          <a:solidFill>
            <a:srgbClr val="ECEAF2"/>
          </a:solidFill>
          <a:ln/>
        </p:spPr>
      </p:sp>
      <p:sp>
        <p:nvSpPr>
          <p:cNvPr id="18" name="Shape 16"/>
          <p:cNvSpPr/>
          <p:nvPr/>
        </p:nvSpPr>
        <p:spPr>
          <a:xfrm>
            <a:off x="2654300" y="2795091"/>
            <a:ext cx="1778000" cy="114300"/>
          </a:xfrm>
          <a:prstGeom prst="roundRect">
            <a:avLst>
              <a:gd name="adj" fmla="val 50000"/>
            </a:avLst>
          </a:prstGeom>
          <a:solidFill>
            <a:srgbClr val="2A78D6"/>
          </a:solidFill>
          <a:ln/>
        </p:spPr>
      </p:sp>
      <p:sp>
        <p:nvSpPr>
          <p:cNvPr id="19" name="Text 17"/>
          <p:cNvSpPr/>
          <p:nvPr/>
        </p:nvSpPr>
        <p:spPr>
          <a:xfrm>
            <a:off x="6337300" y="2745581"/>
            <a:ext cx="14203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4586B"/>
                </a:solidFill>
                <a:latin typeface="Inter" pitchFamily="34" charset="0"/>
                <a:ea typeface="Inter" pitchFamily="34" charset="-122"/>
                <a:cs typeface="Inter" pitchFamily="34" charset="-120"/>
              </a:rPr>
              <a:t>8</a:t>
            </a:r>
            <a:endParaRPr lang="en-US" sz="1200" dirty="0"/>
          </a:p>
        </p:txBody>
      </p:sp>
      <p:sp>
        <p:nvSpPr>
          <p:cNvPr id="20" name="Text 18"/>
          <p:cNvSpPr/>
          <p:nvPr/>
        </p:nvSpPr>
        <p:spPr>
          <a:xfrm>
            <a:off x="812800" y="3047802"/>
            <a:ext cx="17659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1273F"/>
                </a:solidFill>
                <a:latin typeface="Inter" pitchFamily="34" charset="0"/>
                <a:ea typeface="Inter" pitchFamily="34" charset="-122"/>
                <a:cs typeface="Inter" pitchFamily="34" charset="-120"/>
              </a:rPr>
              <a:t>Declined</a:t>
            </a:r>
            <a:endParaRPr lang="en-US" sz="1200" dirty="0"/>
          </a:p>
        </p:txBody>
      </p:sp>
      <p:sp>
        <p:nvSpPr>
          <p:cNvPr id="21" name="Shape 19"/>
          <p:cNvSpPr/>
          <p:nvPr/>
        </p:nvSpPr>
        <p:spPr>
          <a:xfrm>
            <a:off x="2654300" y="3097312"/>
            <a:ext cx="3556000" cy="114300"/>
          </a:xfrm>
          <a:prstGeom prst="roundRect">
            <a:avLst>
              <a:gd name="adj" fmla="val 50000"/>
            </a:avLst>
          </a:prstGeom>
          <a:solidFill>
            <a:srgbClr val="ECEAF2"/>
          </a:solidFill>
          <a:ln/>
        </p:spPr>
      </p:sp>
      <p:sp>
        <p:nvSpPr>
          <p:cNvPr id="22" name="Shape 20"/>
          <p:cNvSpPr/>
          <p:nvPr/>
        </p:nvSpPr>
        <p:spPr>
          <a:xfrm>
            <a:off x="2654300" y="3097312"/>
            <a:ext cx="1333500" cy="114300"/>
          </a:xfrm>
          <a:prstGeom prst="roundRect">
            <a:avLst>
              <a:gd name="adj" fmla="val 50000"/>
            </a:avLst>
          </a:prstGeom>
          <a:solidFill>
            <a:srgbClr val="EB6834"/>
          </a:solidFill>
          <a:ln/>
        </p:spPr>
      </p:sp>
      <p:sp>
        <p:nvSpPr>
          <p:cNvPr id="23" name="Text 21"/>
          <p:cNvSpPr/>
          <p:nvPr/>
        </p:nvSpPr>
        <p:spPr>
          <a:xfrm>
            <a:off x="6337300" y="3047802"/>
            <a:ext cx="1422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4586B"/>
                </a:solidFill>
                <a:latin typeface="Inter" pitchFamily="34" charset="0"/>
                <a:ea typeface="Inter" pitchFamily="34" charset="-122"/>
                <a:cs typeface="Inter" pitchFamily="34" charset="-120"/>
              </a:rPr>
              <a:t>6</a:t>
            </a:r>
            <a:endParaRPr lang="en-US" sz="1200" dirty="0"/>
          </a:p>
        </p:txBody>
      </p:sp>
      <p:sp>
        <p:nvSpPr>
          <p:cNvPr id="24" name="Text 22"/>
          <p:cNvSpPr/>
          <p:nvPr/>
        </p:nvSpPr>
        <p:spPr>
          <a:xfrm>
            <a:off x="812800" y="3350022"/>
            <a:ext cx="17659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1273F"/>
                </a:solidFill>
                <a:latin typeface="Inter" pitchFamily="34" charset="0"/>
                <a:ea typeface="Inter" pitchFamily="34" charset="-122"/>
                <a:cs typeface="Inter" pitchFamily="34" charset="-120"/>
              </a:rPr>
              <a:t>Referred out</a:t>
            </a:r>
            <a:endParaRPr lang="en-US" sz="1200" dirty="0"/>
          </a:p>
        </p:txBody>
      </p:sp>
      <p:sp>
        <p:nvSpPr>
          <p:cNvPr id="25" name="Shape 23"/>
          <p:cNvSpPr/>
          <p:nvPr/>
        </p:nvSpPr>
        <p:spPr>
          <a:xfrm>
            <a:off x="2654300" y="3399532"/>
            <a:ext cx="3556000" cy="114300"/>
          </a:xfrm>
          <a:prstGeom prst="roundRect">
            <a:avLst>
              <a:gd name="adj" fmla="val 50000"/>
            </a:avLst>
          </a:prstGeom>
          <a:solidFill>
            <a:srgbClr val="ECEAF2"/>
          </a:solidFill>
          <a:ln/>
        </p:spPr>
      </p:sp>
      <p:sp>
        <p:nvSpPr>
          <p:cNvPr id="26" name="Shape 24"/>
          <p:cNvSpPr/>
          <p:nvPr/>
        </p:nvSpPr>
        <p:spPr>
          <a:xfrm>
            <a:off x="2654300" y="3399532"/>
            <a:ext cx="889000" cy="114300"/>
          </a:xfrm>
          <a:prstGeom prst="roundRect">
            <a:avLst>
              <a:gd name="adj" fmla="val 50000"/>
            </a:avLst>
          </a:prstGeom>
          <a:solidFill>
            <a:srgbClr val="EB6834"/>
          </a:solidFill>
          <a:ln/>
        </p:spPr>
      </p:sp>
      <p:sp>
        <p:nvSpPr>
          <p:cNvPr id="27" name="Text 25"/>
          <p:cNvSpPr/>
          <p:nvPr/>
        </p:nvSpPr>
        <p:spPr>
          <a:xfrm>
            <a:off x="6337300" y="3350022"/>
            <a:ext cx="14689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4586B"/>
                </a:solidFill>
                <a:latin typeface="Inter" pitchFamily="34" charset="0"/>
                <a:ea typeface="Inter" pitchFamily="34" charset="-122"/>
                <a:cs typeface="Inter" pitchFamily="34" charset="-120"/>
              </a:rPr>
              <a:t>4</a:t>
            </a:r>
            <a:endParaRPr lang="en-US" sz="1200" dirty="0"/>
          </a:p>
        </p:txBody>
      </p:sp>
      <p:sp>
        <p:nvSpPr>
          <p:cNvPr id="28" name="Text 26"/>
          <p:cNvSpPr/>
          <p:nvPr/>
        </p:nvSpPr>
        <p:spPr>
          <a:xfrm>
            <a:off x="812800" y="3652242"/>
            <a:ext cx="17659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1273F"/>
                </a:solidFill>
                <a:latin typeface="Inter" pitchFamily="34" charset="0"/>
                <a:ea typeface="Inter" pitchFamily="34" charset="-122"/>
                <a:cs typeface="Inter" pitchFamily="34" charset="-120"/>
              </a:rPr>
              <a:t>Not appropriate</a:t>
            </a:r>
            <a:endParaRPr lang="en-US" sz="1200" dirty="0"/>
          </a:p>
        </p:txBody>
      </p:sp>
      <p:sp>
        <p:nvSpPr>
          <p:cNvPr id="29" name="Shape 27"/>
          <p:cNvSpPr/>
          <p:nvPr/>
        </p:nvSpPr>
        <p:spPr>
          <a:xfrm>
            <a:off x="2654300" y="3701752"/>
            <a:ext cx="3556000" cy="114300"/>
          </a:xfrm>
          <a:prstGeom prst="roundRect">
            <a:avLst>
              <a:gd name="adj" fmla="val 50000"/>
            </a:avLst>
          </a:prstGeom>
          <a:solidFill>
            <a:srgbClr val="ECEAF2"/>
          </a:solidFill>
          <a:ln/>
        </p:spPr>
      </p:sp>
      <p:sp>
        <p:nvSpPr>
          <p:cNvPr id="30" name="Shape 28"/>
          <p:cNvSpPr/>
          <p:nvPr/>
        </p:nvSpPr>
        <p:spPr>
          <a:xfrm>
            <a:off x="2654300" y="3701752"/>
            <a:ext cx="666750" cy="114300"/>
          </a:xfrm>
          <a:prstGeom prst="roundRect">
            <a:avLst>
              <a:gd name="adj" fmla="val 50000"/>
            </a:avLst>
          </a:prstGeom>
          <a:solidFill>
            <a:srgbClr val="EB6834"/>
          </a:solidFill>
          <a:ln/>
        </p:spPr>
      </p:sp>
      <p:sp>
        <p:nvSpPr>
          <p:cNvPr id="31" name="Text 29"/>
          <p:cNvSpPr/>
          <p:nvPr/>
        </p:nvSpPr>
        <p:spPr>
          <a:xfrm>
            <a:off x="6337300" y="3652242"/>
            <a:ext cx="14332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4586B"/>
                </a:solidFill>
                <a:latin typeface="Inter" pitchFamily="34" charset="0"/>
                <a:ea typeface="Inter" pitchFamily="34" charset="-122"/>
                <a:cs typeface="Inter" pitchFamily="34" charset="-120"/>
              </a:rPr>
              <a:t>3</a:t>
            </a:r>
            <a:endParaRPr lang="en-US" sz="1200" dirty="0"/>
          </a:p>
        </p:txBody>
      </p:sp>
      <p:sp>
        <p:nvSpPr>
          <p:cNvPr id="32" name="Text 30"/>
          <p:cNvSpPr/>
          <p:nvPr/>
        </p:nvSpPr>
        <p:spPr>
          <a:xfrm>
            <a:off x="812800" y="3954463"/>
            <a:ext cx="17659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1273F"/>
                </a:solidFill>
                <a:latin typeface="Inter" pitchFamily="34" charset="0"/>
                <a:ea typeface="Inter" pitchFamily="34" charset="-122"/>
                <a:cs typeface="Inter" pitchFamily="34" charset="-120"/>
              </a:rPr>
              <a:t>No usable note</a:t>
            </a:r>
            <a:endParaRPr lang="en-US" sz="1200" dirty="0"/>
          </a:p>
        </p:txBody>
      </p:sp>
      <p:sp>
        <p:nvSpPr>
          <p:cNvPr id="33" name="Shape 31"/>
          <p:cNvSpPr/>
          <p:nvPr/>
        </p:nvSpPr>
        <p:spPr>
          <a:xfrm>
            <a:off x="2654300" y="4003973"/>
            <a:ext cx="3556000" cy="114300"/>
          </a:xfrm>
          <a:prstGeom prst="roundRect">
            <a:avLst>
              <a:gd name="adj" fmla="val 50000"/>
            </a:avLst>
          </a:prstGeom>
          <a:solidFill>
            <a:srgbClr val="ECEAF2"/>
          </a:solidFill>
          <a:ln/>
        </p:spPr>
      </p:sp>
      <p:sp>
        <p:nvSpPr>
          <p:cNvPr id="34" name="Shape 32"/>
          <p:cNvSpPr/>
          <p:nvPr/>
        </p:nvSpPr>
        <p:spPr>
          <a:xfrm>
            <a:off x="2654300" y="4003973"/>
            <a:ext cx="889000" cy="114300"/>
          </a:xfrm>
          <a:prstGeom prst="roundRect">
            <a:avLst>
              <a:gd name="adj" fmla="val 50000"/>
            </a:avLst>
          </a:prstGeom>
          <a:solidFill>
            <a:srgbClr val="A9A7B8"/>
          </a:solidFill>
          <a:ln/>
        </p:spPr>
      </p:sp>
      <p:sp>
        <p:nvSpPr>
          <p:cNvPr id="35" name="Text 33"/>
          <p:cNvSpPr/>
          <p:nvPr/>
        </p:nvSpPr>
        <p:spPr>
          <a:xfrm>
            <a:off x="6337300" y="3954463"/>
            <a:ext cx="14689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4586B"/>
                </a:solidFill>
                <a:latin typeface="Inter" pitchFamily="34" charset="0"/>
                <a:ea typeface="Inter" pitchFamily="34" charset="-122"/>
                <a:cs typeface="Inter" pitchFamily="34" charset="-120"/>
              </a:rPr>
              <a:t>4</a:t>
            </a:r>
            <a:endParaRPr lang="en-US" sz="1200" dirty="0"/>
          </a:p>
        </p:txBody>
      </p:sp>
      <p:sp>
        <p:nvSpPr>
          <p:cNvPr id="36" name="Text 34"/>
          <p:cNvSpPr/>
          <p:nvPr/>
        </p:nvSpPr>
        <p:spPr>
          <a:xfrm>
            <a:off x="812800" y="4256683"/>
            <a:ext cx="640969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E7D91"/>
                </a:solidFill>
                <a:latin typeface="Inter" pitchFamily="34" charset="0"/>
                <a:ea typeface="Inter" pitchFamily="34" charset="-122"/>
                <a:cs typeface="Inter" pitchFamily="34" charset="-120"/>
              </a:rPr>
              <a:t>64 referrals not admitted. Blue: still open. Orange: closed.</a:t>
            </a:r>
            <a:endParaRPr lang="en-US" sz="1200" dirty="0"/>
          </a:p>
        </p:txBody>
      </p:sp>
      <p:sp>
        <p:nvSpPr>
          <p:cNvPr id="37" name="Text 35"/>
          <p:cNvSpPr/>
          <p:nvPr/>
        </p:nvSpPr>
        <p:spPr>
          <a:xfrm>
            <a:off x="7645400" y="1536700"/>
            <a:ext cx="3845814"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446A3F"/>
                </a:solidFill>
                <a:latin typeface="Inter" pitchFamily="34" charset="0"/>
                <a:ea typeface="Inter" pitchFamily="34" charset="-122"/>
                <a:cs typeface="Inter" pitchFamily="34" charset="-120"/>
              </a:rPr>
              <a:t>IN THE HOUSE NOW, OF 15</a:t>
            </a:r>
            <a:endParaRPr lang="en-US" sz="1200" dirty="0"/>
          </a:p>
        </p:txBody>
      </p:sp>
      <p:sp>
        <p:nvSpPr>
          <p:cNvPr id="38" name="Text 36"/>
          <p:cNvSpPr/>
          <p:nvPr/>
        </p:nvSpPr>
        <p:spPr>
          <a:xfrm>
            <a:off x="7645400" y="1902420"/>
            <a:ext cx="660400"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030302"/>
                </a:solidFill>
                <a:latin typeface="Inter" pitchFamily="34" charset="0"/>
                <a:ea typeface="Inter" pitchFamily="34" charset="-122"/>
                <a:cs typeface="Inter" pitchFamily="34" charset="-120"/>
              </a:rPr>
              <a:t>4</a:t>
            </a:r>
            <a:endParaRPr lang="en-US" sz="3200" dirty="0"/>
          </a:p>
        </p:txBody>
      </p:sp>
      <p:sp>
        <p:nvSpPr>
          <p:cNvPr id="39" name="Text 37"/>
          <p:cNvSpPr/>
          <p:nvPr/>
        </p:nvSpPr>
        <p:spPr>
          <a:xfrm>
            <a:off x="8407400" y="2080220"/>
            <a:ext cx="2597408"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4586B"/>
                </a:solidFill>
                <a:latin typeface="Inter" pitchFamily="34" charset="0"/>
                <a:ea typeface="Inter" pitchFamily="34" charset="-122"/>
                <a:cs typeface="Inter" pitchFamily="34" charset="-120"/>
              </a:rPr>
              <a:t>attending meetings or groups</a:t>
            </a:r>
            <a:endParaRPr lang="en-US" sz="1300" dirty="0"/>
          </a:p>
        </p:txBody>
      </p:sp>
      <p:sp>
        <p:nvSpPr>
          <p:cNvPr id="40" name="Text 38"/>
          <p:cNvSpPr/>
          <p:nvPr/>
        </p:nvSpPr>
        <p:spPr>
          <a:xfrm>
            <a:off x="7645400" y="2463750"/>
            <a:ext cx="660400"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030302"/>
                </a:solidFill>
                <a:latin typeface="Inter" pitchFamily="34" charset="0"/>
                <a:ea typeface="Inter" pitchFamily="34" charset="-122"/>
                <a:cs typeface="Inter" pitchFamily="34" charset="-120"/>
              </a:rPr>
              <a:t>4</a:t>
            </a:r>
            <a:endParaRPr lang="en-US" sz="3200" dirty="0"/>
          </a:p>
        </p:txBody>
      </p:sp>
      <p:sp>
        <p:nvSpPr>
          <p:cNvPr id="41" name="Text 39"/>
          <p:cNvSpPr/>
          <p:nvPr/>
        </p:nvSpPr>
        <p:spPr>
          <a:xfrm>
            <a:off x="8407400" y="2641550"/>
            <a:ext cx="2063532"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4586B"/>
                </a:solidFill>
                <a:latin typeface="Inter" pitchFamily="34" charset="0"/>
                <a:ea typeface="Inter" pitchFamily="34" charset="-122"/>
                <a:cs typeface="Inter" pitchFamily="34" charset="-120"/>
              </a:rPr>
              <a:t>with a mood or risk flag</a:t>
            </a:r>
            <a:endParaRPr lang="en-US" sz="1300" dirty="0"/>
          </a:p>
        </p:txBody>
      </p:sp>
      <p:sp>
        <p:nvSpPr>
          <p:cNvPr id="42" name="Text 40"/>
          <p:cNvSpPr/>
          <p:nvPr/>
        </p:nvSpPr>
        <p:spPr>
          <a:xfrm>
            <a:off x="7645400" y="3025080"/>
            <a:ext cx="660400"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030302"/>
                </a:solidFill>
                <a:latin typeface="Inter" pitchFamily="34" charset="0"/>
                <a:ea typeface="Inter" pitchFamily="34" charset="-122"/>
                <a:cs typeface="Inter" pitchFamily="34" charset="-120"/>
              </a:rPr>
              <a:t>2</a:t>
            </a:r>
            <a:endParaRPr lang="en-US" sz="3200" dirty="0"/>
          </a:p>
        </p:txBody>
      </p:sp>
      <p:sp>
        <p:nvSpPr>
          <p:cNvPr id="43" name="Text 41"/>
          <p:cNvSpPr/>
          <p:nvPr/>
        </p:nvSpPr>
        <p:spPr>
          <a:xfrm>
            <a:off x="8407400" y="3202880"/>
            <a:ext cx="1394579"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4586B"/>
                </a:solidFill>
                <a:latin typeface="Inter" pitchFamily="34" charset="0"/>
                <a:ea typeface="Inter" pitchFamily="34" charset="-122"/>
                <a:cs typeface="Inter" pitchFamily="34" charset="-120"/>
              </a:rPr>
              <a:t>with an incident</a:t>
            </a:r>
            <a:endParaRPr lang="en-US" sz="1300" dirty="0"/>
          </a:p>
        </p:txBody>
      </p:sp>
      <p:sp>
        <p:nvSpPr>
          <p:cNvPr id="44" name="Text 42"/>
          <p:cNvSpPr/>
          <p:nvPr/>
        </p:nvSpPr>
        <p:spPr>
          <a:xfrm>
            <a:off x="7645400" y="3586411"/>
            <a:ext cx="660400"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030302"/>
                </a:solidFill>
                <a:latin typeface="Inter" pitchFamily="34" charset="0"/>
                <a:ea typeface="Inter" pitchFamily="34" charset="-122"/>
                <a:cs typeface="Inter" pitchFamily="34" charset="-120"/>
              </a:rPr>
              <a:t>0</a:t>
            </a:r>
            <a:endParaRPr lang="en-US" sz="3200" dirty="0"/>
          </a:p>
        </p:txBody>
      </p:sp>
      <p:sp>
        <p:nvSpPr>
          <p:cNvPr id="45" name="Text 43"/>
          <p:cNvSpPr/>
          <p:nvPr/>
        </p:nvSpPr>
        <p:spPr>
          <a:xfrm>
            <a:off x="8407400" y="3764211"/>
            <a:ext cx="1991916"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4586B"/>
                </a:solidFill>
                <a:latin typeface="Inter" pitchFamily="34" charset="0"/>
                <a:ea typeface="Inter" pitchFamily="34" charset="-122"/>
                <a:cs typeface="Inter" pitchFamily="34" charset="-120"/>
              </a:rPr>
              <a:t>with a pass mentioned</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5FB"/>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30302"/>
                </a:solidFill>
                <a:latin typeface="Inter" pitchFamily="34" charset="0"/>
                <a:ea typeface="Inter" pitchFamily="34" charset="-122"/>
                <a:cs typeface="Inter" pitchFamily="34" charset="-120"/>
              </a:rPr>
              <a:t>How a note becomes a field, safely</a:t>
            </a:r>
            <a:endParaRPr lang="en-US" sz="3000" dirty="0"/>
          </a:p>
        </p:txBody>
      </p:sp>
      <p:sp>
        <p:nvSpPr>
          <p:cNvPr id="3" name="Shape 1"/>
          <p:cNvSpPr/>
          <p:nvPr/>
        </p:nvSpPr>
        <p:spPr>
          <a:xfrm>
            <a:off x="819150" y="1568450"/>
            <a:ext cx="2019300" cy="1023541"/>
          </a:xfrm>
          <a:prstGeom prst="roundRect">
            <a:avLst>
              <a:gd name="adj" fmla="val 8065"/>
            </a:avLst>
          </a:prstGeom>
          <a:solidFill>
            <a:srgbClr val="EDF3EF"/>
          </a:solidFill>
          <a:ln w="12700">
            <a:solidFill>
              <a:srgbClr val="578550"/>
            </a:solidFill>
            <a:prstDash val="solid"/>
          </a:ln>
        </p:spPr>
      </p:sp>
      <p:sp>
        <p:nvSpPr>
          <p:cNvPr id="4" name="Text 2"/>
          <p:cNvSpPr/>
          <p:nvPr/>
        </p:nvSpPr>
        <p:spPr>
          <a:xfrm>
            <a:off x="977900" y="1727200"/>
            <a:ext cx="175285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30302"/>
                </a:solidFill>
                <a:latin typeface="Inter" pitchFamily="34" charset="0"/>
                <a:ea typeface="Inter" pitchFamily="34" charset="-122"/>
                <a:cs typeface="Inter" pitchFamily="34" charset="-120"/>
              </a:rPr>
              <a:t>Redact</a:t>
            </a:r>
            <a:endParaRPr lang="en-US" sz="1500" dirty="0"/>
          </a:p>
        </p:txBody>
      </p:sp>
      <p:sp>
        <p:nvSpPr>
          <p:cNvPr id="5" name="Text 3"/>
          <p:cNvSpPr/>
          <p:nvPr/>
        </p:nvSpPr>
        <p:spPr>
          <a:xfrm>
            <a:off x="977900" y="2006600"/>
            <a:ext cx="175285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4586B"/>
                </a:solidFill>
                <a:latin typeface="Inter" pitchFamily="34" charset="0"/>
                <a:ea typeface="Inter" pitchFamily="34" charset="-122"/>
                <a:cs typeface="Inter" pitchFamily="34" charset="-120"/>
              </a:rPr>
              <a:t>Names, phones, IDs out first</a:t>
            </a:r>
            <a:endParaRPr lang="en-US" sz="1200" dirty="0"/>
          </a:p>
        </p:txBody>
      </p:sp>
      <p:sp>
        <p:nvSpPr>
          <p:cNvPr id="6" name="Shape 4"/>
          <p:cNvSpPr/>
          <p:nvPr/>
        </p:nvSpPr>
        <p:spPr>
          <a:xfrm>
            <a:off x="2952750" y="1568450"/>
            <a:ext cx="2019300" cy="1023541"/>
          </a:xfrm>
          <a:prstGeom prst="roundRect">
            <a:avLst>
              <a:gd name="adj" fmla="val 8065"/>
            </a:avLst>
          </a:prstGeom>
          <a:solidFill>
            <a:srgbClr val="FFFFFF"/>
          </a:solidFill>
          <a:ln w="12700">
            <a:solidFill>
              <a:srgbClr val="D7D5E0"/>
            </a:solidFill>
            <a:prstDash val="solid"/>
          </a:ln>
        </p:spPr>
      </p:sp>
      <p:sp>
        <p:nvSpPr>
          <p:cNvPr id="7" name="Text 5"/>
          <p:cNvSpPr/>
          <p:nvPr/>
        </p:nvSpPr>
        <p:spPr>
          <a:xfrm>
            <a:off x="3111500" y="1727200"/>
            <a:ext cx="175285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30302"/>
                </a:solidFill>
                <a:latin typeface="Inter" pitchFamily="34" charset="0"/>
                <a:ea typeface="Inter" pitchFamily="34" charset="-122"/>
                <a:cs typeface="Inter" pitchFamily="34" charset="-120"/>
              </a:rPr>
              <a:t>Rules</a:t>
            </a:r>
            <a:endParaRPr lang="en-US" sz="1500" dirty="0"/>
          </a:p>
        </p:txBody>
      </p:sp>
      <p:sp>
        <p:nvSpPr>
          <p:cNvPr id="8" name="Text 6"/>
          <p:cNvSpPr/>
          <p:nvPr/>
        </p:nvSpPr>
        <p:spPr>
          <a:xfrm>
            <a:off x="3111500" y="2006600"/>
            <a:ext cx="175285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4586B"/>
                </a:solidFill>
                <a:latin typeface="Inter" pitchFamily="34" charset="0"/>
                <a:ea typeface="Inter" pitchFamily="34" charset="-122"/>
                <a:cs typeface="Inter" pitchFamily="34" charset="-120"/>
              </a:rPr>
              <a:t>Familiar wording</a:t>
            </a:r>
            <a:endParaRPr lang="en-US" sz="1200" dirty="0"/>
          </a:p>
        </p:txBody>
      </p:sp>
      <p:sp>
        <p:nvSpPr>
          <p:cNvPr id="9" name="Shape 7"/>
          <p:cNvSpPr/>
          <p:nvPr/>
        </p:nvSpPr>
        <p:spPr>
          <a:xfrm>
            <a:off x="5086350" y="1568450"/>
            <a:ext cx="2019300" cy="1023541"/>
          </a:xfrm>
          <a:prstGeom prst="roundRect">
            <a:avLst>
              <a:gd name="adj" fmla="val 8065"/>
            </a:avLst>
          </a:prstGeom>
          <a:solidFill>
            <a:srgbClr val="EFEDFB"/>
          </a:solidFill>
          <a:ln w="12700">
            <a:solidFill>
              <a:srgbClr val="4A3AA7"/>
            </a:solidFill>
            <a:prstDash val="solid"/>
          </a:ln>
        </p:spPr>
      </p:sp>
      <p:sp>
        <p:nvSpPr>
          <p:cNvPr id="10" name="Text 8"/>
          <p:cNvSpPr/>
          <p:nvPr/>
        </p:nvSpPr>
        <p:spPr>
          <a:xfrm>
            <a:off x="5245100" y="1727200"/>
            <a:ext cx="175285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30302"/>
                </a:solidFill>
                <a:latin typeface="Inter" pitchFamily="34" charset="0"/>
                <a:ea typeface="Inter" pitchFamily="34" charset="-122"/>
                <a:cs typeface="Inter" pitchFamily="34" charset="-120"/>
              </a:rPr>
              <a:t>Model</a:t>
            </a:r>
            <a:endParaRPr lang="en-US" sz="1500" dirty="0"/>
          </a:p>
        </p:txBody>
      </p:sp>
      <p:sp>
        <p:nvSpPr>
          <p:cNvPr id="11" name="Text 9"/>
          <p:cNvSpPr/>
          <p:nvPr/>
        </p:nvSpPr>
        <p:spPr>
          <a:xfrm>
            <a:off x="5245100" y="2006600"/>
            <a:ext cx="175285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4586B"/>
                </a:solidFill>
                <a:latin typeface="Inter" pitchFamily="34" charset="0"/>
                <a:ea typeface="Inter" pitchFamily="34" charset="-122"/>
                <a:cs typeface="Inter" pitchFamily="34" charset="-120"/>
              </a:rPr>
              <a:t>Fixed fields, must quote the note</a:t>
            </a:r>
            <a:endParaRPr lang="en-US" sz="1200" dirty="0"/>
          </a:p>
        </p:txBody>
      </p:sp>
      <p:sp>
        <p:nvSpPr>
          <p:cNvPr id="12" name="Shape 10"/>
          <p:cNvSpPr/>
          <p:nvPr/>
        </p:nvSpPr>
        <p:spPr>
          <a:xfrm>
            <a:off x="7219950" y="1568450"/>
            <a:ext cx="2019300" cy="1023541"/>
          </a:xfrm>
          <a:prstGeom prst="roundRect">
            <a:avLst>
              <a:gd name="adj" fmla="val 8065"/>
            </a:avLst>
          </a:prstGeom>
          <a:solidFill>
            <a:srgbClr val="EEF4FC"/>
          </a:solidFill>
          <a:ln w="12700">
            <a:solidFill>
              <a:srgbClr val="2A78D6"/>
            </a:solidFill>
            <a:prstDash val="solid"/>
          </a:ln>
        </p:spPr>
      </p:sp>
      <p:sp>
        <p:nvSpPr>
          <p:cNvPr id="13" name="Text 11"/>
          <p:cNvSpPr/>
          <p:nvPr/>
        </p:nvSpPr>
        <p:spPr>
          <a:xfrm>
            <a:off x="7378700" y="1727200"/>
            <a:ext cx="175285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30302"/>
                </a:solidFill>
                <a:latin typeface="Inter" pitchFamily="34" charset="0"/>
                <a:ea typeface="Inter" pitchFamily="34" charset="-122"/>
                <a:cs typeface="Inter" pitchFamily="34" charset="-120"/>
              </a:rPr>
              <a:t>Validator</a:t>
            </a:r>
            <a:endParaRPr lang="en-US" sz="1500" dirty="0"/>
          </a:p>
        </p:txBody>
      </p:sp>
      <p:sp>
        <p:nvSpPr>
          <p:cNvPr id="14" name="Text 12"/>
          <p:cNvSpPr/>
          <p:nvPr/>
        </p:nvSpPr>
        <p:spPr>
          <a:xfrm>
            <a:off x="7378700" y="2006600"/>
            <a:ext cx="175285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4586B"/>
                </a:solidFill>
                <a:latin typeface="Inter" pitchFamily="34" charset="0"/>
                <a:ea typeface="Inter" pitchFamily="34" charset="-122"/>
                <a:cs typeface="Inter" pitchFamily="34" charset="-120"/>
              </a:rPr>
              <a:t>Quote in the note; field fits the person</a:t>
            </a:r>
            <a:endParaRPr lang="en-US" sz="1200" dirty="0"/>
          </a:p>
        </p:txBody>
      </p:sp>
      <p:sp>
        <p:nvSpPr>
          <p:cNvPr id="15" name="Shape 13"/>
          <p:cNvSpPr/>
          <p:nvPr/>
        </p:nvSpPr>
        <p:spPr>
          <a:xfrm>
            <a:off x="9353550" y="1568450"/>
            <a:ext cx="2019300" cy="1023541"/>
          </a:xfrm>
          <a:prstGeom prst="roundRect">
            <a:avLst>
              <a:gd name="adj" fmla="val 8065"/>
            </a:avLst>
          </a:prstGeom>
          <a:solidFill>
            <a:srgbClr val="FFFFFF"/>
          </a:solidFill>
          <a:ln w="12700">
            <a:solidFill>
              <a:srgbClr val="D7D5E0"/>
            </a:solidFill>
            <a:prstDash val="solid"/>
          </a:ln>
        </p:spPr>
      </p:sp>
      <p:sp>
        <p:nvSpPr>
          <p:cNvPr id="16" name="Text 14"/>
          <p:cNvSpPr/>
          <p:nvPr/>
        </p:nvSpPr>
        <p:spPr>
          <a:xfrm>
            <a:off x="9512300" y="1727200"/>
            <a:ext cx="175285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30302"/>
                </a:solidFill>
                <a:latin typeface="Inter" pitchFamily="34" charset="0"/>
                <a:ea typeface="Inter" pitchFamily="34" charset="-122"/>
                <a:cs typeface="Inter" pitchFamily="34" charset="-120"/>
              </a:rPr>
              <a:t>Metrics</a:t>
            </a:r>
            <a:endParaRPr lang="en-US" sz="1500" dirty="0"/>
          </a:p>
        </p:txBody>
      </p:sp>
      <p:sp>
        <p:nvSpPr>
          <p:cNvPr id="17" name="Text 15"/>
          <p:cNvSpPr/>
          <p:nvPr/>
        </p:nvSpPr>
        <p:spPr>
          <a:xfrm>
            <a:off x="9512300" y="2006600"/>
            <a:ext cx="175285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4586B"/>
                </a:solidFill>
                <a:latin typeface="Inter" pitchFamily="34" charset="0"/>
                <a:ea typeface="Inter" pitchFamily="34" charset="-122"/>
                <a:cs typeface="Inter" pitchFamily="34" charset="-120"/>
              </a:rPr>
              <a:t>AI-assisted label; risk to staff</a:t>
            </a:r>
            <a:endParaRPr lang="en-US" sz="1200" dirty="0"/>
          </a:p>
        </p:txBody>
      </p:sp>
      <p:sp>
        <p:nvSpPr>
          <p:cNvPr id="18" name="Text 16"/>
          <p:cNvSpPr/>
          <p:nvPr/>
        </p:nvSpPr>
        <p:spPr>
          <a:xfrm>
            <a:off x="812800" y="2928541"/>
            <a:ext cx="2524633"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030302"/>
                </a:solidFill>
                <a:latin typeface="Inter" pitchFamily="34" charset="0"/>
                <a:ea typeface="Inter" pitchFamily="34" charset="-122"/>
                <a:cs typeface="Inter" pitchFamily="34" charset="-120"/>
              </a:rPr>
              <a:t>94%</a:t>
            </a:r>
            <a:endParaRPr lang="en-US" sz="4400" dirty="0"/>
          </a:p>
        </p:txBody>
      </p:sp>
      <p:sp>
        <p:nvSpPr>
          <p:cNvPr id="19" name="Text 17"/>
          <p:cNvSpPr/>
          <p:nvPr/>
        </p:nvSpPr>
        <p:spPr>
          <a:xfrm>
            <a:off x="812800" y="3525441"/>
            <a:ext cx="2524633"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4586B"/>
                </a:solidFill>
                <a:latin typeface="Inter" pitchFamily="34" charset="0"/>
                <a:ea typeface="Inter" pitchFamily="34" charset="-122"/>
                <a:cs typeface="Inter" pitchFamily="34" charset="-120"/>
              </a:rPr>
              <a:t>of findings found by rules and model together, at 91% precision</a:t>
            </a:r>
            <a:endParaRPr lang="en-US" sz="1300" dirty="0"/>
          </a:p>
        </p:txBody>
      </p:sp>
      <p:sp>
        <p:nvSpPr>
          <p:cNvPr id="20" name="Text 18"/>
          <p:cNvSpPr/>
          <p:nvPr/>
        </p:nvSpPr>
        <p:spPr>
          <a:xfrm>
            <a:off x="3517900" y="2928541"/>
            <a:ext cx="2524633"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030302"/>
                </a:solidFill>
                <a:latin typeface="Inter" pitchFamily="34" charset="0"/>
                <a:ea typeface="Inter" pitchFamily="34" charset="-122"/>
                <a:cs typeface="Inter" pitchFamily="34" charset="-120"/>
              </a:rPr>
              <a:t>25%</a:t>
            </a:r>
            <a:endParaRPr lang="en-US" sz="4400" dirty="0"/>
          </a:p>
        </p:txBody>
      </p:sp>
      <p:sp>
        <p:nvSpPr>
          <p:cNvPr id="21" name="Text 19"/>
          <p:cNvSpPr/>
          <p:nvPr/>
        </p:nvSpPr>
        <p:spPr>
          <a:xfrm>
            <a:off x="3517900" y="3525441"/>
            <a:ext cx="2524633"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4586B"/>
                </a:solidFill>
                <a:latin typeface="Inter" pitchFamily="34" charset="0"/>
                <a:ea typeface="Inter" pitchFamily="34" charset="-122"/>
                <a:cs typeface="Inter" pitchFamily="34" charset="-120"/>
              </a:rPr>
              <a:t>rules alone, on notes worded in new ways: why the model is there</a:t>
            </a:r>
            <a:endParaRPr lang="en-US" sz="1300" dirty="0"/>
          </a:p>
        </p:txBody>
      </p:sp>
      <p:sp>
        <p:nvSpPr>
          <p:cNvPr id="22" name="Text 20"/>
          <p:cNvSpPr/>
          <p:nvPr/>
        </p:nvSpPr>
        <p:spPr>
          <a:xfrm>
            <a:off x="6223000" y="2928541"/>
            <a:ext cx="2524633"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030302"/>
                </a:solidFill>
                <a:latin typeface="Inter" pitchFamily="34" charset="0"/>
                <a:ea typeface="Inter" pitchFamily="34" charset="-122"/>
                <a:cs typeface="Inter" pitchFamily="34" charset="-120"/>
              </a:rPr>
              <a:t>100%</a:t>
            </a:r>
            <a:endParaRPr lang="en-US" sz="4400" dirty="0"/>
          </a:p>
        </p:txBody>
      </p:sp>
      <p:sp>
        <p:nvSpPr>
          <p:cNvPr id="23" name="Text 21"/>
          <p:cNvSpPr/>
          <p:nvPr/>
        </p:nvSpPr>
        <p:spPr>
          <a:xfrm>
            <a:off x="6223000" y="3525441"/>
            <a:ext cx="2524633"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4586B"/>
                </a:solidFill>
                <a:latin typeface="Inter" pitchFamily="34" charset="0"/>
                <a:ea typeface="Inter" pitchFamily="34" charset="-122"/>
                <a:cs typeface="Inter" pitchFamily="34" charset="-120"/>
              </a:rPr>
              <a:t>of risk flags found; each one still goes to a person</a:t>
            </a:r>
            <a:endParaRPr lang="en-US" sz="1300" dirty="0"/>
          </a:p>
        </p:txBody>
      </p:sp>
      <p:sp>
        <p:nvSpPr>
          <p:cNvPr id="24" name="Text 22"/>
          <p:cNvSpPr/>
          <p:nvPr/>
        </p:nvSpPr>
        <p:spPr>
          <a:xfrm>
            <a:off x="8928100" y="2928541"/>
            <a:ext cx="2524633"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030302"/>
                </a:solidFill>
                <a:latin typeface="Inter" pitchFamily="34" charset="0"/>
                <a:ea typeface="Inter" pitchFamily="34" charset="-122"/>
                <a:cs typeface="Inter" pitchFamily="34" charset="-120"/>
              </a:rPr>
              <a:t>5</a:t>
            </a:r>
            <a:endParaRPr lang="en-US" sz="4400" dirty="0"/>
          </a:p>
        </p:txBody>
      </p:sp>
      <p:sp>
        <p:nvSpPr>
          <p:cNvPr id="25" name="Text 23"/>
          <p:cNvSpPr/>
          <p:nvPr/>
        </p:nvSpPr>
        <p:spPr>
          <a:xfrm>
            <a:off x="8928100" y="3525441"/>
            <a:ext cx="2524633"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4586B"/>
                </a:solidFill>
                <a:latin typeface="Inter" pitchFamily="34" charset="0"/>
                <a:ea typeface="Inter" pitchFamily="34" charset="-122"/>
                <a:cs typeface="Inter" pitchFamily="34" charset="-120"/>
              </a:rPr>
              <a:t>invented quotes caught and rejected by the validator</a:t>
            </a:r>
            <a:endParaRPr lang="en-US" sz="1300" dirty="0"/>
          </a:p>
        </p:txBody>
      </p:sp>
      <p:sp>
        <p:nvSpPr>
          <p:cNvPr id="26" name="Text 24"/>
          <p:cNvSpPr/>
          <p:nvPr/>
        </p:nvSpPr>
        <p:spPr>
          <a:xfrm>
            <a:off x="812800" y="4549031"/>
            <a:ext cx="10464800" cy="26476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7E7D91"/>
                </a:solidFill>
                <a:latin typeface="Inter" pitchFamily="34" charset="0"/>
                <a:ea typeface="Inter" pitchFamily="34" charset="-122"/>
                <a:cs typeface="Inter" pitchFamily="34" charset="-120"/>
              </a:rPr>
              <a:t>70 labelled notes: 47 from the file, 23 reworded. I reviewed every label: 69 confirmed, 1 corrected.</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33388"/>
          </a:xfrm>
          <a:prstGeom prst="rect">
            <a:avLst/>
          </a:prstGeom>
          <a:noFill/>
          <a:ln/>
        </p:spPr>
        <p:txBody>
          <a:bodyPr wrap="square" lIns="0" tIns="0" rIns="0" bIns="0" rtlCol="0" anchor="t">
            <a:normAutofit/>
          </a:bodyPr>
          <a:lstStyle/>
          <a:p>
            <a:pPr algn="l" indent="0" marL="0">
              <a:lnSpc>
                <a:spcPts val="3218"/>
              </a:lnSpc>
              <a:buNone/>
            </a:pPr>
            <a:r>
              <a:rPr lang="en-US" sz="2925" b="1" i="0" dirty="0">
                <a:solidFill>
                  <a:srgbClr val="030302"/>
                </a:solidFill>
                <a:latin typeface="Inter" pitchFamily="34" charset="0"/>
                <a:ea typeface="Inter" pitchFamily="34" charset="-122"/>
                <a:cs typeface="Inter" pitchFamily="34" charset="-120"/>
              </a:rPr>
              <a:t>From a question to a checked answer</a:t>
            </a:r>
            <a:endParaRPr lang="en-US" sz="2925" dirty="0"/>
          </a:p>
        </p:txBody>
      </p:sp>
      <p:pic>
        <p:nvPicPr>
          <p:cNvPr id="3" name="Image 0" descr="Question, redact (a fuzzy word means it asks first), model writes a JSON spec, validate against enums and rules, compile to parameterised SQL, SQL guard allows SELECT only, read-only query with a 5 second limit, answer from a template plus a chart. Asks first about sober, relapse, successful, active, dropout. Declines questions about people, writes, other houses and anything off the catalogue.">    </p:cNvPr>
          <p:cNvPicPr>
            <a:picLocks noChangeAspect="1"/>
          </p:cNvPicPr>
          <p:nvPr/>
        </p:nvPicPr>
        <p:blipFill>
          <a:blip r:embed="rId1"/>
          <a:srcRect l="-1322" r="-1322" t="0" b="0"/>
          <a:stretch/>
        </p:blipFill>
        <p:spPr>
          <a:xfrm>
            <a:off x="812800" y="1525588"/>
            <a:ext cx="10566400" cy="3591719"/>
          </a:xfrm>
          <a:prstGeom prst="rect">
            <a:avLst/>
          </a:prstGeom>
        </p:spPr>
      </p:pic>
      <p:sp>
        <p:nvSpPr>
          <p:cNvPr id="4" name="Text 1"/>
          <p:cNvSpPr/>
          <p:nvPr/>
        </p:nvSpPr>
        <p:spPr>
          <a:xfrm>
            <a:off x="812800" y="5422106"/>
            <a:ext cx="11379200" cy="648494"/>
          </a:xfrm>
          <a:prstGeom prst="rect">
            <a:avLst/>
          </a:prstGeom>
          <a:noFill/>
          <a:ln/>
        </p:spPr>
        <p:txBody>
          <a:bodyPr wrap="square" lIns="0" tIns="0" rIns="0" bIns="0" rtlCol="0" anchor="t">
            <a:normAutofit/>
          </a:bodyPr>
          <a:lstStyle/>
          <a:p>
            <a:pPr algn="l" indent="0" marL="0">
              <a:lnSpc>
                <a:spcPts val="2496"/>
              </a:lnSpc>
              <a:buNone/>
            </a:pPr>
            <a:r>
              <a:rPr lang="en-US" sz="1783" dirty="0">
                <a:solidFill>
                  <a:srgbClr val="21273F"/>
                </a:solidFill>
                <a:latin typeface="Inter" pitchFamily="34" charset="0"/>
                <a:ea typeface="Inter" pitchFamily="34" charset="-122"/>
                <a:cs typeface="Inter" pitchFamily="34" charset="-120"/>
              </a:rPr>
              <a:t>The model only fills in a spec. It never sees data, never writes SQL, and nothing it writes is shown.</a:t>
            </a:r>
            <a:endParaRPr lang="en-US" sz="1783"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5FB"/>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30302"/>
                </a:solidFill>
                <a:latin typeface="Inter" pitchFamily="34" charset="0"/>
                <a:ea typeface="Inter" pitchFamily="34" charset="-122"/>
                <a:cs typeface="Inter" pitchFamily="34" charset="-120"/>
              </a:rPr>
              <a:t>It asks instead of assuming</a:t>
            </a:r>
            <a:endParaRPr lang="en-US" sz="3000" dirty="0"/>
          </a:p>
        </p:txBody>
      </p:sp>
      <p:sp>
        <p:nvSpPr>
          <p:cNvPr id="3" name="Text 1"/>
          <p:cNvSpPr/>
          <p:nvPr/>
        </p:nvSpPr>
        <p:spPr>
          <a:xfrm>
            <a:off x="812800" y="1536700"/>
            <a:ext cx="5080000" cy="502890"/>
          </a:xfrm>
          <a:prstGeom prst="roundRect">
            <a:avLst>
              <a:gd name="adj" fmla="val 15152"/>
            </a:avLst>
          </a:prstGeom>
          <a:solidFill>
            <a:srgbClr val="ECEAF2"/>
          </a:solidFill>
          <a:ln/>
        </p:spPr>
        <p:txBody>
          <a:bodyPr wrap="square" lIns="155482" tIns="104682" rIns="13750" bIns="79282" rtlCol="0" anchor="t">
            <a:normAutofit/>
          </a:bodyPr>
          <a:lstStyle/>
          <a:p>
            <a:pPr algn="l" indent="0" marL="0">
              <a:lnSpc>
                <a:spcPts val="1960"/>
              </a:lnSpc>
              <a:buNone/>
            </a:pPr>
            <a:r>
              <a:rPr lang="en-US" sz="1400" dirty="0">
                <a:solidFill>
                  <a:srgbClr val="21273F"/>
                </a:solidFill>
                <a:latin typeface="Inter" pitchFamily="34" charset="0"/>
                <a:ea typeface="Inter" pitchFamily="34" charset="-122"/>
                <a:cs typeface="Inter" pitchFamily="34" charset="-120"/>
              </a:rPr>
              <a:t>What percentage of residents were sober at 6 months?</a:t>
            </a:r>
            <a:endParaRPr lang="en-US" sz="1400" dirty="0"/>
          </a:p>
        </p:txBody>
      </p:sp>
      <p:sp>
        <p:nvSpPr>
          <p:cNvPr id="4" name="Shape 2"/>
          <p:cNvSpPr/>
          <p:nvPr/>
        </p:nvSpPr>
        <p:spPr>
          <a:xfrm>
            <a:off x="815975" y="2195165"/>
            <a:ext cx="5073650" cy="2607121"/>
          </a:xfrm>
          <a:prstGeom prst="roundRect">
            <a:avLst>
              <a:gd name="adj" fmla="val 3775"/>
            </a:avLst>
          </a:prstGeom>
          <a:solidFill>
            <a:srgbClr val="FFFFFF"/>
          </a:solidFill>
          <a:ln w="6350">
            <a:solidFill>
              <a:srgbClr val="ECEAF2"/>
            </a:solidFill>
            <a:prstDash val="solid"/>
          </a:ln>
        </p:spPr>
      </p:sp>
      <p:sp>
        <p:nvSpPr>
          <p:cNvPr id="5" name="Text 3"/>
          <p:cNvSpPr/>
          <p:nvPr/>
        </p:nvSpPr>
        <p:spPr>
          <a:xfrm>
            <a:off x="996950" y="2376140"/>
            <a:ext cx="4853051"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30302"/>
                </a:solidFill>
                <a:latin typeface="Inter" pitchFamily="34" charset="0"/>
                <a:ea typeface="Inter" pitchFamily="34" charset="-122"/>
                <a:cs typeface="Inter" pitchFamily="34" charset="-120"/>
              </a:rPr>
              <a:t>What should “sober” mean here?</a:t>
            </a:r>
            <a:endParaRPr lang="en-US" sz="1400" dirty="0"/>
          </a:p>
        </p:txBody>
      </p:sp>
      <p:sp>
        <p:nvSpPr>
          <p:cNvPr id="6" name="Text 4"/>
          <p:cNvSpPr/>
          <p:nvPr/>
        </p:nvSpPr>
        <p:spPr>
          <a:xfrm>
            <a:off x="996950" y="2726630"/>
            <a:ext cx="4853051"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54586B"/>
                </a:solidFill>
                <a:latin typeface="Inter" pitchFamily="34" charset="0"/>
                <a:ea typeface="Inter" pitchFamily="34" charset="-122"/>
                <a:cs typeface="Inter" pitchFamily="34" charset="-120"/>
              </a:rPr>
              <a:t>Sobriety isn’t recorded. Follow-ups record “engaged in recovery”, “relapse reported”, or that the person couldn’t be reached.</a:t>
            </a:r>
            <a:endParaRPr lang="en-US" sz="1200" dirty="0"/>
          </a:p>
        </p:txBody>
      </p:sp>
      <p:sp>
        <p:nvSpPr>
          <p:cNvPr id="7" name="Text 5"/>
          <p:cNvSpPr/>
          <p:nvPr/>
        </p:nvSpPr>
        <p:spPr>
          <a:xfrm>
            <a:off x="1003300" y="3276501"/>
            <a:ext cx="4699000" cy="378420"/>
          </a:xfrm>
          <a:prstGeom prst="roundRect">
            <a:avLst>
              <a:gd name="adj" fmla="val 11746"/>
            </a:avLst>
          </a:prstGeom>
          <a:noFill/>
          <a:ln w="12700">
            <a:solidFill>
              <a:srgbClr val="578550"/>
            </a:solidFill>
            <a:prstDash val="solid"/>
          </a:ln>
        </p:spPr>
        <p:txBody>
          <a:bodyPr wrap="square" lIns="94931" tIns="69531" rIns="0" bIns="44131" rtlCol="0" anchor="t">
            <a:normAutofit/>
          </a:bodyPr>
          <a:lstStyle/>
          <a:p>
            <a:pPr algn="l" indent="0" marL="0">
              <a:lnSpc>
                <a:spcPts val="1680"/>
              </a:lnSpc>
              <a:buNone/>
            </a:pPr>
            <a:r>
              <a:rPr lang="en-US" sz="1200" dirty="0">
                <a:solidFill>
                  <a:srgbClr val="35522F"/>
                </a:solidFill>
                <a:latin typeface="Inter" pitchFamily="34" charset="0"/>
                <a:ea typeface="Inter" pitchFamily="34" charset="-122"/>
                <a:cs typeface="Inter" pitchFamily="34" charset="-120"/>
              </a:rPr>
              <a:t>Engaged in recovery at 6 months, out of everyone due</a:t>
            </a:r>
            <a:endParaRPr lang="en-US" sz="1200" dirty="0"/>
          </a:p>
        </p:txBody>
      </p:sp>
      <p:sp>
        <p:nvSpPr>
          <p:cNvPr id="8" name="Text 6"/>
          <p:cNvSpPr/>
          <p:nvPr/>
        </p:nvSpPr>
        <p:spPr>
          <a:xfrm>
            <a:off x="1000125" y="3766046"/>
            <a:ext cx="4705350" cy="372070"/>
          </a:xfrm>
          <a:prstGeom prst="roundRect">
            <a:avLst>
              <a:gd name="adj" fmla="val 12800"/>
            </a:avLst>
          </a:prstGeom>
          <a:noFill/>
          <a:ln w="6350">
            <a:solidFill>
              <a:srgbClr val="D7D5E0"/>
            </a:solidFill>
            <a:prstDash val="solid"/>
          </a:ln>
        </p:spPr>
        <p:txBody>
          <a:bodyPr wrap="square" lIns="90826" tIns="65426" rIns="0" bIns="40026" rtlCol="0" anchor="t">
            <a:normAutofit/>
          </a:bodyPr>
          <a:lstStyle/>
          <a:p>
            <a:pPr algn="l" indent="0" marL="0">
              <a:lnSpc>
                <a:spcPts val="1680"/>
              </a:lnSpc>
              <a:buNone/>
            </a:pPr>
            <a:r>
              <a:rPr lang="en-US" sz="1200" dirty="0">
                <a:solidFill>
                  <a:srgbClr val="21273F"/>
                </a:solidFill>
                <a:latin typeface="Inter" pitchFamily="34" charset="0"/>
                <a:ea typeface="Inter" pitchFamily="34" charset="-122"/>
                <a:cs typeface="Inter" pitchFamily="34" charset="-120"/>
              </a:rPr>
              <a:t>Engaged in recovery at 12 months, out of everyone due</a:t>
            </a:r>
            <a:endParaRPr lang="en-US" sz="1200" dirty="0"/>
          </a:p>
        </p:txBody>
      </p:sp>
      <p:sp>
        <p:nvSpPr>
          <p:cNvPr id="9" name="Text 7"/>
          <p:cNvSpPr/>
          <p:nvPr/>
        </p:nvSpPr>
        <p:spPr>
          <a:xfrm>
            <a:off x="1000125" y="4246066"/>
            <a:ext cx="4705350" cy="372070"/>
          </a:xfrm>
          <a:prstGeom prst="roundRect">
            <a:avLst>
              <a:gd name="adj" fmla="val 12800"/>
            </a:avLst>
          </a:prstGeom>
          <a:noFill/>
          <a:ln w="6350">
            <a:solidFill>
              <a:srgbClr val="D7D5E0"/>
            </a:solidFill>
            <a:prstDash val="solid"/>
          </a:ln>
        </p:spPr>
        <p:txBody>
          <a:bodyPr wrap="square" lIns="90826" tIns="65426" rIns="0" bIns="40026" rtlCol="0" anchor="t">
            <a:normAutofit/>
          </a:bodyPr>
          <a:lstStyle/>
          <a:p>
            <a:pPr algn="l" indent="0" marL="0">
              <a:lnSpc>
                <a:spcPts val="1680"/>
              </a:lnSpc>
              <a:buNone/>
            </a:pPr>
            <a:r>
              <a:rPr lang="en-US" sz="1200" dirty="0">
                <a:solidFill>
                  <a:srgbClr val="21273F"/>
                </a:solidFill>
                <a:latin typeface="Inter" pitchFamily="34" charset="0"/>
                <a:ea typeface="Inter" pitchFamily="34" charset="-122"/>
                <a:cs typeface="Inter" pitchFamily="34" charset="-120"/>
              </a:rPr>
              <a:t>Don’t pick one number: show every 6-month outcome</a:t>
            </a:r>
            <a:endParaRPr lang="en-US" sz="1200" dirty="0"/>
          </a:p>
        </p:txBody>
      </p:sp>
      <p:sp>
        <p:nvSpPr>
          <p:cNvPr id="10" name="Shape 8"/>
          <p:cNvSpPr/>
          <p:nvPr/>
        </p:nvSpPr>
        <p:spPr>
          <a:xfrm>
            <a:off x="6302375" y="1539875"/>
            <a:ext cx="5073650" cy="2222302"/>
          </a:xfrm>
          <a:prstGeom prst="roundRect">
            <a:avLst>
              <a:gd name="adj" fmla="val 4429"/>
            </a:avLst>
          </a:prstGeom>
          <a:solidFill>
            <a:srgbClr val="FFFFFF"/>
          </a:solidFill>
          <a:ln w="6350">
            <a:solidFill>
              <a:srgbClr val="ECEAF2"/>
            </a:solidFill>
            <a:prstDash val="solid"/>
          </a:ln>
        </p:spPr>
      </p:sp>
      <p:sp>
        <p:nvSpPr>
          <p:cNvPr id="11" name="Text 9"/>
          <p:cNvSpPr/>
          <p:nvPr/>
        </p:nvSpPr>
        <p:spPr>
          <a:xfrm>
            <a:off x="6483350" y="1720850"/>
            <a:ext cx="4853051" cy="79871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21273F"/>
                </a:solidFill>
                <a:latin typeface="Inter" pitchFamily="34" charset="0"/>
                <a:ea typeface="Inter" pitchFamily="34" charset="-122"/>
                <a:cs typeface="Inter" pitchFamily="34" charset="-120"/>
              </a:rPr>
              <a:t>Of 51 people whose 6-month follow-up was due, 21 (41%) were confirmed engaged in recovery. 22 have no known outcome, so the true share is between 41% and 84%.</a:t>
            </a:r>
            <a:endParaRPr lang="en-US" sz="1400" dirty="0"/>
          </a:p>
        </p:txBody>
      </p:sp>
      <p:sp>
        <p:nvSpPr>
          <p:cNvPr id="12" name="Text 10"/>
          <p:cNvSpPr/>
          <p:nvPr/>
        </p:nvSpPr>
        <p:spPr>
          <a:xfrm>
            <a:off x="6483350" y="2595761"/>
            <a:ext cx="4853051"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54586B"/>
                </a:solidFill>
                <a:latin typeface="Inter" pitchFamily="34" charset="0"/>
                <a:ea typeface="Inter" pitchFamily="34" charset="-122"/>
                <a:cs typeface="Inter" pitchFamily="34" charset="-120"/>
              </a:rPr>
              <a:t>“sober” = engaged in recovery at 6 months, out of everyone due. Version 1.</a:t>
            </a:r>
            <a:endParaRPr lang="en-US" sz="1200" dirty="0"/>
          </a:p>
        </p:txBody>
      </p:sp>
      <p:sp>
        <p:nvSpPr>
          <p:cNvPr id="13" name="Text 11"/>
          <p:cNvSpPr/>
          <p:nvPr/>
        </p:nvSpPr>
        <p:spPr>
          <a:xfrm>
            <a:off x="6483350" y="3139281"/>
            <a:ext cx="4853051"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7E7D91"/>
                </a:solidFill>
                <a:latin typeface="Inter" pitchFamily="34" charset="0"/>
                <a:ea typeface="Inter" pitchFamily="34" charset="-122"/>
                <a:cs typeface="Inter" pitchFamily="34" charset="-120"/>
              </a:rPr>
              <a:t>AI-assisted: the model turned the question into a query. Every number comes from the query.</a:t>
            </a:r>
            <a:endParaRPr lang="en-US" sz="1200" dirty="0"/>
          </a:p>
        </p:txBody>
      </p:sp>
      <p:sp>
        <p:nvSpPr>
          <p:cNvPr id="14" name="Text 12"/>
          <p:cNvSpPr/>
          <p:nvPr/>
        </p:nvSpPr>
        <p:spPr>
          <a:xfrm>
            <a:off x="6397244" y="3917752"/>
            <a:ext cx="5126736" cy="743496"/>
          </a:xfrm>
          <a:prstGeom prst="rect">
            <a:avLst/>
          </a:prstGeom>
          <a:noFill/>
          <a:ln/>
        </p:spPr>
        <p:txBody>
          <a:bodyPr wrap="square" lIns="0" tIns="0" rIns="0" bIns="0" rtlCol="0" anchor="t">
            <a:normAutofit/>
          </a:bodyPr>
          <a:lstStyle/>
          <a:p>
            <a:pPr algn="l" marL="155956" indent="-155956">
              <a:lnSpc>
                <a:spcPts val="1885"/>
              </a:lnSpc>
              <a:buSzPct val="100000"/>
              <a:buChar char="•"/>
            </a:pPr>
            <a:r>
              <a:rPr lang="en-US" sz="1300" dirty="0">
                <a:solidFill>
                  <a:srgbClr val="54586B"/>
                </a:solidFill>
                <a:latin typeface="Inter" pitchFamily="34" charset="0"/>
                <a:ea typeface="Inter" pitchFamily="34" charset="-122"/>
                <a:cs typeface="Inter" pitchFamily="34" charset="-120"/>
              </a:rPr>
              <a:t>Fuzzy words: sober, relapse, successful, active, dropout, this year</a:t>
            </a:r>
            <a:endParaRPr lang="en-US" sz="1300" dirty="0"/>
          </a:p>
          <a:p>
            <a:pPr algn="l" marL="155956" indent="-155956">
              <a:lnSpc>
                <a:spcPts val="1885"/>
              </a:lnSpc>
              <a:buSzPct val="100000"/>
              <a:buChar char="•"/>
            </a:pPr>
            <a:r>
              <a:rPr lang="en-US" sz="1300" dirty="0">
                <a:solidFill>
                  <a:srgbClr val="54586B"/>
                </a:solidFill>
                <a:latin typeface="Inter" pitchFamily="34" charset="0"/>
                <a:ea typeface="Inter" pitchFamily="34" charset="-122"/>
                <a:cs typeface="Inter" pitchFamily="34" charset="-120"/>
              </a:rPr>
              <a:t>Choices come from the catalogue, never invented</a:t>
            </a:r>
            <a:endParaRPr lang="en-US" sz="1300" dirty="0"/>
          </a:p>
          <a:p>
            <a:pPr algn="l" marL="155956" indent="-155956">
              <a:lnSpc>
                <a:spcPts val="1885"/>
              </a:lnSpc>
              <a:buSzPct val="100000"/>
              <a:buChar char="•"/>
            </a:pPr>
            <a:r>
              <a:rPr lang="en-US" sz="1300" dirty="0">
                <a:solidFill>
                  <a:srgbClr val="54586B"/>
                </a:solidFill>
                <a:latin typeface="Inter" pitchFamily="34" charset="0"/>
                <a:ea typeface="Inter" pitchFamily="34" charset="-122"/>
                <a:cs typeface="Inter" pitchFamily="34" charset="-120"/>
              </a:rPr>
              <a:t>Saved per house, versioned, applied by code to later questions</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5FB"/>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30302"/>
                </a:solidFill>
                <a:latin typeface="Inter" pitchFamily="34" charset="0"/>
                <a:ea typeface="Inter" pitchFamily="34" charset="-122"/>
                <a:cs typeface="Inter" pitchFamily="34" charset="-120"/>
              </a:rPr>
              <a:t>Seven layers between the model and the data</a:t>
            </a:r>
            <a:endParaRPr lang="en-US" sz="30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524000"/>
          <a:ext cx="10553700" cy="3336826"/>
        </p:xfrm>
        <a:graphic>
          <a:graphicData uri="http://schemas.openxmlformats.org/drawingml/2006/table">
            <a:tbl>
              <a:tblPr/>
              <a:tblGrid>
                <a:gridCol w="3799332"/>
                <a:gridCol w="4221480"/>
                <a:gridCol w="2532888"/>
              </a:tblGrid>
              <a:tr h="359321">
                <a:tc>
                  <a:txBody>
                    <a:bodyPr/>
                    <a:lstStyle/>
                    <a:p>
                      <a:pPr indent="0" marL="0">
                        <a:lnSpc>
                          <a:spcPts val="1820"/>
                        </a:lnSpc>
                        <a:buNone/>
                      </a:pPr>
                      <a:r>
                        <a:rPr lang="en-US" sz="1300" b="1" dirty="0">
                          <a:solidFill>
                            <a:srgbClr val="54586B"/>
                          </a:solidFill>
                          <a:latin typeface="Inter" pitchFamily="34" charset="0"/>
                          <a:ea typeface="Inter" pitchFamily="34" charset="-122"/>
                          <a:cs typeface="Inter" pitchFamily="34" charset="-120"/>
                        </a:rPr>
                        <a:t>Layer</a:t>
                      </a:r>
                      <a:endParaRPr lang="en-US" sz="1300" dirty="0">
                        <a:latin typeface="Inter" charset="0"/>
                        <a:ea typeface="Inter" charset="0"/>
                        <a:cs typeface="Inter" charset="0"/>
                      </a:endParaRPr>
                    </a:p>
                  </a:txBody>
                  <a:tcPr marL="57785" marR="57785" marT="57785" marB="57785" anchor="t">
                    <a:lnL w="12700" cap="flat" cmpd="sng" algn="ctr">
                      <a:solidFill>
                        <a:srgbClr val="C5C4C8"/>
                      </a:solidFill>
                      <a:prstDash val="solid"/>
                      <a:round/>
                      <a:headEnd type="none" w="med" len="med"/>
                      <a:tailEnd type="none" w="med" len="med"/>
                    </a:lnL>
                    <a:lnR w="12700" cap="flat" cmpd="sng" algn="ctr">
                      <a:solidFill>
                        <a:srgbClr val="B7B5B9"/>
                      </a:solidFill>
                      <a:prstDash val="solid"/>
                      <a:round/>
                      <a:headEnd type="none" w="med" len="med"/>
                      <a:tailEnd type="none" w="med" len="med"/>
                    </a:lnR>
                    <a:lnT w="12700" cap="flat" cmpd="sng" algn="ctr">
                      <a:solidFill>
                        <a:srgbClr val="C5C4C8"/>
                      </a:solidFill>
                      <a:prstDash val="solid"/>
                      <a:round/>
                      <a:headEnd type="none" w="med" len="med"/>
                      <a:tailEnd type="none" w="med" len="med"/>
                    </a:lnT>
                    <a:lnB w="12700" cap="flat" cmpd="sng" algn="ctr">
                      <a:solidFill>
                        <a:srgbClr val="B7B5B9"/>
                      </a:solidFill>
                      <a:prstDash val="solid"/>
                      <a:round/>
                      <a:headEnd type="none" w="med" len="med"/>
                      <a:tailEnd type="none" w="med" len="med"/>
                    </a:lnB>
                    <a:solidFill>
                      <a:srgbClr val="E5E3E8"/>
                    </a:solidFill>
                  </a:tcPr>
                </a:tc>
                <a:tc>
                  <a:txBody>
                    <a:bodyPr/>
                    <a:lstStyle/>
                    <a:p>
                      <a:pPr indent="0" marL="0">
                        <a:lnSpc>
                          <a:spcPts val="1820"/>
                        </a:lnSpc>
                        <a:buNone/>
                      </a:pPr>
                      <a:r>
                        <a:rPr lang="en-US" sz="1300" b="1" dirty="0">
                          <a:solidFill>
                            <a:srgbClr val="54586B"/>
                          </a:solidFill>
                          <a:latin typeface="Inter" pitchFamily="34" charset="0"/>
                          <a:ea typeface="Inter" pitchFamily="34" charset="-122"/>
                          <a:cs typeface="Inter" pitchFamily="34" charset="-120"/>
                        </a:rPr>
                        <a:t>Stops</a:t>
                      </a:r>
                      <a:endParaRPr lang="en-US" sz="1300" dirty="0">
                        <a:latin typeface="Inter" charset="0"/>
                        <a:ea typeface="Inter" charset="0"/>
                        <a:cs typeface="Inter" charset="0"/>
                      </a:endParaRPr>
                    </a:p>
                  </a:txBody>
                  <a:tcPr marL="57785" marR="57785" marT="57785" marB="57785" anchor="t">
                    <a:lnL w="12700" cap="flat" cmpd="sng" algn="ctr">
                      <a:solidFill>
                        <a:srgbClr val="B7B5B9"/>
                      </a:solidFill>
                      <a:prstDash val="solid"/>
                      <a:round/>
                      <a:headEnd type="none" w="med" len="med"/>
                      <a:tailEnd type="none" w="med" len="med"/>
                    </a:lnL>
                    <a:lnR w="12700" cap="flat" cmpd="sng" algn="ctr">
                      <a:solidFill>
                        <a:srgbClr val="B7B5B9"/>
                      </a:solidFill>
                      <a:prstDash val="solid"/>
                      <a:round/>
                      <a:headEnd type="none" w="med" len="med"/>
                      <a:tailEnd type="none" w="med" len="med"/>
                    </a:lnR>
                    <a:lnT w="12700" cap="flat" cmpd="sng" algn="ctr">
                      <a:solidFill>
                        <a:srgbClr val="C5C4C8"/>
                      </a:solidFill>
                      <a:prstDash val="solid"/>
                      <a:round/>
                      <a:headEnd type="none" w="med" len="med"/>
                      <a:tailEnd type="none" w="med" len="med"/>
                    </a:lnT>
                    <a:lnB w="12700" cap="flat" cmpd="sng" algn="ctr">
                      <a:solidFill>
                        <a:srgbClr val="B7B5B9"/>
                      </a:solidFill>
                      <a:prstDash val="solid"/>
                      <a:round/>
                      <a:headEnd type="none" w="med" len="med"/>
                      <a:tailEnd type="none" w="med" len="med"/>
                    </a:lnB>
                    <a:solidFill>
                      <a:srgbClr val="E5E3E8"/>
                    </a:solidFill>
                  </a:tcPr>
                </a:tc>
                <a:tc>
                  <a:txBody>
                    <a:bodyPr/>
                    <a:lstStyle/>
                    <a:p>
                      <a:pPr indent="0" marL="0">
                        <a:lnSpc>
                          <a:spcPts val="1820"/>
                        </a:lnSpc>
                        <a:buNone/>
                      </a:pPr>
                      <a:r>
                        <a:rPr lang="en-US" sz="1300" b="1" dirty="0">
                          <a:solidFill>
                            <a:srgbClr val="54586B"/>
                          </a:solidFill>
                          <a:latin typeface="Inter" pitchFamily="34" charset="0"/>
                          <a:ea typeface="Inter" pitchFamily="34" charset="-122"/>
                          <a:cs typeface="Inter" pitchFamily="34" charset="-120"/>
                        </a:rPr>
                        <a:t>Tested by</a:t>
                      </a:r>
                      <a:endParaRPr lang="en-US" sz="1300" dirty="0">
                        <a:latin typeface="Inter" charset="0"/>
                        <a:ea typeface="Inter" charset="0"/>
                        <a:cs typeface="Inter" charset="0"/>
                      </a:endParaRPr>
                    </a:p>
                  </a:txBody>
                  <a:tcPr marL="57785" marR="57785" marT="57785" marB="57785" anchor="t">
                    <a:lnL w="12700" cap="flat" cmpd="sng" algn="ctr">
                      <a:solidFill>
                        <a:srgbClr val="B7B5B9"/>
                      </a:solidFill>
                      <a:prstDash val="solid"/>
                      <a:round/>
                      <a:headEnd type="none" w="med" len="med"/>
                      <a:tailEnd type="none" w="med" len="med"/>
                    </a:lnL>
                    <a:lnR w="12700" cap="flat" cmpd="sng" algn="ctr">
                      <a:solidFill>
                        <a:srgbClr val="B7B5B9"/>
                      </a:solidFill>
                      <a:prstDash val="solid"/>
                      <a:round/>
                      <a:headEnd type="none" w="med" len="med"/>
                      <a:tailEnd type="none" w="med" len="med"/>
                    </a:lnR>
                    <a:lnT w="12700" cap="flat" cmpd="sng" algn="ctr">
                      <a:solidFill>
                        <a:srgbClr val="C5C4C8"/>
                      </a:solidFill>
                      <a:prstDash val="solid"/>
                      <a:round/>
                      <a:headEnd type="none" w="med" len="med"/>
                      <a:tailEnd type="none" w="med" len="med"/>
                    </a:lnT>
                    <a:lnB w="12700" cap="flat" cmpd="sng" algn="ctr">
                      <a:solidFill>
                        <a:srgbClr val="B7B5B9"/>
                      </a:solidFill>
                      <a:prstDash val="solid"/>
                      <a:round/>
                      <a:headEnd type="none" w="med" len="med"/>
                      <a:tailEnd type="none" w="med" len="med"/>
                    </a:lnB>
                    <a:solidFill>
                      <a:srgbClr val="E5E3E8"/>
                    </a:solidFill>
                  </a:tcPr>
                </a:tc>
              </a:tr>
              <a:tr h="590451">
                <a:tc>
                  <a:txBody>
                    <a:bodyPr/>
                    <a:lstStyle/>
                    <a:p>
                      <a:pPr indent="0" marL="0">
                        <a:lnSpc>
                          <a:spcPts val="1820"/>
                        </a:lnSpc>
                        <a:buNone/>
                      </a:pPr>
                      <a:r>
                        <a:rPr lang="en-US" sz="1300" dirty="0">
                          <a:solidFill>
                            <a:srgbClr val="21273F"/>
                          </a:solidFill>
                          <a:latin typeface="Inter" pitchFamily="34" charset="0"/>
                          <a:ea typeface="Inter" pitchFamily="34" charset="-122"/>
                          <a:cs typeface="Inter" pitchFamily="34" charset="-120"/>
                        </a:rPr>
                        <a:t>Redaction and rules before the model</a:t>
                      </a:r>
                      <a:endParaRPr lang="en-US" sz="1300" dirty="0">
                        <a:latin typeface="Inter" charset="0"/>
                        <a:ea typeface="Inter" charset="0"/>
                        <a:cs typeface="Inter" charset="0"/>
                      </a:endParaRPr>
                    </a:p>
                  </a:txBody>
                  <a:tcPr marL="57785" marR="57785" marT="57785" marB="57785" anchor="t">
                    <a:lnL w="12700" cap="flat" cmpd="sng" algn="ctr">
                      <a:solidFill>
                        <a:srgbClr val="C5C4C8"/>
                      </a:solidFill>
                      <a:prstDash val="solid"/>
                      <a:round/>
                      <a:headEnd type="none" w="med" len="med"/>
                      <a:tailEnd type="none" w="med" len="med"/>
                    </a:lnL>
                    <a:lnR w="12700" cap="flat" cmpd="sng" algn="ctr">
                      <a:solidFill>
                        <a:srgbClr val="C5C4C8"/>
                      </a:solidFill>
                      <a:prstDash val="solid"/>
                      <a:round/>
                      <a:headEnd type="none" w="med" len="med"/>
                      <a:tailEnd type="none" w="med" len="med"/>
                    </a:lnR>
                    <a:lnT w="12700" cap="flat" cmpd="sng" algn="ctr">
                      <a:solidFill>
                        <a:srgbClr val="B7B5B9"/>
                      </a:solidFill>
                      <a:prstDash val="solid"/>
                      <a:round/>
                      <a:headEnd type="none" w="med" len="med"/>
                      <a:tailEnd type="none" w="med" len="med"/>
                    </a:lnT>
                    <a:lnB w="12700" cap="flat" cmpd="sng" algn="ctr">
                      <a:solidFill>
                        <a:srgbClr val="C5C4C8"/>
                      </a:solidFill>
                      <a:prstDash val="solid"/>
                      <a:round/>
                      <a:headEnd type="none" w="med" len="med"/>
                      <a:tailEnd type="none" w="med" len="med"/>
                    </a:lnB>
                  </a:tcPr>
                </a:tc>
                <a:tc>
                  <a:txBody>
                    <a:bodyPr/>
                    <a:lstStyle/>
                    <a:p>
                      <a:pPr indent="0" marL="0">
                        <a:lnSpc>
                          <a:spcPts val="1820"/>
                        </a:lnSpc>
                        <a:buNone/>
                      </a:pPr>
                      <a:r>
                        <a:rPr lang="en-US" sz="1300" dirty="0">
                          <a:solidFill>
                            <a:srgbClr val="21273F"/>
                          </a:solidFill>
                          <a:latin typeface="Inter" pitchFamily="34" charset="0"/>
                          <a:ea typeface="Inter" pitchFamily="34" charset="-122"/>
                          <a:cs typeface="Inter" pitchFamily="34" charset="-120"/>
                        </a:rPr>
                        <a:t>Names, even with no context; questions about a person; attempts to change the instructions</a:t>
                      </a:r>
                      <a:endParaRPr lang="en-US" sz="1300" dirty="0">
                        <a:latin typeface="Inter" charset="0"/>
                        <a:ea typeface="Inter" charset="0"/>
                        <a:cs typeface="Inter" charset="0"/>
                      </a:endParaRPr>
                    </a:p>
                  </a:txBody>
                  <a:tcPr marL="57785" marR="57785" marT="57785" marB="57785" anchor="t">
                    <a:lnL w="12700" cap="flat" cmpd="sng" algn="ctr">
                      <a:solidFill>
                        <a:srgbClr val="C5C4C8"/>
                      </a:solidFill>
                      <a:prstDash val="solid"/>
                      <a:round/>
                      <a:headEnd type="none" w="med" len="med"/>
                      <a:tailEnd type="none" w="med" len="med"/>
                    </a:lnL>
                    <a:lnR w="12700" cap="flat" cmpd="sng" algn="ctr">
                      <a:solidFill>
                        <a:srgbClr val="C5C4C8"/>
                      </a:solidFill>
                      <a:prstDash val="solid"/>
                      <a:round/>
                      <a:headEnd type="none" w="med" len="med"/>
                      <a:tailEnd type="none" w="med" len="med"/>
                    </a:lnR>
                    <a:lnT w="12700" cap="flat" cmpd="sng" algn="ctr">
                      <a:solidFill>
                        <a:srgbClr val="B7B5B9"/>
                      </a:solidFill>
                      <a:prstDash val="solid"/>
                      <a:round/>
                      <a:headEnd type="none" w="med" len="med"/>
                      <a:tailEnd type="none" w="med" len="med"/>
                    </a:lnT>
                    <a:lnB w="12700" cap="flat" cmpd="sng" algn="ctr">
                      <a:solidFill>
                        <a:srgbClr val="C5C4C8"/>
                      </a:solidFill>
                      <a:prstDash val="solid"/>
                      <a:round/>
                      <a:headEnd type="none" w="med" len="med"/>
                      <a:tailEnd type="none" w="med" len="med"/>
                    </a:lnB>
                  </a:tcPr>
                </a:tc>
                <a:tc>
                  <a:txBody>
                    <a:bodyPr/>
                    <a:lstStyle/>
                    <a:p>
                      <a:pPr indent="0" marL="0">
                        <a:lnSpc>
                          <a:spcPts val="1820"/>
                        </a:lnSpc>
                        <a:buNone/>
                      </a:pPr>
                      <a:r>
                        <a:rPr lang="en-US" sz="1300" dirty="0">
                          <a:solidFill>
                            <a:srgbClr val="21273F"/>
                          </a:solidFill>
                          <a:latin typeface="Inter" pitchFamily="34" charset="0"/>
                          <a:ea typeface="Inter" pitchFamily="34" charset="-122"/>
                          <a:cs typeface="Inter" pitchFamily="34" charset="-120"/>
                        </a:rPr>
                        <a:t>43 labelled sentences</a:t>
                      </a:r>
                      <a:endParaRPr lang="en-US" sz="1300" dirty="0">
                        <a:latin typeface="Inter" charset="0"/>
                        <a:ea typeface="Inter" charset="0"/>
                        <a:cs typeface="Inter" charset="0"/>
                      </a:endParaRPr>
                    </a:p>
                  </a:txBody>
                  <a:tcPr marL="57785" marR="57785" marT="57785" marB="57785" anchor="t">
                    <a:lnL w="12700" cap="flat" cmpd="sng" algn="ctr">
                      <a:solidFill>
                        <a:srgbClr val="C5C4C8"/>
                      </a:solidFill>
                      <a:prstDash val="solid"/>
                      <a:round/>
                      <a:headEnd type="none" w="med" len="med"/>
                      <a:tailEnd type="none" w="med" len="med"/>
                    </a:lnL>
                    <a:lnR w="12700" cap="flat" cmpd="sng" algn="ctr">
                      <a:solidFill>
                        <a:srgbClr val="C5C4C8"/>
                      </a:solidFill>
                      <a:prstDash val="solid"/>
                      <a:round/>
                      <a:headEnd type="none" w="med" len="med"/>
                      <a:tailEnd type="none" w="med" len="med"/>
                    </a:lnR>
                    <a:lnT w="12700" cap="flat" cmpd="sng" algn="ctr">
                      <a:solidFill>
                        <a:srgbClr val="B7B5B9"/>
                      </a:solidFill>
                      <a:prstDash val="solid"/>
                      <a:round/>
                      <a:headEnd type="none" w="med" len="med"/>
                      <a:tailEnd type="none" w="med" len="med"/>
                    </a:lnT>
                    <a:lnB w="12700" cap="flat" cmpd="sng" algn="ctr">
                      <a:solidFill>
                        <a:srgbClr val="C5C4C8"/>
                      </a:solidFill>
                      <a:prstDash val="solid"/>
                      <a:round/>
                      <a:headEnd type="none" w="med" len="med"/>
                      <a:tailEnd type="none" w="med" len="med"/>
                    </a:lnB>
                  </a:tcPr>
                </a:tc>
              </a:tr>
              <a:tr h="359321">
                <a:tc>
                  <a:txBody>
                    <a:bodyPr/>
                    <a:lstStyle/>
                    <a:p>
                      <a:pPr indent="0" marL="0">
                        <a:lnSpc>
                          <a:spcPts val="1820"/>
                        </a:lnSpc>
                        <a:buNone/>
                      </a:pPr>
                      <a:r>
                        <a:rPr lang="en-US" sz="1300" dirty="0">
                          <a:solidFill>
                            <a:srgbClr val="21273F"/>
                          </a:solidFill>
                          <a:latin typeface="Inter" pitchFamily="34" charset="0"/>
                          <a:ea typeface="Inter" pitchFamily="34" charset="-122"/>
                          <a:cs typeface="Inter" pitchFamily="34" charset="-120"/>
                        </a:rPr>
                        <a:t>Schema with every id as an enum</a:t>
                      </a:r>
                      <a:endParaRPr lang="en-US" sz="1300" dirty="0">
                        <a:latin typeface="Inter" charset="0"/>
                        <a:ea typeface="Inter" charset="0"/>
                        <a:cs typeface="Inter" charset="0"/>
                      </a:endParaRPr>
                    </a:p>
                  </a:txBody>
                  <a:tcPr marL="57785" marR="57785" marT="57785" marB="57785" anchor="t">
                    <a:lnL w="12700" cap="flat" cmpd="sng" algn="ctr">
                      <a:solidFill>
                        <a:srgbClr val="C5C4C8"/>
                      </a:solidFill>
                      <a:prstDash val="solid"/>
                      <a:round/>
                      <a:headEnd type="none" w="med" len="med"/>
                      <a:tailEnd type="none" w="med" len="med"/>
                    </a:lnL>
                    <a:lnR w="12700" cap="flat" cmpd="sng" algn="ctr">
                      <a:solidFill>
                        <a:srgbClr val="C5C4C8"/>
                      </a:solidFill>
                      <a:prstDash val="solid"/>
                      <a:round/>
                      <a:headEnd type="none" w="med" len="med"/>
                      <a:tailEnd type="none" w="med" len="med"/>
                    </a:lnR>
                    <a:lnT w="12700" cap="flat" cmpd="sng" algn="ctr">
                      <a:solidFill>
                        <a:srgbClr val="C5C4C8"/>
                      </a:solidFill>
                      <a:prstDash val="solid"/>
                      <a:round/>
                      <a:headEnd type="none" w="med" len="med"/>
                      <a:tailEnd type="none" w="med" len="med"/>
                    </a:lnT>
                    <a:lnB w="12700" cap="flat" cmpd="sng" algn="ctr">
                      <a:solidFill>
                        <a:srgbClr val="C5C4C8"/>
                      </a:solidFill>
                      <a:prstDash val="solid"/>
                      <a:round/>
                      <a:headEnd type="none" w="med" len="med"/>
                      <a:tailEnd type="none" w="med" len="med"/>
                    </a:lnB>
                  </a:tcPr>
                </a:tc>
                <a:tc>
                  <a:txBody>
                    <a:bodyPr/>
                    <a:lstStyle/>
                    <a:p>
                      <a:pPr indent="0" marL="0">
                        <a:lnSpc>
                          <a:spcPts val="1820"/>
                        </a:lnSpc>
                        <a:buNone/>
                      </a:pPr>
                      <a:r>
                        <a:rPr lang="en-US" sz="1300" dirty="0">
                          <a:solidFill>
                            <a:srgbClr val="21273F"/>
                          </a:solidFill>
                          <a:latin typeface="Inter" pitchFamily="34" charset="0"/>
                          <a:ea typeface="Inter" pitchFamily="34" charset="-122"/>
                          <a:cs typeface="Inter" pitchFamily="34" charset="-120"/>
                        </a:rPr>
                        <a:t>Made-up metrics, fields and values</a:t>
                      </a:r>
                      <a:endParaRPr lang="en-US" sz="1300" dirty="0">
                        <a:latin typeface="Inter" charset="0"/>
                        <a:ea typeface="Inter" charset="0"/>
                        <a:cs typeface="Inter" charset="0"/>
                      </a:endParaRPr>
                    </a:p>
                  </a:txBody>
                  <a:tcPr marL="57785" marR="57785" marT="57785" marB="57785" anchor="t">
                    <a:lnL w="12700" cap="flat" cmpd="sng" algn="ctr">
                      <a:solidFill>
                        <a:srgbClr val="C5C4C8"/>
                      </a:solidFill>
                      <a:prstDash val="solid"/>
                      <a:round/>
                      <a:headEnd type="none" w="med" len="med"/>
                      <a:tailEnd type="none" w="med" len="med"/>
                    </a:lnL>
                    <a:lnR w="12700" cap="flat" cmpd="sng" algn="ctr">
                      <a:solidFill>
                        <a:srgbClr val="C5C4C8"/>
                      </a:solidFill>
                      <a:prstDash val="solid"/>
                      <a:round/>
                      <a:headEnd type="none" w="med" len="med"/>
                      <a:tailEnd type="none" w="med" len="med"/>
                    </a:lnR>
                    <a:lnT w="12700" cap="flat" cmpd="sng" algn="ctr">
                      <a:solidFill>
                        <a:srgbClr val="C5C4C8"/>
                      </a:solidFill>
                      <a:prstDash val="solid"/>
                      <a:round/>
                      <a:headEnd type="none" w="med" len="med"/>
                      <a:tailEnd type="none" w="med" len="med"/>
                    </a:lnT>
                    <a:lnB w="12700" cap="flat" cmpd="sng" algn="ctr">
                      <a:solidFill>
                        <a:srgbClr val="C5C4C8"/>
                      </a:solidFill>
                      <a:prstDash val="solid"/>
                      <a:round/>
                      <a:headEnd type="none" w="med" len="med"/>
                      <a:tailEnd type="none" w="med" len="med"/>
                    </a:lnB>
                  </a:tcPr>
                </a:tc>
                <a:tc>
                  <a:txBody>
                    <a:bodyPr/>
                    <a:lstStyle/>
                    <a:p>
                      <a:pPr indent="0" marL="0">
                        <a:lnSpc>
                          <a:spcPts val="1820"/>
                        </a:lnSpc>
                        <a:buNone/>
                      </a:pPr>
                      <a:r>
                        <a:rPr lang="en-US" sz="1300" dirty="0">
                          <a:solidFill>
                            <a:srgbClr val="21273F"/>
                          </a:solidFill>
                          <a:latin typeface="Inter" pitchFamily="34" charset="0"/>
                          <a:ea typeface="Inter" pitchFamily="34" charset="-122"/>
                          <a:cs typeface="Inter" pitchFamily="34" charset="-120"/>
                        </a:rPr>
                        <a:t>45-question evaluation</a:t>
                      </a:r>
                      <a:endParaRPr lang="en-US" sz="1300" dirty="0">
                        <a:latin typeface="Inter" charset="0"/>
                        <a:ea typeface="Inter" charset="0"/>
                        <a:cs typeface="Inter" charset="0"/>
                      </a:endParaRPr>
                    </a:p>
                  </a:txBody>
                  <a:tcPr marL="57785" marR="57785" marT="57785" marB="57785" anchor="t">
                    <a:lnL w="12700" cap="flat" cmpd="sng" algn="ctr">
                      <a:solidFill>
                        <a:srgbClr val="C5C4C8"/>
                      </a:solidFill>
                      <a:prstDash val="solid"/>
                      <a:round/>
                      <a:headEnd type="none" w="med" len="med"/>
                      <a:tailEnd type="none" w="med" len="med"/>
                    </a:lnL>
                    <a:lnR w="12700" cap="flat" cmpd="sng" algn="ctr">
                      <a:solidFill>
                        <a:srgbClr val="C5C4C8"/>
                      </a:solidFill>
                      <a:prstDash val="solid"/>
                      <a:round/>
                      <a:headEnd type="none" w="med" len="med"/>
                      <a:tailEnd type="none" w="med" len="med"/>
                    </a:lnR>
                    <a:lnT w="12700" cap="flat" cmpd="sng" algn="ctr">
                      <a:solidFill>
                        <a:srgbClr val="C5C4C8"/>
                      </a:solidFill>
                      <a:prstDash val="solid"/>
                      <a:round/>
                      <a:headEnd type="none" w="med" len="med"/>
                      <a:tailEnd type="none" w="med" len="med"/>
                    </a:lnT>
                    <a:lnB w="12700" cap="flat" cmpd="sng" algn="ctr">
                      <a:solidFill>
                        <a:srgbClr val="C5C4C8"/>
                      </a:solidFill>
                      <a:prstDash val="solid"/>
                      <a:round/>
                      <a:headEnd type="none" w="med" len="med"/>
                      <a:tailEnd type="none" w="med" len="med"/>
                    </a:lnB>
                  </a:tcPr>
                </a:tc>
              </a:tr>
              <a:tr h="359321">
                <a:tc>
                  <a:txBody>
                    <a:bodyPr/>
                    <a:lstStyle/>
                    <a:p>
                      <a:pPr indent="0" marL="0">
                        <a:lnSpc>
                          <a:spcPts val="1820"/>
                        </a:lnSpc>
                        <a:buNone/>
                      </a:pPr>
                      <a:r>
                        <a:rPr lang="en-US" sz="1300" dirty="0">
                          <a:solidFill>
                            <a:srgbClr val="21273F"/>
                          </a:solidFill>
                          <a:latin typeface="Inter" pitchFamily="34" charset="0"/>
                          <a:ea typeface="Inter" pitchFamily="34" charset="-122"/>
                          <a:cs typeface="Inter" pitchFamily="34" charset="-120"/>
                        </a:rPr>
                        <a:t>Strict parse, no extra fields</a:t>
                      </a:r>
                      <a:endParaRPr lang="en-US" sz="1300" dirty="0">
                        <a:latin typeface="Inter" charset="0"/>
                        <a:ea typeface="Inter" charset="0"/>
                        <a:cs typeface="Inter" charset="0"/>
                      </a:endParaRPr>
                    </a:p>
                  </a:txBody>
                  <a:tcPr marL="57785" marR="57785" marT="57785" marB="57785" anchor="t">
                    <a:lnL w="12700" cap="flat" cmpd="sng" algn="ctr">
                      <a:solidFill>
                        <a:srgbClr val="C5C4C8"/>
                      </a:solidFill>
                      <a:prstDash val="solid"/>
                      <a:round/>
                      <a:headEnd type="none" w="med" len="med"/>
                      <a:tailEnd type="none" w="med" len="med"/>
                    </a:lnL>
                    <a:lnR w="12700" cap="flat" cmpd="sng" algn="ctr">
                      <a:solidFill>
                        <a:srgbClr val="C5C4C8"/>
                      </a:solidFill>
                      <a:prstDash val="solid"/>
                      <a:round/>
                      <a:headEnd type="none" w="med" len="med"/>
                      <a:tailEnd type="none" w="med" len="med"/>
                    </a:lnR>
                    <a:lnT w="12700" cap="flat" cmpd="sng" algn="ctr">
                      <a:solidFill>
                        <a:srgbClr val="C5C4C8"/>
                      </a:solidFill>
                      <a:prstDash val="solid"/>
                      <a:round/>
                      <a:headEnd type="none" w="med" len="med"/>
                      <a:tailEnd type="none" w="med" len="med"/>
                    </a:lnT>
                    <a:lnB w="12700" cap="flat" cmpd="sng" algn="ctr">
                      <a:solidFill>
                        <a:srgbClr val="C5C4C8"/>
                      </a:solidFill>
                      <a:prstDash val="solid"/>
                      <a:round/>
                      <a:headEnd type="none" w="med" len="med"/>
                      <a:tailEnd type="none" w="med" len="med"/>
                    </a:lnB>
                  </a:tcPr>
                </a:tc>
                <a:tc>
                  <a:txBody>
                    <a:bodyPr/>
                    <a:lstStyle/>
                    <a:p>
                      <a:pPr indent="0" marL="0">
                        <a:lnSpc>
                          <a:spcPts val="1820"/>
                        </a:lnSpc>
                        <a:buNone/>
                      </a:pPr>
                      <a:r>
                        <a:rPr lang="en-US" sz="1300" dirty="0">
                          <a:solidFill>
                            <a:srgbClr val="21273F"/>
                          </a:solidFill>
                          <a:latin typeface="Inter" pitchFamily="34" charset="0"/>
                          <a:ea typeface="Inter" pitchFamily="34" charset="-122"/>
                          <a:cs typeface="Inter" pitchFamily="34" charset="-120"/>
                        </a:rPr>
                        <a:t>A house slipped into the spec</a:t>
                      </a:r>
                      <a:endParaRPr lang="en-US" sz="1300" dirty="0">
                        <a:latin typeface="Inter" charset="0"/>
                        <a:ea typeface="Inter" charset="0"/>
                        <a:cs typeface="Inter" charset="0"/>
                      </a:endParaRPr>
                    </a:p>
                  </a:txBody>
                  <a:tcPr marL="57785" marR="57785" marT="57785" marB="57785" anchor="t">
                    <a:lnL w="12700" cap="flat" cmpd="sng" algn="ctr">
                      <a:solidFill>
                        <a:srgbClr val="C5C4C8"/>
                      </a:solidFill>
                      <a:prstDash val="solid"/>
                      <a:round/>
                      <a:headEnd type="none" w="med" len="med"/>
                      <a:tailEnd type="none" w="med" len="med"/>
                    </a:lnL>
                    <a:lnR w="12700" cap="flat" cmpd="sng" algn="ctr">
                      <a:solidFill>
                        <a:srgbClr val="C5C4C8"/>
                      </a:solidFill>
                      <a:prstDash val="solid"/>
                      <a:round/>
                      <a:headEnd type="none" w="med" len="med"/>
                      <a:tailEnd type="none" w="med" len="med"/>
                    </a:lnR>
                    <a:lnT w="12700" cap="flat" cmpd="sng" algn="ctr">
                      <a:solidFill>
                        <a:srgbClr val="C5C4C8"/>
                      </a:solidFill>
                      <a:prstDash val="solid"/>
                      <a:round/>
                      <a:headEnd type="none" w="med" len="med"/>
                      <a:tailEnd type="none" w="med" len="med"/>
                    </a:lnT>
                    <a:lnB w="12700" cap="flat" cmpd="sng" algn="ctr">
                      <a:solidFill>
                        <a:srgbClr val="C5C4C8"/>
                      </a:solidFill>
                      <a:prstDash val="solid"/>
                      <a:round/>
                      <a:headEnd type="none" w="med" len="med"/>
                      <a:tailEnd type="none" w="med" len="med"/>
                    </a:lnB>
                  </a:tcPr>
                </a:tc>
                <a:tc>
                  <a:txBody>
                    <a:bodyPr/>
                    <a:lstStyle/>
                    <a:p>
                      <a:pPr indent="0" marL="0">
                        <a:lnSpc>
                          <a:spcPts val="1820"/>
                        </a:lnSpc>
                        <a:buNone/>
                      </a:pPr>
                      <a:r>
                        <a:rPr lang="en-US" sz="1300" dirty="0">
                          <a:solidFill>
                            <a:srgbClr val="21273F"/>
                          </a:solidFill>
                          <a:latin typeface="Inter" pitchFamily="34" charset="0"/>
                          <a:ea typeface="Inter" pitchFamily="34" charset="-122"/>
                          <a:cs typeface="Inter" pitchFamily="34" charset="-120"/>
                        </a:rPr>
                        <a:t>Unit tests</a:t>
                      </a:r>
                      <a:endParaRPr lang="en-US" sz="1300" dirty="0">
                        <a:latin typeface="Inter" charset="0"/>
                        <a:ea typeface="Inter" charset="0"/>
                        <a:cs typeface="Inter" charset="0"/>
                      </a:endParaRPr>
                    </a:p>
                  </a:txBody>
                  <a:tcPr marL="57785" marR="57785" marT="57785" marB="57785" anchor="t">
                    <a:lnL w="12700" cap="flat" cmpd="sng" algn="ctr">
                      <a:solidFill>
                        <a:srgbClr val="C5C4C8"/>
                      </a:solidFill>
                      <a:prstDash val="solid"/>
                      <a:round/>
                      <a:headEnd type="none" w="med" len="med"/>
                      <a:tailEnd type="none" w="med" len="med"/>
                    </a:lnL>
                    <a:lnR w="12700" cap="flat" cmpd="sng" algn="ctr">
                      <a:solidFill>
                        <a:srgbClr val="C5C4C8"/>
                      </a:solidFill>
                      <a:prstDash val="solid"/>
                      <a:round/>
                      <a:headEnd type="none" w="med" len="med"/>
                      <a:tailEnd type="none" w="med" len="med"/>
                    </a:lnR>
                    <a:lnT w="12700" cap="flat" cmpd="sng" algn="ctr">
                      <a:solidFill>
                        <a:srgbClr val="C5C4C8"/>
                      </a:solidFill>
                      <a:prstDash val="solid"/>
                      <a:round/>
                      <a:headEnd type="none" w="med" len="med"/>
                      <a:tailEnd type="none" w="med" len="med"/>
                    </a:lnT>
                    <a:lnB w="12700" cap="flat" cmpd="sng" algn="ctr">
                      <a:solidFill>
                        <a:srgbClr val="C5C4C8"/>
                      </a:solidFill>
                      <a:prstDash val="solid"/>
                      <a:round/>
                      <a:headEnd type="none" w="med" len="med"/>
                      <a:tailEnd type="none" w="med" len="med"/>
                    </a:lnB>
                  </a:tcPr>
                </a:tc>
              </a:tr>
              <a:tr h="590451">
                <a:tc>
                  <a:txBody>
                    <a:bodyPr/>
                    <a:lstStyle/>
                    <a:p>
                      <a:pPr indent="0" marL="0">
                        <a:lnSpc>
                          <a:spcPts val="1820"/>
                        </a:lnSpc>
                        <a:buNone/>
                      </a:pPr>
                      <a:r>
                        <a:rPr lang="en-US" sz="1300" dirty="0">
                          <a:solidFill>
                            <a:srgbClr val="21273F"/>
                          </a:solidFill>
                          <a:latin typeface="Inter" pitchFamily="34" charset="0"/>
                          <a:ea typeface="Inter" pitchFamily="34" charset="-122"/>
                          <a:cs typeface="Inter" pitchFamily="34" charset="-120"/>
                        </a:rPr>
                        <a:t>Rules per metric</a:t>
                      </a:r>
                      <a:endParaRPr lang="en-US" sz="1300" dirty="0">
                        <a:latin typeface="Inter" charset="0"/>
                        <a:ea typeface="Inter" charset="0"/>
                        <a:cs typeface="Inter" charset="0"/>
                      </a:endParaRPr>
                    </a:p>
                  </a:txBody>
                  <a:tcPr marL="57785" marR="57785" marT="57785" marB="57785" anchor="t">
                    <a:lnL w="12700" cap="flat" cmpd="sng" algn="ctr">
                      <a:solidFill>
                        <a:srgbClr val="C5C4C8"/>
                      </a:solidFill>
                      <a:prstDash val="solid"/>
                      <a:round/>
                      <a:headEnd type="none" w="med" len="med"/>
                      <a:tailEnd type="none" w="med" len="med"/>
                    </a:lnL>
                    <a:lnR w="12700" cap="flat" cmpd="sng" algn="ctr">
                      <a:solidFill>
                        <a:srgbClr val="C5C4C8"/>
                      </a:solidFill>
                      <a:prstDash val="solid"/>
                      <a:round/>
                      <a:headEnd type="none" w="med" len="med"/>
                      <a:tailEnd type="none" w="med" len="med"/>
                    </a:lnR>
                    <a:lnT w="12700" cap="flat" cmpd="sng" algn="ctr">
                      <a:solidFill>
                        <a:srgbClr val="C5C4C8"/>
                      </a:solidFill>
                      <a:prstDash val="solid"/>
                      <a:round/>
                      <a:headEnd type="none" w="med" len="med"/>
                      <a:tailEnd type="none" w="med" len="med"/>
                    </a:lnT>
                    <a:lnB w="12700" cap="flat" cmpd="sng" algn="ctr">
                      <a:solidFill>
                        <a:srgbClr val="C5C4C8"/>
                      </a:solidFill>
                      <a:prstDash val="solid"/>
                      <a:round/>
                      <a:headEnd type="none" w="med" len="med"/>
                      <a:tailEnd type="none" w="med" len="med"/>
                    </a:lnB>
                  </a:tcPr>
                </a:tc>
                <a:tc>
                  <a:txBody>
                    <a:bodyPr/>
                    <a:lstStyle/>
                    <a:p>
                      <a:pPr indent="0" marL="0">
                        <a:lnSpc>
                          <a:spcPts val="1820"/>
                        </a:lnSpc>
                        <a:buNone/>
                      </a:pPr>
                      <a:r>
                        <a:rPr lang="en-US" sz="1300" dirty="0">
                          <a:solidFill>
                            <a:srgbClr val="21273F"/>
                          </a:solidFill>
                          <a:latin typeface="Inter" pitchFamily="34" charset="0"/>
                          <a:ea typeface="Inter" pitchFamily="34" charset="-122"/>
                          <a:cs typeface="Inter" pitchFamily="34" charset="-120"/>
                        </a:rPr>
                        <a:t>Combinations that mean nothing; status for a past date</a:t>
                      </a:r>
                      <a:endParaRPr lang="en-US" sz="1300" dirty="0">
                        <a:latin typeface="Inter" charset="0"/>
                        <a:ea typeface="Inter" charset="0"/>
                        <a:cs typeface="Inter" charset="0"/>
                      </a:endParaRPr>
                    </a:p>
                  </a:txBody>
                  <a:tcPr marL="57785" marR="57785" marT="57785" marB="57785" anchor="t">
                    <a:lnL w="12700" cap="flat" cmpd="sng" algn="ctr">
                      <a:solidFill>
                        <a:srgbClr val="C5C4C8"/>
                      </a:solidFill>
                      <a:prstDash val="solid"/>
                      <a:round/>
                      <a:headEnd type="none" w="med" len="med"/>
                      <a:tailEnd type="none" w="med" len="med"/>
                    </a:lnL>
                    <a:lnR w="12700" cap="flat" cmpd="sng" algn="ctr">
                      <a:solidFill>
                        <a:srgbClr val="C5C4C8"/>
                      </a:solidFill>
                      <a:prstDash val="solid"/>
                      <a:round/>
                      <a:headEnd type="none" w="med" len="med"/>
                      <a:tailEnd type="none" w="med" len="med"/>
                    </a:lnR>
                    <a:lnT w="12700" cap="flat" cmpd="sng" algn="ctr">
                      <a:solidFill>
                        <a:srgbClr val="C5C4C8"/>
                      </a:solidFill>
                      <a:prstDash val="solid"/>
                      <a:round/>
                      <a:headEnd type="none" w="med" len="med"/>
                      <a:tailEnd type="none" w="med" len="med"/>
                    </a:lnT>
                    <a:lnB w="12700" cap="flat" cmpd="sng" algn="ctr">
                      <a:solidFill>
                        <a:srgbClr val="C5C4C8"/>
                      </a:solidFill>
                      <a:prstDash val="solid"/>
                      <a:round/>
                      <a:headEnd type="none" w="med" len="med"/>
                      <a:tailEnd type="none" w="med" len="med"/>
                    </a:lnB>
                  </a:tcPr>
                </a:tc>
                <a:tc>
                  <a:txBody>
                    <a:bodyPr/>
                    <a:lstStyle/>
                    <a:p>
                      <a:pPr indent="0" marL="0">
                        <a:lnSpc>
                          <a:spcPts val="1820"/>
                        </a:lnSpc>
                        <a:buNone/>
                      </a:pPr>
                      <a:r>
                        <a:rPr lang="en-US" sz="1300" dirty="0">
                          <a:solidFill>
                            <a:srgbClr val="21273F"/>
                          </a:solidFill>
                          <a:latin typeface="Inter" pitchFamily="34" charset="0"/>
                          <a:ea typeface="Inter" pitchFamily="34" charset="-122"/>
                          <a:cs typeface="Inter" pitchFamily="34" charset="-120"/>
                        </a:rPr>
                        <a:t>8 invalid specs</a:t>
                      </a:r>
                      <a:endParaRPr lang="en-US" sz="1300" dirty="0">
                        <a:latin typeface="Inter" charset="0"/>
                        <a:ea typeface="Inter" charset="0"/>
                        <a:cs typeface="Inter" charset="0"/>
                      </a:endParaRPr>
                    </a:p>
                  </a:txBody>
                  <a:tcPr marL="57785" marR="57785" marT="57785" marB="57785" anchor="t">
                    <a:lnL w="12700" cap="flat" cmpd="sng" algn="ctr">
                      <a:solidFill>
                        <a:srgbClr val="C5C4C8"/>
                      </a:solidFill>
                      <a:prstDash val="solid"/>
                      <a:round/>
                      <a:headEnd type="none" w="med" len="med"/>
                      <a:tailEnd type="none" w="med" len="med"/>
                    </a:lnL>
                    <a:lnR w="12700" cap="flat" cmpd="sng" algn="ctr">
                      <a:solidFill>
                        <a:srgbClr val="C5C4C8"/>
                      </a:solidFill>
                      <a:prstDash val="solid"/>
                      <a:round/>
                      <a:headEnd type="none" w="med" len="med"/>
                      <a:tailEnd type="none" w="med" len="med"/>
                    </a:lnR>
                    <a:lnT w="12700" cap="flat" cmpd="sng" algn="ctr">
                      <a:solidFill>
                        <a:srgbClr val="C5C4C8"/>
                      </a:solidFill>
                      <a:prstDash val="solid"/>
                      <a:round/>
                      <a:headEnd type="none" w="med" len="med"/>
                      <a:tailEnd type="none" w="med" len="med"/>
                    </a:lnT>
                    <a:lnB w="12700" cap="flat" cmpd="sng" algn="ctr">
                      <a:solidFill>
                        <a:srgbClr val="C5C4C8"/>
                      </a:solidFill>
                      <a:prstDash val="solid"/>
                      <a:round/>
                      <a:headEnd type="none" w="med" len="med"/>
                      <a:tailEnd type="none" w="med" len="med"/>
                    </a:lnB>
                  </a:tcPr>
                </a:tc>
              </a:tr>
              <a:tr h="359321">
                <a:tc>
                  <a:txBody>
                    <a:bodyPr/>
                    <a:lstStyle/>
                    <a:p>
                      <a:pPr indent="0" marL="0">
                        <a:lnSpc>
                          <a:spcPts val="1820"/>
                        </a:lnSpc>
                        <a:buNone/>
                      </a:pPr>
                      <a:r>
                        <a:rPr lang="en-US" sz="1300" dirty="0">
                          <a:solidFill>
                            <a:srgbClr val="21273F"/>
                          </a:solidFill>
                          <a:latin typeface="Inter" pitchFamily="34" charset="0"/>
                          <a:ea typeface="Inter" pitchFamily="34" charset="-122"/>
                          <a:cs typeface="Inter" pitchFamily="34" charset="-120"/>
                        </a:rPr>
                        <a:t>House definitions applied in code</a:t>
                      </a:r>
                      <a:endParaRPr lang="en-US" sz="1300" dirty="0">
                        <a:latin typeface="Inter" charset="0"/>
                        <a:ea typeface="Inter" charset="0"/>
                        <a:cs typeface="Inter" charset="0"/>
                      </a:endParaRPr>
                    </a:p>
                  </a:txBody>
                  <a:tcPr marL="57785" marR="57785" marT="57785" marB="57785" anchor="t">
                    <a:lnL w="12700" cap="flat" cmpd="sng" algn="ctr">
                      <a:solidFill>
                        <a:srgbClr val="C5C4C8"/>
                      </a:solidFill>
                      <a:prstDash val="solid"/>
                      <a:round/>
                      <a:headEnd type="none" w="med" len="med"/>
                      <a:tailEnd type="none" w="med" len="med"/>
                    </a:lnL>
                    <a:lnR w="12700" cap="flat" cmpd="sng" algn="ctr">
                      <a:solidFill>
                        <a:srgbClr val="C5C4C8"/>
                      </a:solidFill>
                      <a:prstDash val="solid"/>
                      <a:round/>
                      <a:headEnd type="none" w="med" len="med"/>
                      <a:tailEnd type="none" w="med" len="med"/>
                    </a:lnR>
                    <a:lnT w="12700" cap="flat" cmpd="sng" algn="ctr">
                      <a:solidFill>
                        <a:srgbClr val="C5C4C8"/>
                      </a:solidFill>
                      <a:prstDash val="solid"/>
                      <a:round/>
                      <a:headEnd type="none" w="med" len="med"/>
                      <a:tailEnd type="none" w="med" len="med"/>
                    </a:lnT>
                    <a:lnB w="12700" cap="flat" cmpd="sng" algn="ctr">
                      <a:solidFill>
                        <a:srgbClr val="C5C4C8"/>
                      </a:solidFill>
                      <a:prstDash val="solid"/>
                      <a:round/>
                      <a:headEnd type="none" w="med" len="med"/>
                      <a:tailEnd type="none" w="med" len="med"/>
                    </a:lnB>
                  </a:tcPr>
                </a:tc>
                <a:tc>
                  <a:txBody>
                    <a:bodyPr/>
                    <a:lstStyle/>
                    <a:p>
                      <a:pPr indent="0" marL="0">
                        <a:lnSpc>
                          <a:spcPts val="1820"/>
                        </a:lnSpc>
                        <a:buNone/>
                      </a:pPr>
                      <a:r>
                        <a:rPr lang="en-US" sz="1300" dirty="0">
                          <a:solidFill>
                            <a:srgbClr val="21273F"/>
                          </a:solidFill>
                          <a:latin typeface="Inter" pitchFamily="34" charset="0"/>
                          <a:ea typeface="Inter" pitchFamily="34" charset="-122"/>
                          <a:cs typeface="Inter" pitchFamily="34" charset="-120"/>
                        </a:rPr>
                        <a:t>The model picking its own meaning</a:t>
                      </a:r>
                      <a:endParaRPr lang="en-US" sz="1300" dirty="0">
                        <a:latin typeface="Inter" charset="0"/>
                        <a:ea typeface="Inter" charset="0"/>
                        <a:cs typeface="Inter" charset="0"/>
                      </a:endParaRPr>
                    </a:p>
                  </a:txBody>
                  <a:tcPr marL="57785" marR="57785" marT="57785" marB="57785" anchor="t">
                    <a:lnL w="12700" cap="flat" cmpd="sng" algn="ctr">
                      <a:solidFill>
                        <a:srgbClr val="C5C4C8"/>
                      </a:solidFill>
                      <a:prstDash val="solid"/>
                      <a:round/>
                      <a:headEnd type="none" w="med" len="med"/>
                      <a:tailEnd type="none" w="med" len="med"/>
                    </a:lnL>
                    <a:lnR w="12700" cap="flat" cmpd="sng" algn="ctr">
                      <a:solidFill>
                        <a:srgbClr val="C5C4C8"/>
                      </a:solidFill>
                      <a:prstDash val="solid"/>
                      <a:round/>
                      <a:headEnd type="none" w="med" len="med"/>
                      <a:tailEnd type="none" w="med" len="med"/>
                    </a:lnR>
                    <a:lnT w="12700" cap="flat" cmpd="sng" algn="ctr">
                      <a:solidFill>
                        <a:srgbClr val="C5C4C8"/>
                      </a:solidFill>
                      <a:prstDash val="solid"/>
                      <a:round/>
                      <a:headEnd type="none" w="med" len="med"/>
                      <a:tailEnd type="none" w="med" len="med"/>
                    </a:lnT>
                    <a:lnB w="12700" cap="flat" cmpd="sng" algn="ctr">
                      <a:solidFill>
                        <a:srgbClr val="C5C4C8"/>
                      </a:solidFill>
                      <a:prstDash val="solid"/>
                      <a:round/>
                      <a:headEnd type="none" w="med" len="med"/>
                      <a:tailEnd type="none" w="med" len="med"/>
                    </a:lnB>
                  </a:tcPr>
                </a:tc>
                <a:tc>
                  <a:txBody>
                    <a:bodyPr/>
                    <a:lstStyle/>
                    <a:p>
                      <a:pPr indent="0" marL="0">
                        <a:lnSpc>
                          <a:spcPts val="1820"/>
                        </a:lnSpc>
                        <a:buNone/>
                      </a:pPr>
                      <a:r>
                        <a:rPr lang="en-US" sz="1300" dirty="0">
                          <a:solidFill>
                            <a:srgbClr val="21273F"/>
                          </a:solidFill>
                          <a:latin typeface="Inter" pitchFamily="34" charset="0"/>
                          <a:ea typeface="Inter" pitchFamily="34" charset="-122"/>
                          <a:cs typeface="Inter" pitchFamily="34" charset="-120"/>
                        </a:rPr>
                        <a:t>Agent tests</a:t>
                      </a:r>
                      <a:endParaRPr lang="en-US" sz="1300" dirty="0">
                        <a:latin typeface="Inter" charset="0"/>
                        <a:ea typeface="Inter" charset="0"/>
                        <a:cs typeface="Inter" charset="0"/>
                      </a:endParaRPr>
                    </a:p>
                  </a:txBody>
                  <a:tcPr marL="57785" marR="57785" marT="57785" marB="57785" anchor="t">
                    <a:lnL w="12700" cap="flat" cmpd="sng" algn="ctr">
                      <a:solidFill>
                        <a:srgbClr val="C5C4C8"/>
                      </a:solidFill>
                      <a:prstDash val="solid"/>
                      <a:round/>
                      <a:headEnd type="none" w="med" len="med"/>
                      <a:tailEnd type="none" w="med" len="med"/>
                    </a:lnL>
                    <a:lnR w="12700" cap="flat" cmpd="sng" algn="ctr">
                      <a:solidFill>
                        <a:srgbClr val="C5C4C8"/>
                      </a:solidFill>
                      <a:prstDash val="solid"/>
                      <a:round/>
                      <a:headEnd type="none" w="med" len="med"/>
                      <a:tailEnd type="none" w="med" len="med"/>
                    </a:lnR>
                    <a:lnT w="12700" cap="flat" cmpd="sng" algn="ctr">
                      <a:solidFill>
                        <a:srgbClr val="C5C4C8"/>
                      </a:solidFill>
                      <a:prstDash val="solid"/>
                      <a:round/>
                      <a:headEnd type="none" w="med" len="med"/>
                      <a:tailEnd type="none" w="med" len="med"/>
                    </a:lnT>
                    <a:lnB w="12700" cap="flat" cmpd="sng" algn="ctr">
                      <a:solidFill>
                        <a:srgbClr val="C5C4C8"/>
                      </a:solidFill>
                      <a:prstDash val="solid"/>
                      <a:round/>
                      <a:headEnd type="none" w="med" len="med"/>
                      <a:tailEnd type="none" w="med" len="med"/>
                    </a:lnB>
                  </a:tcPr>
                </a:tc>
              </a:tr>
              <a:tr h="359321">
                <a:tc>
                  <a:txBody>
                    <a:bodyPr/>
                    <a:lstStyle/>
                    <a:p>
                      <a:pPr indent="0" marL="0">
                        <a:lnSpc>
                          <a:spcPts val="1820"/>
                        </a:lnSpc>
                        <a:buNone/>
                      </a:pPr>
                      <a:r>
                        <a:rPr lang="en-US" sz="1300" dirty="0">
                          <a:solidFill>
                            <a:srgbClr val="21273F"/>
                          </a:solidFill>
                          <a:latin typeface="Inter" pitchFamily="34" charset="0"/>
                          <a:ea typeface="Inter" pitchFamily="34" charset="-122"/>
                          <a:cs typeface="Inter" pitchFamily="34" charset="-120"/>
                        </a:rPr>
                        <a:t>SQL guard</a:t>
                      </a:r>
                      <a:endParaRPr lang="en-US" sz="1300" dirty="0">
                        <a:latin typeface="Inter" charset="0"/>
                        <a:ea typeface="Inter" charset="0"/>
                        <a:cs typeface="Inter" charset="0"/>
                      </a:endParaRPr>
                    </a:p>
                  </a:txBody>
                  <a:tcPr marL="57785" marR="57785" marT="57785" marB="57785" anchor="t">
                    <a:lnL w="12700" cap="flat" cmpd="sng" algn="ctr">
                      <a:solidFill>
                        <a:srgbClr val="C5C4C8"/>
                      </a:solidFill>
                      <a:prstDash val="solid"/>
                      <a:round/>
                      <a:headEnd type="none" w="med" len="med"/>
                      <a:tailEnd type="none" w="med" len="med"/>
                    </a:lnL>
                    <a:lnR w="12700" cap="flat" cmpd="sng" algn="ctr">
                      <a:solidFill>
                        <a:srgbClr val="C5C4C8"/>
                      </a:solidFill>
                      <a:prstDash val="solid"/>
                      <a:round/>
                      <a:headEnd type="none" w="med" len="med"/>
                      <a:tailEnd type="none" w="med" len="med"/>
                    </a:lnR>
                    <a:lnT w="12700" cap="flat" cmpd="sng" algn="ctr">
                      <a:solidFill>
                        <a:srgbClr val="C5C4C8"/>
                      </a:solidFill>
                      <a:prstDash val="solid"/>
                      <a:round/>
                      <a:headEnd type="none" w="med" len="med"/>
                      <a:tailEnd type="none" w="med" len="med"/>
                    </a:lnT>
                    <a:lnB w="12700" cap="flat" cmpd="sng" algn="ctr">
                      <a:solidFill>
                        <a:srgbClr val="C5C4C8"/>
                      </a:solidFill>
                      <a:prstDash val="solid"/>
                      <a:round/>
                      <a:headEnd type="none" w="med" len="med"/>
                      <a:tailEnd type="none" w="med" len="med"/>
                    </a:lnB>
                  </a:tcPr>
                </a:tc>
                <a:tc>
                  <a:txBody>
                    <a:bodyPr/>
                    <a:lstStyle/>
                    <a:p>
                      <a:pPr indent="0" marL="0">
                        <a:lnSpc>
                          <a:spcPts val="1820"/>
                        </a:lnSpc>
                        <a:buNone/>
                      </a:pPr>
                      <a:r>
                        <a:rPr lang="en-US" sz="1300" dirty="0">
                          <a:solidFill>
                            <a:srgbClr val="21273F"/>
                          </a:solidFill>
                          <a:latin typeface="Inter" pitchFamily="34" charset="0"/>
                          <a:ea typeface="Inter" pitchFamily="34" charset="-122"/>
                          <a:cs typeface="Inter" pitchFamily="34" charset="-120"/>
                        </a:rPr>
                        <a:t>Writes, file reads, other tables</a:t>
                      </a:r>
                      <a:endParaRPr lang="en-US" sz="1300" dirty="0">
                        <a:latin typeface="Inter" charset="0"/>
                        <a:ea typeface="Inter" charset="0"/>
                        <a:cs typeface="Inter" charset="0"/>
                      </a:endParaRPr>
                    </a:p>
                  </a:txBody>
                  <a:tcPr marL="57785" marR="57785" marT="57785" marB="57785" anchor="t">
                    <a:lnL w="12700" cap="flat" cmpd="sng" algn="ctr">
                      <a:solidFill>
                        <a:srgbClr val="C5C4C8"/>
                      </a:solidFill>
                      <a:prstDash val="solid"/>
                      <a:round/>
                      <a:headEnd type="none" w="med" len="med"/>
                      <a:tailEnd type="none" w="med" len="med"/>
                    </a:lnL>
                    <a:lnR w="12700" cap="flat" cmpd="sng" algn="ctr">
                      <a:solidFill>
                        <a:srgbClr val="C5C4C8"/>
                      </a:solidFill>
                      <a:prstDash val="solid"/>
                      <a:round/>
                      <a:headEnd type="none" w="med" len="med"/>
                      <a:tailEnd type="none" w="med" len="med"/>
                    </a:lnR>
                    <a:lnT w="12700" cap="flat" cmpd="sng" algn="ctr">
                      <a:solidFill>
                        <a:srgbClr val="C5C4C8"/>
                      </a:solidFill>
                      <a:prstDash val="solid"/>
                      <a:round/>
                      <a:headEnd type="none" w="med" len="med"/>
                      <a:tailEnd type="none" w="med" len="med"/>
                    </a:lnT>
                    <a:lnB w="12700" cap="flat" cmpd="sng" algn="ctr">
                      <a:solidFill>
                        <a:srgbClr val="C5C4C8"/>
                      </a:solidFill>
                      <a:prstDash val="solid"/>
                      <a:round/>
                      <a:headEnd type="none" w="med" len="med"/>
                      <a:tailEnd type="none" w="med" len="med"/>
                    </a:lnB>
                  </a:tcPr>
                </a:tc>
                <a:tc>
                  <a:txBody>
                    <a:bodyPr/>
                    <a:lstStyle/>
                    <a:p>
                      <a:pPr indent="0" marL="0">
                        <a:lnSpc>
                          <a:spcPts val="1820"/>
                        </a:lnSpc>
                        <a:buNone/>
                      </a:pPr>
                      <a:r>
                        <a:rPr lang="en-US" sz="1300" dirty="0">
                          <a:solidFill>
                            <a:srgbClr val="21273F"/>
                          </a:solidFill>
                          <a:latin typeface="Inter" pitchFamily="34" charset="0"/>
                          <a:ea typeface="Inter" pitchFamily="34" charset="-122"/>
                          <a:cs typeface="Inter" pitchFamily="34" charset="-120"/>
                        </a:rPr>
                        <a:t>18 attack queries</a:t>
                      </a:r>
                      <a:endParaRPr lang="en-US" sz="1300" dirty="0">
                        <a:latin typeface="Inter" charset="0"/>
                        <a:ea typeface="Inter" charset="0"/>
                        <a:cs typeface="Inter" charset="0"/>
                      </a:endParaRPr>
                    </a:p>
                  </a:txBody>
                  <a:tcPr marL="57785" marR="57785" marT="57785" marB="57785" anchor="t">
                    <a:lnL w="12700" cap="flat" cmpd="sng" algn="ctr">
                      <a:solidFill>
                        <a:srgbClr val="C5C4C8"/>
                      </a:solidFill>
                      <a:prstDash val="solid"/>
                      <a:round/>
                      <a:headEnd type="none" w="med" len="med"/>
                      <a:tailEnd type="none" w="med" len="med"/>
                    </a:lnL>
                    <a:lnR w="12700" cap="flat" cmpd="sng" algn="ctr">
                      <a:solidFill>
                        <a:srgbClr val="C5C4C8"/>
                      </a:solidFill>
                      <a:prstDash val="solid"/>
                      <a:round/>
                      <a:headEnd type="none" w="med" len="med"/>
                      <a:tailEnd type="none" w="med" len="med"/>
                    </a:lnR>
                    <a:lnT w="12700" cap="flat" cmpd="sng" algn="ctr">
                      <a:solidFill>
                        <a:srgbClr val="C5C4C8"/>
                      </a:solidFill>
                      <a:prstDash val="solid"/>
                      <a:round/>
                      <a:headEnd type="none" w="med" len="med"/>
                      <a:tailEnd type="none" w="med" len="med"/>
                    </a:lnT>
                    <a:lnB w="12700" cap="flat" cmpd="sng" algn="ctr">
                      <a:solidFill>
                        <a:srgbClr val="C5C4C8"/>
                      </a:solidFill>
                      <a:prstDash val="solid"/>
                      <a:round/>
                      <a:headEnd type="none" w="med" len="med"/>
                      <a:tailEnd type="none" w="med" len="med"/>
                    </a:lnB>
                  </a:tcPr>
                </a:tc>
              </a:tr>
              <a:tr h="359321">
                <a:tc>
                  <a:txBody>
                    <a:bodyPr/>
                    <a:lstStyle/>
                    <a:p>
                      <a:pPr indent="0" marL="0">
                        <a:lnSpc>
                          <a:spcPts val="1820"/>
                        </a:lnSpc>
                        <a:buNone/>
                      </a:pPr>
                      <a:r>
                        <a:rPr lang="en-US" sz="1300" dirty="0">
                          <a:solidFill>
                            <a:srgbClr val="21273F"/>
                          </a:solidFill>
                          <a:latin typeface="Inter" pitchFamily="34" charset="0"/>
                          <a:ea typeface="Inter" pitchFamily="34" charset="-122"/>
                          <a:cs typeface="Inter" pitchFamily="34" charset="-120"/>
                        </a:rPr>
                        <a:t>Read-only file per house</a:t>
                      </a:r>
                      <a:endParaRPr lang="en-US" sz="1300" dirty="0">
                        <a:latin typeface="Inter" charset="0"/>
                        <a:ea typeface="Inter" charset="0"/>
                        <a:cs typeface="Inter" charset="0"/>
                      </a:endParaRPr>
                    </a:p>
                  </a:txBody>
                  <a:tcPr marL="57785" marR="57785" marT="57785" marB="57785" anchor="t">
                    <a:lnL w="12700" cap="flat" cmpd="sng" algn="ctr">
                      <a:solidFill>
                        <a:srgbClr val="C5C4C8"/>
                      </a:solidFill>
                      <a:prstDash val="solid"/>
                      <a:round/>
                      <a:headEnd type="none" w="med" len="med"/>
                      <a:tailEnd type="none" w="med" len="med"/>
                    </a:lnL>
                    <a:lnR w="12700" cap="flat" cmpd="sng" algn="ctr">
                      <a:solidFill>
                        <a:srgbClr val="C5C4C8"/>
                      </a:solidFill>
                      <a:prstDash val="solid"/>
                      <a:round/>
                      <a:headEnd type="none" w="med" len="med"/>
                      <a:tailEnd type="none" w="med" len="med"/>
                    </a:lnR>
                    <a:lnT w="12700" cap="flat" cmpd="sng" algn="ctr">
                      <a:solidFill>
                        <a:srgbClr val="C5C4C8"/>
                      </a:solidFill>
                      <a:prstDash val="solid"/>
                      <a:round/>
                      <a:headEnd type="none" w="med" len="med"/>
                      <a:tailEnd type="none" w="med" len="med"/>
                    </a:lnT>
                    <a:lnB w="12700" cap="flat" cmpd="sng" algn="ctr">
                      <a:solidFill>
                        <a:srgbClr val="C5C4C8"/>
                      </a:solidFill>
                      <a:prstDash val="solid"/>
                      <a:round/>
                      <a:headEnd type="none" w="med" len="med"/>
                      <a:tailEnd type="none" w="med" len="med"/>
                    </a:lnB>
                  </a:tcPr>
                </a:tc>
                <a:tc>
                  <a:txBody>
                    <a:bodyPr/>
                    <a:lstStyle/>
                    <a:p>
                      <a:pPr indent="0" marL="0">
                        <a:lnSpc>
                          <a:spcPts val="1820"/>
                        </a:lnSpc>
                        <a:buNone/>
                      </a:pPr>
                      <a:r>
                        <a:rPr lang="en-US" sz="1300" dirty="0">
                          <a:solidFill>
                            <a:srgbClr val="21273F"/>
                          </a:solidFill>
                          <a:latin typeface="Inter" pitchFamily="34" charset="0"/>
                          <a:ea typeface="Inter" pitchFamily="34" charset="-122"/>
                          <a:cs typeface="Inter" pitchFamily="34" charset="-120"/>
                        </a:rPr>
                        <a:t>Anything that slips past the guard</a:t>
                      </a:r>
                      <a:endParaRPr lang="en-US" sz="1300" dirty="0">
                        <a:latin typeface="Inter" charset="0"/>
                        <a:ea typeface="Inter" charset="0"/>
                        <a:cs typeface="Inter" charset="0"/>
                      </a:endParaRPr>
                    </a:p>
                  </a:txBody>
                  <a:tcPr marL="57785" marR="57785" marT="57785" marB="57785" anchor="t">
                    <a:lnL w="12700" cap="flat" cmpd="sng" algn="ctr">
                      <a:solidFill>
                        <a:srgbClr val="C5C4C8"/>
                      </a:solidFill>
                      <a:prstDash val="solid"/>
                      <a:round/>
                      <a:headEnd type="none" w="med" len="med"/>
                      <a:tailEnd type="none" w="med" len="med"/>
                    </a:lnL>
                    <a:lnR w="12700" cap="flat" cmpd="sng" algn="ctr">
                      <a:solidFill>
                        <a:srgbClr val="C5C4C8"/>
                      </a:solidFill>
                      <a:prstDash val="solid"/>
                      <a:round/>
                      <a:headEnd type="none" w="med" len="med"/>
                      <a:tailEnd type="none" w="med" len="med"/>
                    </a:lnR>
                    <a:lnT w="12700" cap="flat" cmpd="sng" algn="ctr">
                      <a:solidFill>
                        <a:srgbClr val="C5C4C8"/>
                      </a:solidFill>
                      <a:prstDash val="solid"/>
                      <a:round/>
                      <a:headEnd type="none" w="med" len="med"/>
                      <a:tailEnd type="none" w="med" len="med"/>
                    </a:lnT>
                    <a:lnB w="12700" cap="flat" cmpd="sng" algn="ctr">
                      <a:solidFill>
                        <a:srgbClr val="C5C4C8"/>
                      </a:solidFill>
                      <a:prstDash val="solid"/>
                      <a:round/>
                      <a:headEnd type="none" w="med" len="med"/>
                      <a:tailEnd type="none" w="med" len="med"/>
                    </a:lnB>
                  </a:tcPr>
                </a:tc>
                <a:tc>
                  <a:txBody>
                    <a:bodyPr/>
                    <a:lstStyle/>
                    <a:p>
                      <a:pPr indent="0" marL="0">
                        <a:lnSpc>
                          <a:spcPts val="1820"/>
                        </a:lnSpc>
                        <a:buNone/>
                      </a:pPr>
                      <a:r>
                        <a:rPr lang="en-US" sz="1300" dirty="0">
                          <a:solidFill>
                            <a:srgbClr val="21273F"/>
                          </a:solidFill>
                          <a:latin typeface="Inter" pitchFamily="34" charset="0"/>
                          <a:ea typeface="Inter" pitchFamily="34" charset="-122"/>
                          <a:cs typeface="Inter" pitchFamily="34" charset="-120"/>
                        </a:rPr>
                        <a:t>6 attacks, guard off</a:t>
                      </a:r>
                      <a:endParaRPr lang="en-US" sz="1300" dirty="0">
                        <a:latin typeface="Inter" charset="0"/>
                        <a:ea typeface="Inter" charset="0"/>
                        <a:cs typeface="Inter" charset="0"/>
                      </a:endParaRPr>
                    </a:p>
                  </a:txBody>
                  <a:tcPr marL="57785" marR="57785" marT="57785" marB="57785" anchor="t">
                    <a:lnL w="12700" cap="flat" cmpd="sng" algn="ctr">
                      <a:solidFill>
                        <a:srgbClr val="C5C4C8"/>
                      </a:solidFill>
                      <a:prstDash val="solid"/>
                      <a:round/>
                      <a:headEnd type="none" w="med" len="med"/>
                      <a:tailEnd type="none" w="med" len="med"/>
                    </a:lnL>
                    <a:lnR w="12700" cap="flat" cmpd="sng" algn="ctr">
                      <a:solidFill>
                        <a:srgbClr val="C5C4C8"/>
                      </a:solidFill>
                      <a:prstDash val="solid"/>
                      <a:round/>
                      <a:headEnd type="none" w="med" len="med"/>
                      <a:tailEnd type="none" w="med" len="med"/>
                    </a:lnR>
                    <a:lnT w="12700" cap="flat" cmpd="sng" algn="ctr">
                      <a:solidFill>
                        <a:srgbClr val="C5C4C8"/>
                      </a:solidFill>
                      <a:prstDash val="solid"/>
                      <a:round/>
                      <a:headEnd type="none" w="med" len="med"/>
                      <a:tailEnd type="none" w="med" len="med"/>
                    </a:lnT>
                    <a:lnB w="12700" cap="flat" cmpd="sng" algn="ctr">
                      <a:solidFill>
                        <a:srgbClr val="C5C4C8"/>
                      </a:solidFill>
                      <a:prstDash val="solid"/>
                      <a:round/>
                      <a:headEnd type="none" w="med" len="med"/>
                      <a:tailEnd type="none" w="med" len="med"/>
                    </a:lnB>
                  </a:tcPr>
                </a:tc>
              </a:tr>
            </a:tbl>
          </a:graphicData>
        </a:graphic>
      </p:graphicFrame>
      <p:sp>
        <p:nvSpPr>
          <p:cNvPr id="4" name="Text 1"/>
          <p:cNvSpPr/>
          <p:nvPr/>
        </p:nvSpPr>
        <p:spPr>
          <a:xfrm>
            <a:off x="812800" y="5140226"/>
            <a:ext cx="9810750"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54586B"/>
                </a:solidFill>
                <a:latin typeface="Inter" pitchFamily="34" charset="0"/>
                <a:ea typeface="Inter" pitchFamily="34" charset="-122"/>
                <a:cs typeface="Inter" pitchFamily="34" charset="-120"/>
              </a:rPr>
              <a:t>In MongoDB: a read-only user, a stage allow-list that rejects $out and $merge, maxTimeMS, and a database per customer chosen from the login.</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30302"/>
                </a:solidFill>
                <a:latin typeface="Inter" pitchFamily="34" charset="0"/>
                <a:ea typeface="Inter" pitchFamily="34" charset="-122"/>
                <a:cs typeface="Inter" pitchFamily="34" charset="-120"/>
              </a:rPr>
              <a:t>Where the model runs</a:t>
            </a:r>
            <a:endParaRPr lang="en-US" sz="30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524000"/>
          <a:ext cx="10553700" cy="2027734"/>
        </p:xfrm>
        <a:graphic>
          <a:graphicData uri="http://schemas.openxmlformats.org/drawingml/2006/table">
            <a:tbl>
              <a:tblPr/>
              <a:tblGrid>
                <a:gridCol w="4221480"/>
                <a:gridCol w="3166110"/>
                <a:gridCol w="3166110"/>
              </a:tblGrid>
              <a:tr h="359321">
                <a:tc>
                  <a:txBody>
                    <a:bodyPr/>
                    <a:lstStyle/>
                    <a:p>
                      <a:pPr indent="0" marL="0">
                        <a:lnSpc>
                          <a:spcPts val="1820"/>
                        </a:lnSpc>
                        <a:buNone/>
                      </a:pPr>
                      <a:r>
                        <a:rPr lang="en-US" sz="1300" b="1" dirty="0">
                          <a:solidFill>
                            <a:srgbClr val="54586B"/>
                          </a:solidFill>
                          <a:latin typeface="Inter" pitchFamily="34" charset="0"/>
                          <a:ea typeface="Inter" pitchFamily="34" charset="-122"/>
                          <a:cs typeface="Inter" pitchFamily="34" charset="-120"/>
                        </a:rPr>
                        <a:t>Option</a:t>
                      </a:r>
                      <a:endParaRPr lang="en-US" sz="1300" dirty="0">
                        <a:latin typeface="Inter" charset="0"/>
                        <a:ea typeface="Inter" charset="0"/>
                        <a:cs typeface="Int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820"/>
                        </a:lnSpc>
                        <a:buNone/>
                      </a:pPr>
                      <a:r>
                        <a:rPr lang="en-US" sz="1300" b="1" dirty="0">
                          <a:solidFill>
                            <a:srgbClr val="54586B"/>
                          </a:solidFill>
                          <a:latin typeface="Inter" pitchFamily="34" charset="0"/>
                          <a:ea typeface="Inter" pitchFamily="34" charset="-122"/>
                          <a:cs typeface="Inter" pitchFamily="34" charset="-120"/>
                        </a:rPr>
                        <a:t>Text stays in Canada?</a:t>
                      </a:r>
                      <a:endParaRPr lang="en-US" sz="1300" dirty="0">
                        <a:latin typeface="Inter" charset="0"/>
                        <a:ea typeface="Inter" charset="0"/>
                        <a:cs typeface="Inter" charset="0"/>
                      </a:endParaRPr>
                    </a:p>
                  </a:txBody>
                  <a:tcPr marL="57785" marR="57785" marT="57785" marB="57785"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820"/>
                        </a:lnSpc>
                        <a:buNone/>
                      </a:pPr>
                      <a:r>
                        <a:rPr lang="en-US" sz="1300" b="1" dirty="0">
                          <a:solidFill>
                            <a:srgbClr val="54586B"/>
                          </a:solidFill>
                          <a:latin typeface="Inter" pitchFamily="34" charset="0"/>
                          <a:ea typeface="Inter" pitchFamily="34" charset="-122"/>
                          <a:cs typeface="Inter" pitchFamily="34" charset="-120"/>
                        </a:rPr>
                        <a:t>Decision</a:t>
                      </a:r>
                      <a:endParaRPr lang="en-US" sz="1300" dirty="0">
                        <a:latin typeface="Inter" charset="0"/>
                        <a:ea typeface="Inter" charset="0"/>
                        <a:cs typeface="Inter" charset="0"/>
                      </a:endParaRPr>
                    </a:p>
                  </a:txBody>
                  <a:tcPr marL="57785" marR="57785" marT="57785" marB="57785"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r>
              <a:tr h="590451">
                <a:tc>
                  <a:txBody>
                    <a:bodyPr/>
                    <a:lstStyle/>
                    <a:p>
                      <a:pPr indent="0" marL="0">
                        <a:lnSpc>
                          <a:spcPts val="1820"/>
                        </a:lnSpc>
                        <a:buNone/>
                      </a:pPr>
                      <a:r>
                        <a:rPr lang="en-US" sz="1300" dirty="0">
                          <a:solidFill>
                            <a:srgbClr val="21273F"/>
                          </a:solidFill>
                          <a:latin typeface="Inter" pitchFamily="34" charset="0"/>
                          <a:ea typeface="Inter" pitchFamily="34" charset="-122"/>
                          <a:cs typeface="Inter" pitchFamily="34" charset="-120"/>
                        </a:rPr>
                        <a:t>Open model, self-hosted in Axon’s AWS account, ca-central-1</a:t>
                      </a:r>
                      <a:endParaRPr lang="en-US" sz="1300" dirty="0">
                        <a:latin typeface="Inter" charset="0"/>
                        <a:ea typeface="Inter" charset="0"/>
                        <a:cs typeface="Int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BDC2BF"/>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BDC2BF"/>
                      </a:solidFill>
                      <a:prstDash val="solid"/>
                      <a:round/>
                      <a:headEnd type="none" w="med" len="med"/>
                      <a:tailEnd type="none" w="med" len="med"/>
                    </a:lnB>
                    <a:solidFill>
                      <a:srgbClr val="EDF3EF"/>
                    </a:solidFill>
                  </a:tcPr>
                </a:tc>
                <a:tc>
                  <a:txBody>
                    <a:bodyPr/>
                    <a:lstStyle/>
                    <a:p>
                      <a:pPr indent="0" marL="0">
                        <a:lnSpc>
                          <a:spcPts val="1820"/>
                        </a:lnSpc>
                        <a:buNone/>
                      </a:pPr>
                      <a:r>
                        <a:rPr lang="en-US" sz="1300" dirty="0">
                          <a:solidFill>
                            <a:srgbClr val="21273F"/>
                          </a:solidFill>
                          <a:latin typeface="Inter" pitchFamily="34" charset="0"/>
                          <a:ea typeface="Inter" pitchFamily="34" charset="-122"/>
                          <a:cs typeface="Inter" pitchFamily="34" charset="-120"/>
                        </a:rPr>
                        <a:t>Yes; no outside company processes it</a:t>
                      </a:r>
                      <a:endParaRPr lang="en-US" sz="1300" dirty="0">
                        <a:latin typeface="Inter" charset="0"/>
                        <a:ea typeface="Inter" charset="0"/>
                        <a:cs typeface="Inter" charset="0"/>
                      </a:endParaRPr>
                    </a:p>
                  </a:txBody>
                  <a:tcPr marL="57785" marR="57785" marT="57785" marB="57785" anchor="t">
                    <a:lnL w="12700" cap="flat" cmpd="sng" algn="ctr">
                      <a:solidFill>
                        <a:srgbClr val="BDC2BF"/>
                      </a:solidFill>
                      <a:prstDash val="solid"/>
                      <a:round/>
                      <a:headEnd type="none" w="med" len="med"/>
                      <a:tailEnd type="none" w="med" len="med"/>
                    </a:lnL>
                    <a:lnR w="12700" cap="flat" cmpd="sng" algn="ctr">
                      <a:solidFill>
                        <a:srgbClr val="BDC2BF"/>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BDC2BF"/>
                      </a:solidFill>
                      <a:prstDash val="solid"/>
                      <a:round/>
                      <a:headEnd type="none" w="med" len="med"/>
                      <a:tailEnd type="none" w="med" len="med"/>
                    </a:lnB>
                    <a:solidFill>
                      <a:srgbClr val="EDF3EF"/>
                    </a:solidFill>
                  </a:tcPr>
                </a:tc>
                <a:tc>
                  <a:txBody>
                    <a:bodyPr/>
                    <a:lstStyle/>
                    <a:p>
                      <a:pPr indent="0" marL="0">
                        <a:lnSpc>
                          <a:spcPts val="1820"/>
                        </a:lnSpc>
                        <a:buNone/>
                      </a:pPr>
                      <a:r>
                        <a:rPr lang="en-US" sz="1300" dirty="0">
                          <a:solidFill>
                            <a:srgbClr val="21273F"/>
                          </a:solidFill>
                          <a:latin typeface="Inter" pitchFamily="34" charset="0"/>
                          <a:ea typeface="Inter" pitchFamily="34" charset="-122"/>
                          <a:cs typeface="Inter" pitchFamily="34" charset="-120"/>
                        </a:rPr>
                        <a:t>Chosen</a:t>
                      </a:r>
                      <a:endParaRPr lang="en-US" sz="1300" dirty="0">
                        <a:latin typeface="Inter" charset="0"/>
                        <a:ea typeface="Inter" charset="0"/>
                        <a:cs typeface="Inter" charset="0"/>
                      </a:endParaRPr>
                    </a:p>
                  </a:txBody>
                  <a:tcPr marL="57785" marR="57785" marT="57785" marB="57785" anchor="t">
                    <a:lnL w="12700" cap="flat" cmpd="sng" algn="ctr">
                      <a:solidFill>
                        <a:srgbClr val="BDC2BF"/>
                      </a:solidFill>
                      <a:prstDash val="solid"/>
                      <a:round/>
                      <a:headEnd type="none" w="med" len="med"/>
                      <a:tailEnd type="none" w="med" len="med"/>
                    </a:lnL>
                    <a:lnR w="12700" cap="flat" cmpd="sng" algn="ctr">
                      <a:solidFill>
                        <a:srgbClr val="BDC2BF"/>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BDC2BF"/>
                      </a:solidFill>
                      <a:prstDash val="solid"/>
                      <a:round/>
                      <a:headEnd type="none" w="med" len="med"/>
                      <a:tailEnd type="none" w="med" len="med"/>
                    </a:lnB>
                    <a:solidFill>
                      <a:srgbClr val="EDF3EF"/>
                    </a:solidFill>
                  </a:tcPr>
                </a:tc>
              </a:tr>
              <a:tr h="359321">
                <a:tc>
                  <a:txBody>
                    <a:bodyPr/>
                    <a:lstStyle/>
                    <a:p>
                      <a:pPr indent="0" marL="0">
                        <a:lnSpc>
                          <a:spcPts val="1820"/>
                        </a:lnSpc>
                        <a:buNone/>
                      </a:pPr>
                      <a:r>
                        <a:rPr lang="en-US" sz="1300" dirty="0">
                          <a:solidFill>
                            <a:srgbClr val="21273F"/>
                          </a:solidFill>
                          <a:latin typeface="Inter" pitchFamily="34" charset="0"/>
                          <a:ea typeface="Inter" pitchFamily="34" charset="-122"/>
                          <a:cs typeface="Inter" pitchFamily="34" charset="-120"/>
                        </a:rPr>
                        <a:t>Amazon Bedrock (Claude), ca-central-1</a:t>
                      </a:r>
                      <a:endParaRPr lang="en-US" sz="1300" dirty="0">
                        <a:latin typeface="Inter" charset="0"/>
                        <a:ea typeface="Inter" charset="0"/>
                        <a:cs typeface="Int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DC2BF"/>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21273F"/>
                          </a:solidFill>
                          <a:latin typeface="Inter" pitchFamily="34" charset="0"/>
                          <a:ea typeface="Inter" pitchFamily="34" charset="-122"/>
                          <a:cs typeface="Inter" pitchFamily="34" charset="-120"/>
                        </a:rPr>
                        <a:t>No: routes to US regions</a:t>
                      </a:r>
                      <a:endParaRPr lang="en-US" sz="1300" dirty="0">
                        <a:latin typeface="Inter" charset="0"/>
                        <a:ea typeface="Inter" charset="0"/>
                        <a:cs typeface="Int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DC2BF"/>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21273F"/>
                          </a:solidFill>
                          <a:latin typeface="Inter" pitchFamily="34" charset="0"/>
                          <a:ea typeface="Inter" pitchFamily="34" charset="-122"/>
                          <a:cs typeface="Inter" pitchFamily="34" charset="-120"/>
                        </a:rPr>
                        <a:t>Not chosen</a:t>
                      </a:r>
                      <a:endParaRPr lang="en-US" sz="1300" dirty="0">
                        <a:latin typeface="Inter" charset="0"/>
                        <a:ea typeface="Inter" charset="0"/>
                        <a:cs typeface="Int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DC2BF"/>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9321">
                <a:tc>
                  <a:txBody>
                    <a:bodyPr/>
                    <a:lstStyle/>
                    <a:p>
                      <a:pPr indent="0" marL="0">
                        <a:lnSpc>
                          <a:spcPts val="1820"/>
                        </a:lnSpc>
                        <a:buNone/>
                      </a:pPr>
                      <a:r>
                        <a:rPr lang="en-US" sz="1300" dirty="0">
                          <a:solidFill>
                            <a:srgbClr val="21273F"/>
                          </a:solidFill>
                          <a:latin typeface="Inter" pitchFamily="34" charset="0"/>
                          <a:ea typeface="Inter" pitchFamily="34" charset="-122"/>
                          <a:cs typeface="Inter" pitchFamily="34" charset="-120"/>
                        </a:rPr>
                        <a:t>Google Vertex AI, Montréal endpoint</a:t>
                      </a:r>
                      <a:endParaRPr lang="en-US" sz="1300" dirty="0">
                        <a:latin typeface="Inter" charset="0"/>
                        <a:ea typeface="Inter" charset="0"/>
                        <a:cs typeface="Int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21273F"/>
                          </a:solidFill>
                          <a:latin typeface="Inter" pitchFamily="34" charset="0"/>
                          <a:ea typeface="Inter" pitchFamily="34" charset="-122"/>
                          <a:cs typeface="Inter" pitchFamily="34" charset="-120"/>
                        </a:rPr>
                        <a:t>Yes, if pinned</a:t>
                      </a:r>
                      <a:endParaRPr lang="en-US" sz="1300" dirty="0">
                        <a:latin typeface="Inter" charset="0"/>
                        <a:ea typeface="Inter" charset="0"/>
                        <a:cs typeface="Int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21273F"/>
                          </a:solidFill>
                          <a:latin typeface="Inter" pitchFamily="34" charset="0"/>
                          <a:ea typeface="Inter" pitchFamily="34" charset="-122"/>
                          <a:cs typeface="Inter" pitchFamily="34" charset="-120"/>
                        </a:rPr>
                        <a:t>Adds a second cloud and processor</a:t>
                      </a:r>
                      <a:endParaRPr lang="en-US" sz="1300" dirty="0">
                        <a:latin typeface="Inter" charset="0"/>
                        <a:ea typeface="Inter" charset="0"/>
                        <a:cs typeface="Int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9321">
                <a:tc>
                  <a:txBody>
                    <a:bodyPr/>
                    <a:lstStyle/>
                    <a:p>
                      <a:pPr indent="0" marL="0">
                        <a:lnSpc>
                          <a:spcPts val="1820"/>
                        </a:lnSpc>
                        <a:buNone/>
                      </a:pPr>
                      <a:r>
                        <a:rPr lang="en-US" sz="1300" dirty="0">
                          <a:solidFill>
                            <a:srgbClr val="21273F"/>
                          </a:solidFill>
                          <a:latin typeface="Inter" pitchFamily="34" charset="0"/>
                          <a:ea typeface="Inter" pitchFamily="34" charset="-122"/>
                          <a:cs typeface="Inter" pitchFamily="34" charset="-120"/>
                        </a:rPr>
                        <a:t>Anthropic API directly</a:t>
                      </a:r>
                      <a:endParaRPr lang="en-US" sz="1300" dirty="0">
                        <a:latin typeface="Inter" charset="0"/>
                        <a:ea typeface="Inter" charset="0"/>
                        <a:cs typeface="Int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21273F"/>
                          </a:solidFill>
                          <a:latin typeface="Inter" pitchFamily="34" charset="0"/>
                          <a:ea typeface="Inter" pitchFamily="34" charset="-122"/>
                          <a:cs typeface="Inter" pitchFamily="34" charset="-120"/>
                        </a:rPr>
                        <a:t>No: US or global</a:t>
                      </a:r>
                      <a:endParaRPr lang="en-US" sz="1300" dirty="0">
                        <a:latin typeface="Inter" charset="0"/>
                        <a:ea typeface="Inter" charset="0"/>
                        <a:cs typeface="Int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21273F"/>
                          </a:solidFill>
                          <a:latin typeface="Inter" pitchFamily="34" charset="0"/>
                          <a:ea typeface="Inter" pitchFamily="34" charset="-122"/>
                          <a:cs typeface="Inter" pitchFamily="34" charset="-120"/>
                        </a:rPr>
                        <a:t>Not chosen for PHI</a:t>
                      </a:r>
                      <a:endParaRPr lang="en-US" sz="1300" dirty="0">
                        <a:latin typeface="Inter" charset="0"/>
                        <a:ea typeface="Inter" charset="0"/>
                        <a:cs typeface="Int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4" name="Text 1"/>
          <p:cNvSpPr/>
          <p:nvPr/>
        </p:nvSpPr>
        <p:spPr>
          <a:xfrm>
            <a:off x="812800" y="3831134"/>
            <a:ext cx="523240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30302"/>
                </a:solidFill>
                <a:latin typeface="Inter" pitchFamily="34" charset="0"/>
                <a:ea typeface="Inter" pitchFamily="34" charset="-122"/>
                <a:cs typeface="Inter" pitchFamily="34" charset="-120"/>
              </a:rPr>
              <a:t>The prototype</a:t>
            </a:r>
            <a:endParaRPr lang="en-US" sz="1600" dirty="0"/>
          </a:p>
        </p:txBody>
      </p:sp>
      <p:sp>
        <p:nvSpPr>
          <p:cNvPr id="5" name="Text 2"/>
          <p:cNvSpPr/>
          <p:nvPr/>
        </p:nvSpPr>
        <p:spPr>
          <a:xfrm>
            <a:off x="812800" y="4138464"/>
            <a:ext cx="5232400"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54586B"/>
                </a:solidFill>
                <a:latin typeface="Inter" pitchFamily="34" charset="0"/>
                <a:ea typeface="Inter" pitchFamily="34" charset="-122"/>
                <a:cs typeface="Inter" pitchFamily="34" charset="-120"/>
              </a:rPr>
              <a:t>Google’s Gemma 3 12B, run locally with Ollama. No paid API; nothing leaves the laptop. About 10 seconds a question.</a:t>
            </a:r>
            <a:endParaRPr lang="en-US" sz="1300" dirty="0"/>
          </a:p>
        </p:txBody>
      </p:sp>
      <p:sp>
        <p:nvSpPr>
          <p:cNvPr id="6" name="Text 3"/>
          <p:cNvSpPr/>
          <p:nvPr/>
        </p:nvSpPr>
        <p:spPr>
          <a:xfrm>
            <a:off x="6299200" y="3831134"/>
            <a:ext cx="523240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30302"/>
                </a:solidFill>
                <a:latin typeface="Inter" pitchFamily="34" charset="0"/>
                <a:ea typeface="Inter" pitchFamily="34" charset="-122"/>
                <a:cs typeface="Inter" pitchFamily="34" charset="-120"/>
              </a:rPr>
              <a:t>Why self-hosted</a:t>
            </a:r>
            <a:endParaRPr lang="en-US" sz="1600" dirty="0"/>
          </a:p>
        </p:txBody>
      </p:sp>
      <p:sp>
        <p:nvSpPr>
          <p:cNvPr id="7" name="Text 4"/>
          <p:cNvSpPr/>
          <p:nvPr/>
        </p:nvSpPr>
        <p:spPr>
          <a:xfrm>
            <a:off x="6299200" y="4138464"/>
            <a:ext cx="5232400"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54586B"/>
                </a:solidFill>
                <a:latin typeface="Inter" pitchFamily="34" charset="0"/>
                <a:ea typeface="Inter" pitchFamily="34" charset="-122"/>
                <a:cs typeface="Inter" pitchFamily="34" charset="-120"/>
              </a:rPr>
              <a:t>Matches Axon running on AWS with a database per organization. One account, one region, one set of controls.</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30302"/>
                </a:solidFill>
                <a:latin typeface="Inter" pitchFamily="34" charset="0"/>
                <a:ea typeface="Inter" pitchFamily="34" charset="-122"/>
                <a:cs typeface="Inter" pitchFamily="34" charset="-120"/>
              </a:rPr>
              <a:t>How I know it works</a:t>
            </a:r>
            <a:endParaRPr lang="en-US" sz="3000" dirty="0"/>
          </a:p>
        </p:txBody>
      </p:sp>
      <p:sp>
        <p:nvSpPr>
          <p:cNvPr id="3" name="Text 1"/>
          <p:cNvSpPr/>
          <p:nvPr/>
        </p:nvSpPr>
        <p:spPr>
          <a:xfrm>
            <a:off x="812800" y="1536700"/>
            <a:ext cx="4709160"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446A3F"/>
                </a:solidFill>
                <a:latin typeface="Inter" pitchFamily="34" charset="0"/>
                <a:ea typeface="Inter" pitchFamily="34" charset="-122"/>
                <a:cs typeface="Inter" pitchFamily="34" charset="-120"/>
              </a:rPr>
              <a:t>48 LABELLED QUESTIONS</a:t>
            </a:r>
            <a:endParaRPr lang="en-US" sz="1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89720"/>
          <a:ext cx="4559300" cy="1796604"/>
        </p:xfrm>
        <a:graphic>
          <a:graphicData uri="http://schemas.openxmlformats.org/drawingml/2006/table">
            <a:tbl>
              <a:tblPr/>
              <a:tblGrid>
                <a:gridCol w="3282696"/>
                <a:gridCol w="1276604"/>
              </a:tblGrid>
              <a:tr h="359321">
                <a:tc>
                  <a:txBody>
                    <a:bodyPr/>
                    <a:lstStyle/>
                    <a:p>
                      <a:pPr indent="0" marL="0">
                        <a:lnSpc>
                          <a:spcPts val="1820"/>
                        </a:lnSpc>
                        <a:buNone/>
                      </a:pPr>
                      <a:r>
                        <a:rPr lang="en-US" sz="1300" b="1" dirty="0">
                          <a:solidFill>
                            <a:srgbClr val="54586B"/>
                          </a:solidFill>
                          <a:latin typeface="Inter" pitchFamily="34" charset="0"/>
                          <a:ea typeface="Inter" pitchFamily="34" charset="-122"/>
                          <a:cs typeface="Inter" pitchFamily="34" charset="-120"/>
                        </a:rPr>
                        <a:t>Kind</a:t>
                      </a:r>
                      <a:endParaRPr lang="en-US" sz="1300" dirty="0">
                        <a:latin typeface="Inter" charset="0"/>
                        <a:ea typeface="Inter" charset="0"/>
                        <a:cs typeface="Int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algn="r" indent="0" marL="0">
                        <a:lnSpc>
                          <a:spcPts val="1820"/>
                        </a:lnSpc>
                        <a:buNone/>
                      </a:pPr>
                      <a:r>
                        <a:rPr lang="en-US" sz="1300" b="1" dirty="0">
                          <a:solidFill>
                            <a:srgbClr val="54586B"/>
                          </a:solidFill>
                          <a:latin typeface="Inter" pitchFamily="34" charset="0"/>
                          <a:ea typeface="Inter" pitchFamily="34" charset="-122"/>
                          <a:cs typeface="Inter" pitchFamily="34" charset="-120"/>
                        </a:rPr>
                        <a:t>Questions</a:t>
                      </a:r>
                      <a:endParaRPr lang="en-US" sz="1300" dirty="0">
                        <a:latin typeface="Inter" charset="0"/>
                        <a:ea typeface="Inter" charset="0"/>
                        <a:cs typeface="Inter" charset="0"/>
                      </a:endParaRPr>
                    </a:p>
                  </a:txBody>
                  <a:tcPr marL="57785" marR="57785" marT="57785" marB="57785"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r>
              <a:tr h="359321">
                <a:tc>
                  <a:txBody>
                    <a:bodyPr/>
                    <a:lstStyle/>
                    <a:p>
                      <a:pPr indent="0" marL="0">
                        <a:lnSpc>
                          <a:spcPts val="1820"/>
                        </a:lnSpc>
                        <a:buNone/>
                      </a:pPr>
                      <a:r>
                        <a:rPr lang="en-US" sz="1300" dirty="0">
                          <a:solidFill>
                            <a:srgbClr val="21273F"/>
                          </a:solidFill>
                          <a:latin typeface="Inter" pitchFamily="34" charset="0"/>
                          <a:ea typeface="Inter" pitchFamily="34" charset="-122"/>
                          <a:cs typeface="Inter" pitchFamily="34" charset="-120"/>
                        </a:rPr>
                        <a:t>Answerable</a:t>
                      </a:r>
                      <a:endParaRPr lang="en-US" sz="1300" dirty="0">
                        <a:latin typeface="Inter" charset="0"/>
                        <a:ea typeface="Inter" charset="0"/>
                        <a:cs typeface="Int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820"/>
                        </a:lnSpc>
                        <a:buNone/>
                      </a:pPr>
                      <a:r>
                        <a:rPr lang="en-US" sz="1300" dirty="0">
                          <a:solidFill>
                            <a:srgbClr val="21273F"/>
                          </a:solidFill>
                          <a:latin typeface="Inter" pitchFamily="34" charset="0"/>
                          <a:ea typeface="Inter" pitchFamily="34" charset="-122"/>
                          <a:cs typeface="Inter" pitchFamily="34" charset="-120"/>
                        </a:rPr>
                        <a:t>27</a:t>
                      </a:r>
                      <a:endParaRPr lang="en-US" sz="1300" dirty="0">
                        <a:latin typeface="Inter" charset="0"/>
                        <a:ea typeface="Inter" charset="0"/>
                        <a:cs typeface="Int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9321">
                <a:tc>
                  <a:txBody>
                    <a:bodyPr/>
                    <a:lstStyle/>
                    <a:p>
                      <a:pPr indent="0" marL="0">
                        <a:lnSpc>
                          <a:spcPts val="1820"/>
                        </a:lnSpc>
                        <a:buNone/>
                      </a:pPr>
                      <a:r>
                        <a:rPr lang="en-US" sz="1300" dirty="0">
                          <a:solidFill>
                            <a:srgbClr val="21273F"/>
                          </a:solidFill>
                          <a:latin typeface="Inter" pitchFamily="34" charset="0"/>
                          <a:ea typeface="Inter" pitchFamily="34" charset="-122"/>
                          <a:cs typeface="Inter" pitchFamily="34" charset="-120"/>
                        </a:rPr>
                        <a:t>With a saved house definition</a:t>
                      </a:r>
                      <a:endParaRPr lang="en-US" sz="1300" dirty="0">
                        <a:latin typeface="Inter" charset="0"/>
                        <a:ea typeface="Inter" charset="0"/>
                        <a:cs typeface="Int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820"/>
                        </a:lnSpc>
                        <a:buNone/>
                      </a:pPr>
                      <a:r>
                        <a:rPr lang="en-US" sz="1300" dirty="0">
                          <a:solidFill>
                            <a:srgbClr val="21273F"/>
                          </a:solidFill>
                          <a:latin typeface="Inter" pitchFamily="34" charset="0"/>
                          <a:ea typeface="Inter" pitchFamily="34" charset="-122"/>
                          <a:cs typeface="Inter" pitchFamily="34" charset="-120"/>
                        </a:rPr>
                        <a:t>3</a:t>
                      </a:r>
                      <a:endParaRPr lang="en-US" sz="1300" dirty="0">
                        <a:latin typeface="Inter" charset="0"/>
                        <a:ea typeface="Inter" charset="0"/>
                        <a:cs typeface="Int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9321">
                <a:tc>
                  <a:txBody>
                    <a:bodyPr/>
                    <a:lstStyle/>
                    <a:p>
                      <a:pPr indent="0" marL="0">
                        <a:lnSpc>
                          <a:spcPts val="1820"/>
                        </a:lnSpc>
                        <a:buNone/>
                      </a:pPr>
                      <a:r>
                        <a:rPr lang="en-US" sz="1300" dirty="0">
                          <a:solidFill>
                            <a:srgbClr val="21273F"/>
                          </a:solidFill>
                          <a:latin typeface="Inter" pitchFamily="34" charset="0"/>
                          <a:ea typeface="Inter" pitchFamily="34" charset="-122"/>
                          <a:cs typeface="Inter" pitchFamily="34" charset="-120"/>
                        </a:rPr>
                        <a:t>Must ask a clarifying question</a:t>
                      </a:r>
                      <a:endParaRPr lang="en-US" sz="1300" dirty="0">
                        <a:latin typeface="Inter" charset="0"/>
                        <a:ea typeface="Inter" charset="0"/>
                        <a:cs typeface="Int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820"/>
                        </a:lnSpc>
                        <a:buNone/>
                      </a:pPr>
                      <a:r>
                        <a:rPr lang="en-US" sz="1300" dirty="0">
                          <a:solidFill>
                            <a:srgbClr val="21273F"/>
                          </a:solidFill>
                          <a:latin typeface="Inter" pitchFamily="34" charset="0"/>
                          <a:ea typeface="Inter" pitchFamily="34" charset="-122"/>
                          <a:cs typeface="Inter" pitchFamily="34" charset="-120"/>
                        </a:rPr>
                        <a:t>7</a:t>
                      </a:r>
                      <a:endParaRPr lang="en-US" sz="1300" dirty="0">
                        <a:latin typeface="Inter" charset="0"/>
                        <a:ea typeface="Inter" charset="0"/>
                        <a:cs typeface="Int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9321">
                <a:tc>
                  <a:txBody>
                    <a:bodyPr/>
                    <a:lstStyle/>
                    <a:p>
                      <a:pPr indent="0" marL="0">
                        <a:lnSpc>
                          <a:spcPts val="1820"/>
                        </a:lnSpc>
                        <a:buNone/>
                      </a:pPr>
                      <a:r>
                        <a:rPr lang="en-US" sz="1300" dirty="0">
                          <a:solidFill>
                            <a:srgbClr val="21273F"/>
                          </a:solidFill>
                          <a:latin typeface="Inter" pitchFamily="34" charset="0"/>
                          <a:ea typeface="Inter" pitchFamily="34" charset="-122"/>
                          <a:cs typeface="Inter" pitchFamily="34" charset="-120"/>
                        </a:rPr>
                        <a:t>Must decline</a:t>
                      </a:r>
                      <a:endParaRPr lang="en-US" sz="1300" dirty="0">
                        <a:latin typeface="Inter" charset="0"/>
                        <a:ea typeface="Inter" charset="0"/>
                        <a:cs typeface="Int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820"/>
                        </a:lnSpc>
                        <a:buNone/>
                      </a:pPr>
                      <a:r>
                        <a:rPr lang="en-US" sz="1300" dirty="0">
                          <a:solidFill>
                            <a:srgbClr val="21273F"/>
                          </a:solidFill>
                          <a:latin typeface="Inter" pitchFamily="34" charset="0"/>
                          <a:ea typeface="Inter" pitchFamily="34" charset="-122"/>
                          <a:cs typeface="Inter" pitchFamily="34" charset="-120"/>
                        </a:rPr>
                        <a:t>8</a:t>
                      </a:r>
                      <a:endParaRPr lang="en-US" sz="1300" dirty="0">
                        <a:latin typeface="Inter" charset="0"/>
                        <a:ea typeface="Inter" charset="0"/>
                        <a:cs typeface="Int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3813324"/>
            <a:ext cx="4709160" cy="6882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7E7D91"/>
                </a:solidFill>
                <a:latin typeface="Inter" pitchFamily="34" charset="0"/>
                <a:ea typeface="Inter" pitchFamily="34" charset="-122"/>
                <a:cs typeface="Inter" pitchFamily="34" charset="-120"/>
              </a:rPr>
              <a:t>Plus 194 automated tests: metric edge cases, privacy, query safety, tenant isolation, the dashboard and the question tool agreeing.</a:t>
            </a:r>
            <a:endParaRPr lang="en-US" sz="1200" dirty="0"/>
          </a:p>
        </p:txBody>
      </p:sp>
      <p:sp>
        <p:nvSpPr>
          <p:cNvPr id="6" name="Text 3"/>
          <p:cNvSpPr/>
          <p:nvPr/>
        </p:nvSpPr>
        <p:spPr>
          <a:xfrm>
            <a:off x="5994400" y="1536700"/>
            <a:ext cx="5546344"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446A3F"/>
                </a:solidFill>
                <a:latin typeface="Inter" pitchFamily="34" charset="0"/>
                <a:ea typeface="Inter" pitchFamily="34" charset="-122"/>
                <a:cs typeface="Inter" pitchFamily="34" charset="-120"/>
              </a:rPr>
              <a:t>RESULTS, GEMMA 3 12B, LOCAL</a:t>
            </a:r>
            <a:endParaRPr lang="en-US" sz="1200" dirty="0"/>
          </a:p>
        </p:txBody>
      </p:sp>
      <p:sp>
        <p:nvSpPr>
          <p:cNvPr id="7" name="Text 4"/>
          <p:cNvSpPr/>
          <p:nvPr/>
        </p:nvSpPr>
        <p:spPr>
          <a:xfrm>
            <a:off x="5994400" y="1877020"/>
            <a:ext cx="1320800"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030302"/>
                </a:solidFill>
                <a:latin typeface="Inter" pitchFamily="34" charset="0"/>
                <a:ea typeface="Inter" pitchFamily="34" charset="-122"/>
                <a:cs typeface="Inter" pitchFamily="34" charset="-120"/>
              </a:rPr>
              <a:t>0</a:t>
            </a:r>
            <a:endParaRPr lang="en-US" sz="3200" dirty="0"/>
          </a:p>
        </p:txBody>
      </p:sp>
      <p:sp>
        <p:nvSpPr>
          <p:cNvPr id="8" name="Text 5"/>
          <p:cNvSpPr/>
          <p:nvPr/>
        </p:nvSpPr>
        <p:spPr>
          <a:xfrm>
            <a:off x="7416800" y="2054820"/>
            <a:ext cx="1386423"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4586B"/>
                </a:solidFill>
                <a:latin typeface="Inter" pitchFamily="34" charset="0"/>
                <a:ea typeface="Inter" pitchFamily="34" charset="-122"/>
                <a:cs typeface="Inter" pitchFamily="34" charset="-120"/>
              </a:rPr>
              <a:t>unsafe answers</a:t>
            </a:r>
            <a:endParaRPr lang="en-US" sz="1300" dirty="0"/>
          </a:p>
        </p:txBody>
      </p:sp>
      <p:sp>
        <p:nvSpPr>
          <p:cNvPr id="9" name="Text 6"/>
          <p:cNvSpPr/>
          <p:nvPr/>
        </p:nvSpPr>
        <p:spPr>
          <a:xfrm>
            <a:off x="5994400" y="2412950"/>
            <a:ext cx="1320800"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030302"/>
                </a:solidFill>
                <a:latin typeface="Inter" pitchFamily="34" charset="0"/>
                <a:ea typeface="Inter" pitchFamily="34" charset="-122"/>
                <a:cs typeface="Inter" pitchFamily="34" charset="-120"/>
              </a:rPr>
              <a:t>98%</a:t>
            </a:r>
            <a:endParaRPr lang="en-US" sz="3200" dirty="0"/>
          </a:p>
        </p:txBody>
      </p:sp>
      <p:sp>
        <p:nvSpPr>
          <p:cNvPr id="10" name="Text 7"/>
          <p:cNvSpPr/>
          <p:nvPr/>
        </p:nvSpPr>
        <p:spPr>
          <a:xfrm>
            <a:off x="7416800" y="2590750"/>
            <a:ext cx="3598188"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4586B"/>
                </a:solidFill>
                <a:latin typeface="Inter" pitchFamily="34" charset="0"/>
                <a:ea typeface="Inter" pitchFamily="34" charset="-122"/>
                <a:cs typeface="Inter" pitchFamily="34" charset="-120"/>
              </a:rPr>
              <a:t>right kind of reply: answer, ask or decline</a:t>
            </a:r>
            <a:endParaRPr lang="en-US" sz="1300" dirty="0"/>
          </a:p>
        </p:txBody>
      </p:sp>
      <p:sp>
        <p:nvSpPr>
          <p:cNvPr id="11" name="Text 8"/>
          <p:cNvSpPr/>
          <p:nvPr/>
        </p:nvSpPr>
        <p:spPr>
          <a:xfrm>
            <a:off x="5994400" y="2948880"/>
            <a:ext cx="1320800"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030302"/>
                </a:solidFill>
                <a:latin typeface="Inter" pitchFamily="34" charset="0"/>
                <a:ea typeface="Inter" pitchFamily="34" charset="-122"/>
                <a:cs typeface="Inter" pitchFamily="34" charset="-120"/>
              </a:rPr>
              <a:t>100%</a:t>
            </a:r>
            <a:endParaRPr lang="en-US" sz="3200" dirty="0"/>
          </a:p>
        </p:txBody>
      </p:sp>
      <p:sp>
        <p:nvSpPr>
          <p:cNvPr id="12" name="Text 9"/>
          <p:cNvSpPr/>
          <p:nvPr/>
        </p:nvSpPr>
        <p:spPr>
          <a:xfrm>
            <a:off x="7416800" y="3126680"/>
            <a:ext cx="2782074"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4586B"/>
                </a:solidFill>
                <a:latin typeface="Inter" pitchFamily="34" charset="0"/>
                <a:ea typeface="Inter" pitchFamily="34" charset="-122"/>
                <a:cs typeface="Inter" pitchFamily="34" charset="-120"/>
              </a:rPr>
              <a:t>clarification precision and recall</a:t>
            </a:r>
            <a:endParaRPr lang="en-US" sz="1300" dirty="0"/>
          </a:p>
        </p:txBody>
      </p:sp>
      <p:sp>
        <p:nvSpPr>
          <p:cNvPr id="13" name="Text 10"/>
          <p:cNvSpPr/>
          <p:nvPr/>
        </p:nvSpPr>
        <p:spPr>
          <a:xfrm>
            <a:off x="5994400" y="3484811"/>
            <a:ext cx="1320800"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030302"/>
                </a:solidFill>
                <a:latin typeface="Inter" pitchFamily="34" charset="0"/>
                <a:ea typeface="Inter" pitchFamily="34" charset="-122"/>
                <a:cs typeface="Inter" pitchFamily="34" charset="-120"/>
              </a:rPr>
              <a:t>71%</a:t>
            </a:r>
            <a:endParaRPr lang="en-US" sz="3200" dirty="0"/>
          </a:p>
        </p:txBody>
      </p:sp>
      <p:sp>
        <p:nvSpPr>
          <p:cNvPr id="14" name="Text 11"/>
          <p:cNvSpPr/>
          <p:nvPr/>
        </p:nvSpPr>
        <p:spPr>
          <a:xfrm>
            <a:off x="7416800" y="3662611"/>
            <a:ext cx="3469958"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4586B"/>
                </a:solidFill>
                <a:latin typeface="Inter" pitchFamily="34" charset="0"/>
                <a:ea typeface="Inter" pitchFamily="34" charset="-122"/>
                <a:cs typeface="Inter" pitchFamily="34" charset="-120"/>
              </a:rPr>
              <a:t>same numbers as the expected answer</a:t>
            </a:r>
            <a:endParaRPr lang="en-US" sz="1300" dirty="0"/>
          </a:p>
        </p:txBody>
      </p:sp>
      <p:sp>
        <p:nvSpPr>
          <p:cNvPr id="15" name="Text 12"/>
          <p:cNvSpPr/>
          <p:nvPr/>
        </p:nvSpPr>
        <p:spPr>
          <a:xfrm>
            <a:off x="5994400" y="4020741"/>
            <a:ext cx="5546344"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7E7D91"/>
                </a:solidFill>
                <a:latin typeface="Inter" pitchFamily="34" charset="0"/>
                <a:ea typeface="Inter" pitchFamily="34" charset="-122"/>
                <a:cs typeface="Inter" pitchFamily="34" charset="-120"/>
              </a:rPr>
              <a:t>Misses are wrong groupings or filters, never invented numbers.</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5FB"/>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30302"/>
                </a:solidFill>
                <a:latin typeface="Inter" pitchFamily="34" charset="0"/>
                <a:ea typeface="Inter" pitchFamily="34" charset="-122"/>
                <a:cs typeface="Inter" pitchFamily="34" charset="-120"/>
              </a:rPr>
              <a:t>Iteration, versions and caching</a:t>
            </a:r>
            <a:endParaRPr lang="en-US" sz="3000" dirty="0"/>
          </a:p>
        </p:txBody>
      </p:sp>
      <p:sp>
        <p:nvSpPr>
          <p:cNvPr id="3" name="Shape 1"/>
          <p:cNvSpPr/>
          <p:nvPr/>
        </p:nvSpPr>
        <p:spPr>
          <a:xfrm>
            <a:off x="812800" y="1485900"/>
            <a:ext cx="8890000" cy="3505200"/>
          </a:xfrm>
          <a:prstGeom prst="roundRect">
            <a:avLst>
              <a:gd name="adj" fmla="val 2899"/>
            </a:avLst>
          </a:prstGeom>
          <a:solidFill>
            <a:srgbClr val="FFFFFF"/>
          </a:solidFill>
          <a:ln/>
        </p:spPr>
      </p:sp>
      <p:pic>
        <p:nvPicPr>
          <p:cNvPr id="4" name="Image 0" descr="A follow-up such as split by fee produces spec version 2 with its parent and a diff; a saved dashboard is a list of spec hashes that can roll back; the cache key is house, spec and data version, so a rebuild makes old results unused">    </p:cNvPr>
          <p:cNvPicPr>
            <a:picLocks noChangeAspect="1"/>
          </p:cNvPicPr>
          <p:nvPr/>
        </p:nvPicPr>
        <p:blipFill>
          <a:blip r:embed="rId1"/>
          <a:srcRect l="0" r="0" t="-16" b="-16"/>
          <a:stretch/>
        </p:blipFill>
        <p:spPr>
          <a:xfrm>
            <a:off x="812800" y="1485900"/>
            <a:ext cx="8890000" cy="3505200"/>
          </a:xfrm>
          <a:prstGeom prst="roundRect">
            <a:avLst>
              <a:gd name="adj" fmla="val 2899"/>
            </a:avLst>
          </a:prstGeom>
        </p:spPr>
      </p:pic>
      <p:sp>
        <p:nvSpPr>
          <p:cNvPr id="5" name="Text 2"/>
          <p:cNvSpPr/>
          <p:nvPr/>
        </p:nvSpPr>
        <p:spPr>
          <a:xfrm>
            <a:off x="812800" y="5245100"/>
            <a:ext cx="348828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30302"/>
                </a:solidFill>
                <a:latin typeface="Inter" pitchFamily="34" charset="0"/>
                <a:ea typeface="Inter" pitchFamily="34" charset="-122"/>
                <a:cs typeface="Inter" pitchFamily="34" charset="-120"/>
              </a:rPr>
              <a:t>Built</a:t>
            </a:r>
            <a:endParaRPr lang="en-US" sz="1500" dirty="0"/>
          </a:p>
        </p:txBody>
      </p:sp>
      <p:sp>
        <p:nvSpPr>
          <p:cNvPr id="6" name="Text 3"/>
          <p:cNvSpPr/>
          <p:nvPr/>
        </p:nvSpPr>
        <p:spPr>
          <a:xfrm>
            <a:off x="812800" y="5524500"/>
            <a:ext cx="3488284"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54586B"/>
                </a:solidFill>
                <a:latin typeface="Inter" pitchFamily="34" charset="0"/>
                <a:ea typeface="Inter" pitchFamily="34" charset="-122"/>
                <a:cs typeface="Inter" pitchFamily="34" charset="-120"/>
              </a:rPr>
              <a:t>Spec hashes, versioned house definitions, the audit log</a:t>
            </a:r>
            <a:endParaRPr lang="en-US" sz="1300" dirty="0"/>
          </a:p>
        </p:txBody>
      </p:sp>
      <p:sp>
        <p:nvSpPr>
          <p:cNvPr id="7" name="Text 4"/>
          <p:cNvSpPr/>
          <p:nvPr/>
        </p:nvSpPr>
        <p:spPr>
          <a:xfrm>
            <a:off x="4605883" y="5245100"/>
            <a:ext cx="697651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30302"/>
                </a:solidFill>
                <a:latin typeface="Inter" pitchFamily="34" charset="0"/>
                <a:ea typeface="Inter" pitchFamily="34" charset="-122"/>
                <a:cs typeface="Inter" pitchFamily="34" charset="-120"/>
              </a:rPr>
              <a:t>Designed</a:t>
            </a:r>
            <a:endParaRPr lang="en-US" sz="1500" dirty="0"/>
          </a:p>
        </p:txBody>
      </p:sp>
      <p:sp>
        <p:nvSpPr>
          <p:cNvPr id="8" name="Text 5"/>
          <p:cNvSpPr/>
          <p:nvPr/>
        </p:nvSpPr>
        <p:spPr>
          <a:xfrm>
            <a:off x="4605883" y="5524500"/>
            <a:ext cx="6976516"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54586B"/>
                </a:solidFill>
                <a:latin typeface="Inter" pitchFamily="34" charset="0"/>
                <a:ea typeface="Inter" pitchFamily="34" charset="-122"/>
                <a:cs typeface="Inter" pitchFamily="34" charset="-120"/>
              </a:rPr>
              <a:t>Follow-ups as spec diffs, saved dashboards with roll-back, a cache that can’t serve stale results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30302"/>
                </a:solidFill>
                <a:latin typeface="Inter" pitchFamily="34" charset="0"/>
                <a:ea typeface="Inter" pitchFamily="34" charset="-122"/>
                <a:cs typeface="Inter" pitchFamily="34" charset="-120"/>
              </a:rPr>
              <a:t>Task C: notes, accuracy, one prediction</a:t>
            </a:r>
            <a:endParaRPr lang="en-US" sz="3000" dirty="0"/>
          </a:p>
        </p:txBody>
      </p:sp>
      <p:sp>
        <p:nvSpPr>
          <p:cNvPr id="3" name="Shape 1"/>
          <p:cNvSpPr/>
          <p:nvPr/>
        </p:nvSpPr>
        <p:spPr>
          <a:xfrm>
            <a:off x="812800" y="1587500"/>
            <a:ext cx="3352800" cy="2454870"/>
          </a:xfrm>
          <a:prstGeom prst="roundRect">
            <a:avLst>
              <a:gd name="adj" fmla="val 4139"/>
            </a:avLst>
          </a:prstGeom>
          <a:solidFill>
            <a:srgbClr val="F7F5FB"/>
          </a:solidFill>
          <a:ln/>
        </p:spPr>
      </p:sp>
      <p:sp>
        <p:nvSpPr>
          <p:cNvPr id="4" name="Text 2"/>
          <p:cNvSpPr/>
          <p:nvPr/>
        </p:nvSpPr>
        <p:spPr>
          <a:xfrm>
            <a:off x="1066800" y="1841500"/>
            <a:ext cx="2930144"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446A3F"/>
                </a:solidFill>
                <a:latin typeface="Inter" pitchFamily="34" charset="0"/>
                <a:ea typeface="Inter" pitchFamily="34" charset="-122"/>
                <a:cs typeface="Inter" pitchFamily="34" charset="-120"/>
              </a:rPr>
              <a:t>C1 · NOTES TO FIELDS, BUILT</a:t>
            </a:r>
            <a:endParaRPr lang="en-US" sz="1200" dirty="0"/>
          </a:p>
        </p:txBody>
      </p:sp>
      <p:sp>
        <p:nvSpPr>
          <p:cNvPr id="5" name="Text 3"/>
          <p:cNvSpPr/>
          <p:nvPr/>
        </p:nvSpPr>
        <p:spPr>
          <a:xfrm>
            <a:off x="1066800" y="2156420"/>
            <a:ext cx="2930144" cy="565150"/>
          </a:xfrm>
          <a:prstGeom prst="rect">
            <a:avLst/>
          </a:prstGeom>
          <a:noFill/>
          <a:ln/>
        </p:spPr>
        <p:txBody>
          <a:bodyPr wrap="square" lIns="0" tIns="0" rIns="0" bIns="0" rtlCol="0" anchor="t">
            <a:normAutofit/>
          </a:bodyPr>
          <a:lstStyle/>
          <a:p>
            <a:pPr algn="l" indent="0" marL="0">
              <a:lnSpc>
                <a:spcPts val="2125"/>
              </a:lnSpc>
              <a:buNone/>
            </a:pPr>
            <a:r>
              <a:rPr lang="en-US" sz="1700" b="1" dirty="0">
                <a:solidFill>
                  <a:srgbClr val="030302"/>
                </a:solidFill>
                <a:latin typeface="Inter" pitchFamily="34" charset="0"/>
                <a:ea typeface="Inter" pitchFamily="34" charset="-122"/>
                <a:cs typeface="Inter" pitchFamily="34" charset="-120"/>
              </a:rPr>
              <a:t>Rules, then a model, then people</a:t>
            </a:r>
            <a:endParaRPr lang="en-US" sz="1700" dirty="0"/>
          </a:p>
        </p:txBody>
      </p:sp>
      <p:sp>
        <p:nvSpPr>
          <p:cNvPr id="6" name="Text 4"/>
          <p:cNvSpPr/>
          <p:nvPr/>
        </p:nvSpPr>
        <p:spPr>
          <a:xfrm>
            <a:off x="1066800" y="2797770"/>
            <a:ext cx="2930144" cy="10160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54586B"/>
                </a:solidFill>
                <a:latin typeface="Inter" pitchFamily="34" charset="0"/>
                <a:ea typeface="Inter" pitchFamily="34" charset="-122"/>
                <a:cs typeface="Inter" pitchFamily="34" charset="-120"/>
              </a:rPr>
              <a:t>Redact first. Rules for familiar wording; a self-hosted model fills a fixed schema and quotes its evidence. Risk flags always go to staff.</a:t>
            </a:r>
            <a:endParaRPr lang="en-US" sz="1300" dirty="0"/>
          </a:p>
        </p:txBody>
      </p:sp>
      <p:sp>
        <p:nvSpPr>
          <p:cNvPr id="7" name="Shape 5"/>
          <p:cNvSpPr/>
          <p:nvPr/>
        </p:nvSpPr>
        <p:spPr>
          <a:xfrm>
            <a:off x="4419600" y="1587500"/>
            <a:ext cx="3352800" cy="2454870"/>
          </a:xfrm>
          <a:prstGeom prst="roundRect">
            <a:avLst>
              <a:gd name="adj" fmla="val 4139"/>
            </a:avLst>
          </a:prstGeom>
          <a:solidFill>
            <a:srgbClr val="F7F5FB"/>
          </a:solidFill>
          <a:ln/>
        </p:spPr>
      </p:sp>
      <p:sp>
        <p:nvSpPr>
          <p:cNvPr id="8" name="Text 6"/>
          <p:cNvSpPr/>
          <p:nvPr/>
        </p:nvSpPr>
        <p:spPr>
          <a:xfrm>
            <a:off x="4673600" y="1841500"/>
            <a:ext cx="2930144"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446A3F"/>
                </a:solidFill>
                <a:latin typeface="Inter" pitchFamily="34" charset="0"/>
                <a:ea typeface="Inter" pitchFamily="34" charset="-122"/>
                <a:cs typeface="Inter" pitchFamily="34" charset="-120"/>
              </a:rPr>
              <a:t>C2 · ACCURACY</a:t>
            </a:r>
            <a:endParaRPr lang="en-US" sz="1200" dirty="0"/>
          </a:p>
        </p:txBody>
      </p:sp>
      <p:sp>
        <p:nvSpPr>
          <p:cNvPr id="9" name="Text 7"/>
          <p:cNvSpPr/>
          <p:nvPr/>
        </p:nvSpPr>
        <p:spPr>
          <a:xfrm>
            <a:off x="4673600" y="2156420"/>
            <a:ext cx="2930144" cy="565150"/>
          </a:xfrm>
          <a:prstGeom prst="rect">
            <a:avLst/>
          </a:prstGeom>
          <a:noFill/>
          <a:ln/>
        </p:spPr>
        <p:txBody>
          <a:bodyPr wrap="square" lIns="0" tIns="0" rIns="0" bIns="0" rtlCol="0" anchor="t">
            <a:normAutofit/>
          </a:bodyPr>
          <a:lstStyle/>
          <a:p>
            <a:pPr algn="l" indent="0" marL="0">
              <a:lnSpc>
                <a:spcPts val="2125"/>
              </a:lnSpc>
              <a:buNone/>
            </a:pPr>
            <a:r>
              <a:rPr lang="en-US" sz="1700" b="1" dirty="0">
                <a:solidFill>
                  <a:srgbClr val="030302"/>
                </a:solidFill>
                <a:latin typeface="Inter" pitchFamily="34" charset="0"/>
                <a:ea typeface="Inter" pitchFamily="34" charset="-122"/>
                <a:cs typeface="Inter" pitchFamily="34" charset="-120"/>
              </a:rPr>
              <a:t>Double-labelled notes, recall first</a:t>
            </a:r>
            <a:endParaRPr lang="en-US" sz="1700" dirty="0"/>
          </a:p>
        </p:txBody>
      </p:sp>
      <p:sp>
        <p:nvSpPr>
          <p:cNvPr id="10" name="Text 8"/>
          <p:cNvSpPr/>
          <p:nvPr/>
        </p:nvSpPr>
        <p:spPr>
          <a:xfrm>
            <a:off x="4673600" y="2797770"/>
            <a:ext cx="2930144" cy="10160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54586B"/>
                </a:solidFill>
                <a:latin typeface="Inter" pitchFamily="34" charset="0"/>
                <a:ea typeface="Inter" pitchFamily="34" charset="-122"/>
                <a:cs typeface="Inter" pitchFamily="34" charset="-120"/>
              </a:rPr>
              <a:t>500 to 1,000 notes, rare events over-sampled. F1 per field, recall first for risk. Re-run on every change; watch override rates.</a:t>
            </a:r>
            <a:endParaRPr lang="en-US" sz="1300" dirty="0"/>
          </a:p>
        </p:txBody>
      </p:sp>
      <p:sp>
        <p:nvSpPr>
          <p:cNvPr id="11" name="Shape 9"/>
          <p:cNvSpPr/>
          <p:nvPr/>
        </p:nvSpPr>
        <p:spPr>
          <a:xfrm>
            <a:off x="8026400" y="1587500"/>
            <a:ext cx="3352800" cy="2454870"/>
          </a:xfrm>
          <a:prstGeom prst="roundRect">
            <a:avLst>
              <a:gd name="adj" fmla="val 4139"/>
            </a:avLst>
          </a:prstGeom>
          <a:solidFill>
            <a:srgbClr val="F7F5FB"/>
          </a:solidFill>
          <a:ln/>
        </p:spPr>
      </p:sp>
      <p:sp>
        <p:nvSpPr>
          <p:cNvPr id="12" name="Text 10"/>
          <p:cNvSpPr/>
          <p:nvPr/>
        </p:nvSpPr>
        <p:spPr>
          <a:xfrm>
            <a:off x="8280400" y="1841500"/>
            <a:ext cx="2930144"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446A3F"/>
                </a:solidFill>
                <a:latin typeface="Inter" pitchFamily="34" charset="0"/>
                <a:ea typeface="Inter" pitchFamily="34" charset="-122"/>
                <a:cs typeface="Inter" pitchFamily="34" charset="-120"/>
              </a:rPr>
              <a:t>C3 · ONE PREDICTION</a:t>
            </a:r>
            <a:endParaRPr lang="en-US" sz="1200" dirty="0"/>
          </a:p>
        </p:txBody>
      </p:sp>
      <p:sp>
        <p:nvSpPr>
          <p:cNvPr id="13" name="Text 11"/>
          <p:cNvSpPr/>
          <p:nvPr/>
        </p:nvSpPr>
        <p:spPr>
          <a:xfrm>
            <a:off x="8280400" y="2156420"/>
            <a:ext cx="3098800" cy="295275"/>
          </a:xfrm>
          <a:prstGeom prst="rect">
            <a:avLst/>
          </a:prstGeom>
          <a:noFill/>
          <a:ln/>
        </p:spPr>
        <p:txBody>
          <a:bodyPr wrap="square" lIns="0" tIns="0" rIns="0" bIns="0" rtlCol="0" anchor="t">
            <a:normAutofit/>
          </a:bodyPr>
          <a:lstStyle/>
          <a:p>
            <a:pPr algn="l" indent="0" marL="0">
              <a:lnSpc>
                <a:spcPts val="2125"/>
              </a:lnSpc>
              <a:buNone/>
            </a:pPr>
            <a:r>
              <a:rPr lang="en-US" sz="1700" b="1" dirty="0">
                <a:solidFill>
                  <a:srgbClr val="030302"/>
                </a:solidFill>
                <a:latin typeface="Inter" pitchFamily="34" charset="0"/>
                <a:ea typeface="Inter" pitchFamily="34" charset="-122"/>
                <a:cs typeface="Inter" pitchFamily="34" charset="-120"/>
              </a:rPr>
              <a:t>Who we may lose touch with</a:t>
            </a:r>
            <a:endParaRPr lang="en-US" sz="1700" dirty="0"/>
          </a:p>
        </p:txBody>
      </p:sp>
      <p:sp>
        <p:nvSpPr>
          <p:cNvPr id="14" name="Text 12"/>
          <p:cNvSpPr/>
          <p:nvPr/>
        </p:nvSpPr>
        <p:spPr>
          <a:xfrm>
            <a:off x="8280400" y="2527895"/>
            <a:ext cx="2930144" cy="10160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54586B"/>
                </a:solidFill>
                <a:latin typeface="Inter" pitchFamily="34" charset="0"/>
                <a:ea typeface="Inter" pitchFamily="34" charset="-122"/>
                <a:cs typeface="Inter" pitchFamily="34" charset="-120"/>
              </a:rPr>
              <a:t>At discharge, flag who may be unreachable at 6 months, so staff gather contacts and call sooner. It narrows the 46 to 85% range.</a:t>
            </a:r>
            <a:endParaRPr lang="en-US" sz="1300" dirty="0"/>
          </a:p>
        </p:txBody>
      </p:sp>
      <p:sp>
        <p:nvSpPr>
          <p:cNvPr id="15" name="Text 13"/>
          <p:cNvSpPr/>
          <p:nvPr/>
        </p:nvSpPr>
        <p:spPr>
          <a:xfrm>
            <a:off x="812800" y="4397970"/>
            <a:ext cx="10464800"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54586B"/>
                </a:solidFill>
                <a:latin typeface="Inter" pitchFamily="34" charset="0"/>
                <a:ea typeface="Inter" pitchFamily="34" charset="-122"/>
                <a:cs typeface="Inter" pitchFamily="34" charset="-120"/>
              </a:rPr>
              <a:t>C3 ships only if it can add outreach but never remove care, beats a simple rule on new houses, and is equally accurate across groups.</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5FB"/>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30302"/>
                </a:solidFill>
                <a:latin typeface="Inter" pitchFamily="34" charset="0"/>
                <a:ea typeface="Inter" pitchFamily="34" charset="-122"/>
                <a:cs typeface="Inter" pitchFamily="34" charset="-120"/>
              </a:rPr>
              <a:t>Trade-offs, and what I’d do next</a:t>
            </a:r>
            <a:endParaRPr lang="en-US" sz="3000" dirty="0"/>
          </a:p>
        </p:txBody>
      </p:sp>
      <p:sp>
        <p:nvSpPr>
          <p:cNvPr id="3" name="Text 1"/>
          <p:cNvSpPr/>
          <p:nvPr/>
        </p:nvSpPr>
        <p:spPr>
          <a:xfrm>
            <a:off x="812800" y="1587500"/>
            <a:ext cx="5127752"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446A3F"/>
                </a:solidFill>
                <a:latin typeface="Inter" pitchFamily="34" charset="0"/>
                <a:ea typeface="Inter" pitchFamily="34" charset="-122"/>
                <a:cs typeface="Inter" pitchFamily="34" charset="-120"/>
              </a:rPr>
              <a:t>TRADE-OFFS I CHOSE</a:t>
            </a:r>
            <a:endParaRPr lang="en-US" sz="1200" dirty="0"/>
          </a:p>
        </p:txBody>
      </p:sp>
      <p:sp>
        <p:nvSpPr>
          <p:cNvPr id="4" name="Text 2"/>
          <p:cNvSpPr/>
          <p:nvPr/>
        </p:nvSpPr>
        <p:spPr>
          <a:xfrm>
            <a:off x="897382" y="1927820"/>
            <a:ext cx="5035550" cy="1892300"/>
          </a:xfrm>
          <a:prstGeom prst="rect">
            <a:avLst/>
          </a:prstGeom>
          <a:noFill/>
          <a:ln/>
        </p:spPr>
        <p:txBody>
          <a:bodyPr wrap="square" lIns="0" tIns="0" rIns="0" bIns="0" rtlCol="0" anchor="t">
            <a:normAutofit/>
          </a:bodyPr>
          <a:lstStyle/>
          <a:p>
            <a:pPr algn="l" marL="169418" indent="-169418">
              <a:lnSpc>
                <a:spcPts val="2100"/>
              </a:lnSpc>
              <a:buSzPct val="100000"/>
              <a:buChar char="•"/>
            </a:pPr>
            <a:r>
              <a:rPr lang="en-US" sz="1400" dirty="0">
                <a:solidFill>
                  <a:srgbClr val="21273F"/>
                </a:solidFill>
                <a:latin typeface="Inter" pitchFamily="34" charset="0"/>
                <a:ea typeface="Inter" pitchFamily="34" charset="-122"/>
                <a:cs typeface="Inter" pitchFamily="34" charset="-120"/>
              </a:rPr>
              <a:t>A narrow catalogue: some questions are declined rather than answered wrongly</a:t>
            </a:r>
            <a:endParaRPr lang="en-US" sz="1400" dirty="0"/>
          </a:p>
          <a:p>
            <a:pPr algn="l" marL="169418" indent="-169418">
              <a:lnSpc>
                <a:spcPts val="2100"/>
              </a:lnSpc>
              <a:buSzPct val="100000"/>
              <a:buChar char="•"/>
            </a:pPr>
            <a:r>
              <a:rPr lang="en-US" sz="1400" dirty="0">
                <a:solidFill>
                  <a:srgbClr val="21273F"/>
                </a:solidFill>
                <a:latin typeface="Inter" pitchFamily="34" charset="0"/>
                <a:ea typeface="Inter" pitchFamily="34" charset="-122"/>
                <a:cs typeface="Inter" pitchFamily="34" charset="-120"/>
              </a:rPr>
              <a:t>A local 12B model: private and free, slower and less exact than a large one</a:t>
            </a:r>
            <a:endParaRPr lang="en-US" sz="1400" dirty="0"/>
          </a:p>
          <a:p>
            <a:pPr algn="l" marL="169418" indent="-169418">
              <a:lnSpc>
                <a:spcPts val="2100"/>
              </a:lnSpc>
              <a:buSzPct val="100000"/>
              <a:buChar char="•"/>
            </a:pPr>
            <a:r>
              <a:rPr lang="en-US" sz="1400" dirty="0">
                <a:solidFill>
                  <a:srgbClr val="21273F"/>
                </a:solidFill>
                <a:latin typeface="Inter" pitchFamily="34" charset="0"/>
                <a:ea typeface="Inter" pitchFamily="34" charset="-122"/>
                <a:cs typeface="Inter" pitchFamily="34" charset="-120"/>
              </a:rPr>
              <a:t>Redaction removes a word rather than risk missing a name</a:t>
            </a:r>
            <a:endParaRPr lang="en-US" sz="1400" dirty="0"/>
          </a:p>
          <a:p>
            <a:pPr algn="l" marL="169418" indent="-169418">
              <a:lnSpc>
                <a:spcPts val="2100"/>
              </a:lnSpc>
              <a:buSzPct val="100000"/>
              <a:buChar char="•"/>
            </a:pPr>
            <a:r>
              <a:rPr lang="en-US" sz="1400" dirty="0">
                <a:solidFill>
                  <a:srgbClr val="21273F"/>
                </a:solidFill>
                <a:latin typeface="Inter" pitchFamily="34" charset="0"/>
                <a:ea typeface="Inter" pitchFamily="34" charset="-122"/>
                <a:cs typeface="Inter" pitchFamily="34" charset="-120"/>
              </a:rPr>
              <a:t>DuckDB for the prototype, with the MongoDB rules written up</a:t>
            </a:r>
            <a:endParaRPr lang="en-US" sz="1400" dirty="0"/>
          </a:p>
        </p:txBody>
      </p:sp>
      <p:sp>
        <p:nvSpPr>
          <p:cNvPr id="5" name="Text 3"/>
          <p:cNvSpPr/>
          <p:nvPr/>
        </p:nvSpPr>
        <p:spPr>
          <a:xfrm>
            <a:off x="6400800" y="1587500"/>
            <a:ext cx="5127752"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446A3F"/>
                </a:solidFill>
                <a:latin typeface="Inter" pitchFamily="34" charset="0"/>
                <a:ea typeface="Inter" pitchFamily="34" charset="-122"/>
                <a:cs typeface="Inter" pitchFamily="34" charset="-120"/>
              </a:rPr>
              <a:t>NEXT</a:t>
            </a:r>
            <a:endParaRPr lang="en-US" sz="1200" dirty="0"/>
          </a:p>
        </p:txBody>
      </p:sp>
      <p:sp>
        <p:nvSpPr>
          <p:cNvPr id="6" name="Text 4"/>
          <p:cNvSpPr/>
          <p:nvPr/>
        </p:nvSpPr>
        <p:spPr>
          <a:xfrm>
            <a:off x="6485382" y="1927820"/>
            <a:ext cx="5035550" cy="1092200"/>
          </a:xfrm>
          <a:prstGeom prst="rect">
            <a:avLst/>
          </a:prstGeom>
          <a:noFill/>
          <a:ln/>
        </p:spPr>
        <p:txBody>
          <a:bodyPr wrap="square" lIns="0" tIns="0" rIns="0" bIns="0" rtlCol="0" anchor="t">
            <a:normAutofit/>
          </a:bodyPr>
          <a:lstStyle/>
          <a:p>
            <a:pPr algn="l" marL="169418" indent="-169418">
              <a:lnSpc>
                <a:spcPts val="2100"/>
              </a:lnSpc>
              <a:buSzPct val="100000"/>
              <a:buChar char="•"/>
            </a:pPr>
            <a:r>
              <a:rPr lang="en-US" sz="1400" dirty="0">
                <a:solidFill>
                  <a:srgbClr val="21273F"/>
                </a:solidFill>
                <a:latin typeface="Inter" pitchFamily="34" charset="0"/>
                <a:ea typeface="Inter" pitchFamily="34" charset="-122"/>
                <a:cs typeface="Inter" pitchFamily="34" charset="-120"/>
              </a:rPr>
              <a:t>Fix the wrong groupings and filters the evaluation still finds</a:t>
            </a:r>
            <a:endParaRPr lang="en-US" sz="1400" dirty="0"/>
          </a:p>
          <a:p>
            <a:pPr algn="l" marL="169418" indent="-169418">
              <a:lnSpc>
                <a:spcPts val="2100"/>
              </a:lnSpc>
              <a:buSzPct val="100000"/>
              <a:buChar char="•"/>
            </a:pPr>
            <a:r>
              <a:rPr lang="en-US" sz="1400" dirty="0">
                <a:solidFill>
                  <a:srgbClr val="21273F"/>
                </a:solidFill>
                <a:latin typeface="Inter" pitchFamily="34" charset="0"/>
                <a:ea typeface="Inter" pitchFamily="34" charset="-122"/>
                <a:cs typeface="Inter" pitchFamily="34" charset="-120"/>
              </a:rPr>
              <a:t>Feed the name list from the case-management system</a:t>
            </a:r>
            <a:endParaRPr lang="en-US" sz="1400" dirty="0"/>
          </a:p>
          <a:p>
            <a:pPr algn="l" marL="169418" indent="-169418">
              <a:lnSpc>
                <a:spcPts val="2100"/>
              </a:lnSpc>
              <a:buSzPct val="100000"/>
              <a:buChar char="•"/>
            </a:pPr>
            <a:r>
              <a:rPr lang="en-US" sz="1400" dirty="0">
                <a:solidFill>
                  <a:srgbClr val="21273F"/>
                </a:solidFill>
                <a:latin typeface="Inter" pitchFamily="34" charset="0"/>
                <a:ea typeface="Inter" pitchFamily="34" charset="-122"/>
                <a:cs typeface="Inter" pitchFamily="34" charset="-120"/>
              </a:rPr>
              <a:t>Grow the evaluation from real, redacted questions</a:t>
            </a:r>
            <a:endParaRPr lang="en-US" sz="1400" dirty="0"/>
          </a:p>
          <a:p>
            <a:pPr algn="l" marL="169418" indent="-169418">
              <a:lnSpc>
                <a:spcPts val="2100"/>
              </a:lnSpc>
              <a:buSzPct val="100000"/>
              <a:buChar char="•"/>
            </a:pPr>
            <a:r>
              <a:rPr lang="en-US" sz="1400" dirty="0">
                <a:solidFill>
                  <a:srgbClr val="21273F"/>
                </a:solidFill>
                <a:latin typeface="Inter" pitchFamily="34" charset="0"/>
                <a:ea typeface="Inter" pitchFamily="34" charset="-122"/>
                <a:cs typeface="Inter" pitchFamily="34" charset="-120"/>
              </a:rPr>
              <a:t>Record each follow-up attempt with its date</a:t>
            </a:r>
            <a:endParaRPr lang="en-US" sz="1400" dirty="0"/>
          </a:p>
        </p:txBody>
      </p:sp>
    </p:spTree>
  </p:cSld>
  <p:clrMapOvr>
    <a:masterClrMapping/>
  </p:clrMapOvr>
</p:sld>
</file>

<file path=ppt/theme/theme1.xml><?xml version="1.0" encoding="utf-8"?>
<a:theme xmlns:a="http://schemas.openxmlformats.org/drawingml/2006/main" name="Harbourview analytics walkthrough">
  <a:themeElements>
    <a:clrScheme name="Harbourview analytics walkthrough">
      <a:dk1>
        <a:srgbClr val="030302"/>
      </a:dk1>
      <a:lt1>
        <a:srgbClr val="F7F5FB"/>
      </a:lt1>
      <a:dk2>
        <a:srgbClr val="404040"/>
      </a:dk2>
      <a:lt2>
        <a:srgbClr val="DFDDE2"/>
      </a:lt2>
      <a:accent1>
        <a:srgbClr val="446A3F"/>
      </a:accent1>
      <a:accent2>
        <a:srgbClr val="578550"/>
      </a:accent2>
      <a:accent3>
        <a:srgbClr val="EB6834"/>
      </a:accent3>
      <a:accent4>
        <a:srgbClr val="2A78D6"/>
      </a:accent4>
      <a:accent5>
        <a:srgbClr val="1C5CAB"/>
      </a:accent5>
      <a:accent6>
        <a:srgbClr val="B4501F"/>
      </a:accent6>
      <a:hlink>
        <a:srgbClr val="0563C1"/>
      </a:hlink>
      <a:folHlink>
        <a:srgbClr val="954F72"/>
      </a:folHlink>
    </a:clrScheme>
    <a:fontScheme name="Harbourview analytics walkthrough">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Harbourview analytics walkthrough</dc:title>
  <dc:subject/>
  <dc:creator/>
  <cp:lastModifiedBy/>
  <cp:revision>1</cp:revision>
  <dcterms:created xsi:type="dcterms:W3CDTF">2026-10-16T06:10:48Z</dcterms:created>
  <dcterms:modified xsi:type="dcterms:W3CDTF">2026-10-16T06:10:48Z</dcterms:modified>
</cp:coreProperties>
</file>